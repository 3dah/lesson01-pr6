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9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1C1313-5902-4FC8-B758-8296DF3AF30D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2BE8C2-AA70-4DDA-A380-AF61AEF0E40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6363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TEACHER
Click once for each stage. Pause and ask: What is happening to the oxygen? What is happening to the flame?
SCIENCE
Burning uses oxygen. In a sealed jar, oxygen is limited. When oxygen runs low, the flame goes out.
SAFETY
Teacher-only lighter/matches. Do not allow unsupervised student fire use.
ANIMATION ARCHITECTURE
Editable objects: OBJ_Jar, OBJ_Candle, OBJ_Flame_Strong/Medium/Tiny, OBJ_Oxygen_01..16, OBJ_Smoke.
Oxygen particles use MOTION PATH then EXIT FADE.
Flame uses discrete size states (Strong→Medium→Tiny→Out), not a static image strip.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2BE8C2-AA70-4DDA-A380-AF61AEF0E402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63726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FB17B2-457D-C40C-90BB-6E57835516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2721EDE-72FD-BF0E-1C1E-CBCC6B9862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479611-F594-7BC6-7134-7E2E396A62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C97D39-76A1-93DA-3936-74304CA17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8B8AE5-537B-78E8-1A51-7907135D1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4494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93DC30-2805-A981-861B-E497BA2BF0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7994AD-A423-581D-F203-1AED74298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85E16F-D850-EB11-D76B-71FAFB4CE1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975585-E3A8-3ADC-7AE0-3BAD322A8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898768-D7C7-E9ED-94F5-700230BADB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1196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63BEC3-7343-5631-0D43-7A2FD14F0D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AD1958-88C9-C967-B61B-C7F4A1585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346DF9-1F35-5F78-497B-15ED6DCBC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95D7D2B-1C5B-7187-0DF1-1C132989C9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4528FB-9582-63A3-7829-13CB93C74B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229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3583CC-99F8-0CD8-FD05-63AADC0D12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183DC1-86C3-61C5-4023-6049E981783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8EC26E-9B3D-88CD-B633-136664853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7E9D7F-48DC-9C0A-3937-72433C7DE0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A75417-526D-DDAA-AB84-9255DBDDED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7E1618-5F70-E0F1-C04E-34875E3BB4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0441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808CC-AE8B-839E-57B0-5D8510E53C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CDFACC-5D2B-84EE-13EE-11B32F539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E3E1D0-D9FE-E700-DCA6-122B8DA074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9FCBB-C19A-9D33-0817-337294E72AE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C793709-DFB8-AB8C-A363-E0E072BEE0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A84D850-3487-D918-71AE-5F9E079FB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7B7D776-4711-E42B-F8AD-B87D08011D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8DA6C5-6743-37F7-BB53-8DD9D430C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595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8985E-42FB-1205-F445-1C5F9045BF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785B85-4659-648F-13E9-CCB18CE44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79C47FB-5C27-52D9-76C9-A070207D05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E6CEF-D3ED-A94E-8C0C-F2FF10DB0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1637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785C659-CD9C-BD71-59FA-569AD34E4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49C4C2-33B2-4FFF-A8BC-D90EC7316B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76C8517-3A65-E8EF-FFF1-D448DA5F7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226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59209-487B-8D59-4A56-5A5E0860D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24FF15-7D2A-89D3-B292-73F4C4A6F8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B66211-399C-1607-65AE-97B6E205B1A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585E17-409C-74A7-5FDD-7A50968AC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136346-C8F1-5917-2E06-050EB37FC2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A4ADEE-B23F-764B-5DD5-C24F765BD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95051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C987B9-AEFB-23AC-1CA9-051C9A5BD3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556F150-85CA-8B2C-129F-6259E0D7DF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B5D63A-6AAB-4AB0-4EA9-D7AED4176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D90450-A368-B397-CD8B-2D08B05C4A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2215EE-0BCC-8E73-46D5-1403A6313F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8756835-F9B1-0101-EA21-8978F02B7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65965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97A69B-27E4-6E87-4287-1E723ED0E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A34C422-980B-A043-63C1-F01EA17FF0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2B63F-3BF3-4302-9B73-E4EDF7D70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91EB72-7B65-E83E-31D0-BA099F947B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089494-2124-9121-659F-4F0BB1693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28960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8F7278C-C26E-54D7-6ABA-D43755C80E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C0055DF-6348-4E3F-0394-F4885B4399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7C6D4D-C362-C551-1D93-90AF5FFE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95BFAD-EF7E-EC9C-9916-E75053BC00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2A7F64-851B-6511-A421-B046102447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38662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7D2A59-778A-DA14-E12C-CCA80DF0D9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F34948-29B8-C5E4-9A29-6BCFDEC22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22145F-67D8-B474-D644-A2F5ED6CA0F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01A39-1AF2-4F2D-8D30-8B8E0332101F}" type="datetimeFigureOut">
              <a:rPr lang="en-US" smtClean="0"/>
              <a:t>9/14/2026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3C7F2E-A318-C79E-F890-2EC17E0DC6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3400B5-94B2-466E-9CD2-64F1A97C836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A7C117B-1F5E-44CE-A7E6-66E484F6F3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67966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AF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NV_SkyBand">
            <a:extLst>
              <a:ext uri="{FF2B5EF4-FFF2-40B4-BE49-F238E27FC236}">
                <a16:creationId xmlns:a16="http://schemas.microsoft.com/office/drawing/2014/main" id="{1DDA291E-7849-5F0C-9BB1-6CE66EF539A2}"/>
              </a:ext>
            </a:extLst>
          </p:cNvPr>
          <p:cNvSpPr/>
          <p:nvPr/>
        </p:nvSpPr>
        <p:spPr>
          <a:xfrm>
            <a:off x="0" y="0"/>
            <a:ext cx="12191695" cy="2032000"/>
          </a:xfrm>
          <a:prstGeom prst="roundRect">
            <a:avLst/>
          </a:prstGeom>
          <a:solidFill>
            <a:srgbClr val="E8F4F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ENV_Tabletop">
            <a:extLst>
              <a:ext uri="{FF2B5EF4-FFF2-40B4-BE49-F238E27FC236}">
                <a16:creationId xmlns:a16="http://schemas.microsoft.com/office/drawing/2014/main" id="{A3FC41FA-FC1D-709E-8565-7B622F3C6D16}"/>
              </a:ext>
            </a:extLst>
          </p:cNvPr>
          <p:cNvSpPr/>
          <p:nvPr/>
        </p:nvSpPr>
        <p:spPr>
          <a:xfrm>
            <a:off x="1016000" y="5334000"/>
            <a:ext cx="10159695" cy="1143000"/>
          </a:xfrm>
          <a:prstGeom prst="roundRect">
            <a:avLst/>
          </a:prstGeom>
          <a:solidFill>
            <a:srgbClr val="D2B48C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XT_Title">
            <a:extLst>
              <a:ext uri="{FF2B5EF4-FFF2-40B4-BE49-F238E27FC236}">
                <a16:creationId xmlns:a16="http://schemas.microsoft.com/office/drawing/2014/main" id="{468C02CC-95F6-357D-D92E-E7755F185882}"/>
              </a:ext>
            </a:extLst>
          </p:cNvPr>
          <p:cNvSpPr txBox="1"/>
          <p:nvPr/>
        </p:nvSpPr>
        <p:spPr>
          <a:xfrm>
            <a:off x="508000" y="228600"/>
            <a:ext cx="11175695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3600" b="1">
                <a:solidFill>
                  <a:srgbClr val="E65A3C"/>
                </a:solidFill>
                <a:latin typeface="Aptos Display" panose="020B0004020202020204" pitchFamily="34" charset="0"/>
              </a:rPr>
              <a:t>Watch carefully!</a:t>
            </a:r>
          </a:p>
        </p:txBody>
      </p:sp>
      <p:sp>
        <p:nvSpPr>
          <p:cNvPr id="5" name="TXT_Subtitle">
            <a:extLst>
              <a:ext uri="{FF2B5EF4-FFF2-40B4-BE49-F238E27FC236}">
                <a16:creationId xmlns:a16="http://schemas.microsoft.com/office/drawing/2014/main" id="{1411807F-BD9E-594E-0F98-5D5D46071318}"/>
              </a:ext>
            </a:extLst>
          </p:cNvPr>
          <p:cNvSpPr txBox="1"/>
          <p:nvPr/>
        </p:nvSpPr>
        <p:spPr>
          <a:xfrm>
            <a:off x="508000" y="863600"/>
            <a:ext cx="11175695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600" b="1">
                <a:solidFill>
                  <a:srgbClr val="00B4DC"/>
                </a:solidFill>
                <a:latin typeface="Aptos" panose="020B0004020202020204" pitchFamily="34" charset="0"/>
              </a:rPr>
              <a:t>Oxygen ↓   ·   Flame ↓</a:t>
            </a:r>
          </a:p>
        </p:txBody>
      </p:sp>
      <p:sp>
        <p:nvSpPr>
          <p:cNvPr id="6" name="OBJ_Candle">
            <a:extLst>
              <a:ext uri="{FF2B5EF4-FFF2-40B4-BE49-F238E27FC236}">
                <a16:creationId xmlns:a16="http://schemas.microsoft.com/office/drawing/2014/main" id="{679C6F25-08BB-A3DC-2242-0ED456041582}"/>
              </a:ext>
            </a:extLst>
          </p:cNvPr>
          <p:cNvSpPr/>
          <p:nvPr/>
        </p:nvSpPr>
        <p:spPr>
          <a:xfrm>
            <a:off x="6096000" y="4318000"/>
            <a:ext cx="889000" cy="1651000"/>
          </a:xfrm>
          <a:prstGeom prst="roundRect">
            <a:avLst/>
          </a:prstGeom>
          <a:solidFill>
            <a:srgbClr val="FAF8F0"/>
          </a:solidFill>
          <a:ln w="19050">
            <a:solidFill>
              <a:srgbClr val="DCD2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BJ_Wick">
            <a:extLst>
              <a:ext uri="{FF2B5EF4-FFF2-40B4-BE49-F238E27FC236}">
                <a16:creationId xmlns:a16="http://schemas.microsoft.com/office/drawing/2014/main" id="{E798D65B-F953-06F2-2227-AC1E75707E46}"/>
              </a:ext>
            </a:extLst>
          </p:cNvPr>
          <p:cNvSpPr/>
          <p:nvPr/>
        </p:nvSpPr>
        <p:spPr>
          <a:xfrm>
            <a:off x="6477000" y="4165600"/>
            <a:ext cx="101600" cy="228600"/>
          </a:xfrm>
          <a:prstGeom prst="roundRect">
            <a:avLst/>
          </a:prstGeom>
          <a:solidFill>
            <a:srgbClr val="28282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BJ_Flame_Strong">
            <a:extLst>
              <a:ext uri="{FF2B5EF4-FFF2-40B4-BE49-F238E27FC236}">
                <a16:creationId xmlns:a16="http://schemas.microsoft.com/office/drawing/2014/main" id="{E3363BCA-BF2A-3A78-F949-B12F476DB696}"/>
              </a:ext>
            </a:extLst>
          </p:cNvPr>
          <p:cNvSpPr/>
          <p:nvPr/>
        </p:nvSpPr>
        <p:spPr>
          <a:xfrm>
            <a:off x="6197600" y="3454400"/>
            <a:ext cx="685800" cy="990600"/>
          </a:xfrm>
          <a:prstGeom prst="ellipse">
            <a:avLst/>
          </a:prstGeom>
          <a:solidFill>
            <a:srgbClr val="FFBE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BJ_FlameCore_Strong">
            <a:extLst>
              <a:ext uri="{FF2B5EF4-FFF2-40B4-BE49-F238E27FC236}">
                <a16:creationId xmlns:a16="http://schemas.microsoft.com/office/drawing/2014/main" id="{E4D7A20D-90C1-54D8-12AE-35CA7BD65ED7}"/>
              </a:ext>
            </a:extLst>
          </p:cNvPr>
          <p:cNvSpPr/>
          <p:nvPr/>
        </p:nvSpPr>
        <p:spPr>
          <a:xfrm>
            <a:off x="6350000" y="3860800"/>
            <a:ext cx="355600" cy="508000"/>
          </a:xfrm>
          <a:prstGeom prst="ellipse">
            <a:avLst/>
          </a:prstGeom>
          <a:solidFill>
            <a:srgbClr val="FFE664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BJ_Flame_Medium" hidden="1">
            <a:extLst>
              <a:ext uri="{FF2B5EF4-FFF2-40B4-BE49-F238E27FC236}">
                <a16:creationId xmlns:a16="http://schemas.microsoft.com/office/drawing/2014/main" id="{08A2917B-F167-6323-D4AB-99FB295BCBB3}"/>
              </a:ext>
            </a:extLst>
          </p:cNvPr>
          <p:cNvSpPr/>
          <p:nvPr/>
        </p:nvSpPr>
        <p:spPr>
          <a:xfrm>
            <a:off x="6299200" y="3746500"/>
            <a:ext cx="482600" cy="660400"/>
          </a:xfrm>
          <a:prstGeom prst="ellipse">
            <a:avLst/>
          </a:prstGeom>
          <a:solidFill>
            <a:srgbClr val="FFBE3C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BJ_FlameCore_Medium" hidden="1">
            <a:extLst>
              <a:ext uri="{FF2B5EF4-FFF2-40B4-BE49-F238E27FC236}">
                <a16:creationId xmlns:a16="http://schemas.microsoft.com/office/drawing/2014/main" id="{1CEE1179-6B4D-2FD7-F40A-819EF1897C33}"/>
              </a:ext>
            </a:extLst>
          </p:cNvPr>
          <p:cNvSpPr/>
          <p:nvPr/>
        </p:nvSpPr>
        <p:spPr>
          <a:xfrm>
            <a:off x="6400800" y="3962400"/>
            <a:ext cx="254000" cy="355600"/>
          </a:xfrm>
          <a:prstGeom prst="ellipse">
            <a:avLst/>
          </a:prstGeom>
          <a:solidFill>
            <a:srgbClr val="FFE664">
              <a:alpha val="88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BJ_Flame_Tiny" hidden="1">
            <a:extLst>
              <a:ext uri="{FF2B5EF4-FFF2-40B4-BE49-F238E27FC236}">
                <a16:creationId xmlns:a16="http://schemas.microsoft.com/office/drawing/2014/main" id="{86E8A051-6BDB-CFA6-2331-EFA049268443}"/>
              </a:ext>
            </a:extLst>
          </p:cNvPr>
          <p:cNvSpPr/>
          <p:nvPr/>
        </p:nvSpPr>
        <p:spPr>
          <a:xfrm>
            <a:off x="6400800" y="4038600"/>
            <a:ext cx="279400" cy="355600"/>
          </a:xfrm>
          <a:prstGeom prst="ellipse">
            <a:avLst/>
          </a:prstGeom>
          <a:solidFill>
            <a:srgbClr val="FF8C3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BJ_FlameCore_Tiny" hidden="1">
            <a:extLst>
              <a:ext uri="{FF2B5EF4-FFF2-40B4-BE49-F238E27FC236}">
                <a16:creationId xmlns:a16="http://schemas.microsoft.com/office/drawing/2014/main" id="{FC699DC9-760C-B7A4-7DB7-825B82F44668}"/>
              </a:ext>
            </a:extLst>
          </p:cNvPr>
          <p:cNvSpPr/>
          <p:nvPr/>
        </p:nvSpPr>
        <p:spPr>
          <a:xfrm>
            <a:off x="6451600" y="4140200"/>
            <a:ext cx="152400" cy="177800"/>
          </a:xfrm>
          <a:prstGeom prst="ellipse">
            <a:avLst/>
          </a:prstGeom>
          <a:solidFill>
            <a:srgbClr val="FFE664">
              <a:alpha val="90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BJ_Jar">
            <a:extLst>
              <a:ext uri="{FF2B5EF4-FFF2-40B4-BE49-F238E27FC236}">
                <a16:creationId xmlns:a16="http://schemas.microsoft.com/office/drawing/2014/main" id="{672B8A4C-529A-F17E-E44A-7A0543875AC0}"/>
              </a:ext>
            </a:extLst>
          </p:cNvPr>
          <p:cNvSpPr/>
          <p:nvPr/>
        </p:nvSpPr>
        <p:spPr>
          <a:xfrm>
            <a:off x="5207000" y="2540000"/>
            <a:ext cx="2667000" cy="3556000"/>
          </a:xfrm>
          <a:prstGeom prst="ellipse">
            <a:avLst/>
          </a:prstGeom>
          <a:solidFill>
            <a:srgbClr val="00B4DC">
              <a:alpha val="18000"/>
            </a:srgbClr>
          </a:solidFill>
          <a:ln w="3810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BJ_JarRim">
            <a:extLst>
              <a:ext uri="{FF2B5EF4-FFF2-40B4-BE49-F238E27FC236}">
                <a16:creationId xmlns:a16="http://schemas.microsoft.com/office/drawing/2014/main" id="{0D1FF4DE-584F-628F-28AE-56DA71E4D552}"/>
              </a:ext>
            </a:extLst>
          </p:cNvPr>
          <p:cNvSpPr/>
          <p:nvPr/>
        </p:nvSpPr>
        <p:spPr>
          <a:xfrm>
            <a:off x="5397500" y="2603500"/>
            <a:ext cx="2286000" cy="355600"/>
          </a:xfrm>
          <a:prstGeom prst="ellipse">
            <a:avLst/>
          </a:prstGeom>
          <a:solidFill>
            <a:srgbClr val="FFFFFF">
              <a:alpha val="45000"/>
            </a:srgbClr>
          </a:solidFill>
          <a:ln w="2540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BJ_Oxygen_01">
            <a:extLst>
              <a:ext uri="{FF2B5EF4-FFF2-40B4-BE49-F238E27FC236}">
                <a16:creationId xmlns:a16="http://schemas.microsoft.com/office/drawing/2014/main" id="{0C2CB997-1872-05FE-44C7-2AEFD58A0B29}"/>
              </a:ext>
            </a:extLst>
          </p:cNvPr>
          <p:cNvSpPr/>
          <p:nvPr/>
        </p:nvSpPr>
        <p:spPr>
          <a:xfrm>
            <a:off x="5461000" y="2921000"/>
            <a:ext cx="177800" cy="1778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BJ_Oxygen_02">
            <a:extLst>
              <a:ext uri="{FF2B5EF4-FFF2-40B4-BE49-F238E27FC236}">
                <a16:creationId xmlns:a16="http://schemas.microsoft.com/office/drawing/2014/main" id="{5605E29A-0A1B-A899-79DF-64DC81747F74}"/>
              </a:ext>
            </a:extLst>
          </p:cNvPr>
          <p:cNvSpPr/>
          <p:nvPr/>
        </p:nvSpPr>
        <p:spPr>
          <a:xfrm>
            <a:off x="5905500" y="2794000"/>
            <a:ext cx="152400" cy="1524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OBJ_Oxygen_03">
            <a:extLst>
              <a:ext uri="{FF2B5EF4-FFF2-40B4-BE49-F238E27FC236}">
                <a16:creationId xmlns:a16="http://schemas.microsoft.com/office/drawing/2014/main" id="{D213BEA5-76FC-4FD9-029B-4014484DB882}"/>
              </a:ext>
            </a:extLst>
          </p:cNvPr>
          <p:cNvSpPr/>
          <p:nvPr/>
        </p:nvSpPr>
        <p:spPr>
          <a:xfrm>
            <a:off x="6350000" y="2984500"/>
            <a:ext cx="203200" cy="2032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OBJ_Oxygen_04">
            <a:extLst>
              <a:ext uri="{FF2B5EF4-FFF2-40B4-BE49-F238E27FC236}">
                <a16:creationId xmlns:a16="http://schemas.microsoft.com/office/drawing/2014/main" id="{F134089F-FA0D-FEAA-A46F-56DD068EA0E9}"/>
              </a:ext>
            </a:extLst>
          </p:cNvPr>
          <p:cNvSpPr/>
          <p:nvPr/>
        </p:nvSpPr>
        <p:spPr>
          <a:xfrm>
            <a:off x="6858000" y="2857500"/>
            <a:ext cx="139700" cy="1397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OBJ_Oxygen_05">
            <a:extLst>
              <a:ext uri="{FF2B5EF4-FFF2-40B4-BE49-F238E27FC236}">
                <a16:creationId xmlns:a16="http://schemas.microsoft.com/office/drawing/2014/main" id="{E227A99E-EB13-314F-2295-3111F504611E}"/>
              </a:ext>
            </a:extLst>
          </p:cNvPr>
          <p:cNvSpPr/>
          <p:nvPr/>
        </p:nvSpPr>
        <p:spPr>
          <a:xfrm>
            <a:off x="5651500" y="3238500"/>
            <a:ext cx="165100" cy="1651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OBJ_Oxygen_06">
            <a:extLst>
              <a:ext uri="{FF2B5EF4-FFF2-40B4-BE49-F238E27FC236}">
                <a16:creationId xmlns:a16="http://schemas.microsoft.com/office/drawing/2014/main" id="{711F52C3-1935-1DBA-1E9A-64814E12A325}"/>
              </a:ext>
            </a:extLst>
          </p:cNvPr>
          <p:cNvSpPr/>
          <p:nvPr/>
        </p:nvSpPr>
        <p:spPr>
          <a:xfrm>
            <a:off x="6159500" y="3175000"/>
            <a:ext cx="190500" cy="1905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OBJ_Oxygen_07">
            <a:extLst>
              <a:ext uri="{FF2B5EF4-FFF2-40B4-BE49-F238E27FC236}">
                <a16:creationId xmlns:a16="http://schemas.microsoft.com/office/drawing/2014/main" id="{3479B97D-8BC6-0DF4-0BE6-B82D4FD25828}"/>
              </a:ext>
            </a:extLst>
          </p:cNvPr>
          <p:cNvSpPr/>
          <p:nvPr/>
        </p:nvSpPr>
        <p:spPr>
          <a:xfrm>
            <a:off x="6667500" y="3302000"/>
            <a:ext cx="152400" cy="1524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OBJ_Oxygen_08">
            <a:extLst>
              <a:ext uri="{FF2B5EF4-FFF2-40B4-BE49-F238E27FC236}">
                <a16:creationId xmlns:a16="http://schemas.microsoft.com/office/drawing/2014/main" id="{17F33E87-01BE-FF45-6053-1976941A8A4C}"/>
              </a:ext>
            </a:extLst>
          </p:cNvPr>
          <p:cNvSpPr/>
          <p:nvPr/>
        </p:nvSpPr>
        <p:spPr>
          <a:xfrm>
            <a:off x="5842000" y="3556000"/>
            <a:ext cx="127000" cy="1270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OBJ_Oxygen_09">
            <a:extLst>
              <a:ext uri="{FF2B5EF4-FFF2-40B4-BE49-F238E27FC236}">
                <a16:creationId xmlns:a16="http://schemas.microsoft.com/office/drawing/2014/main" id="{93FEEA7D-B509-BD1E-BBDE-7EB2BB24B6AA}"/>
              </a:ext>
            </a:extLst>
          </p:cNvPr>
          <p:cNvSpPr/>
          <p:nvPr/>
        </p:nvSpPr>
        <p:spPr>
          <a:xfrm>
            <a:off x="6413500" y="3619500"/>
            <a:ext cx="177800" cy="1778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OBJ_Oxygen_10">
            <a:extLst>
              <a:ext uri="{FF2B5EF4-FFF2-40B4-BE49-F238E27FC236}">
                <a16:creationId xmlns:a16="http://schemas.microsoft.com/office/drawing/2014/main" id="{35E47F9D-CA64-3ADC-2767-704507FBB4A0}"/>
              </a:ext>
            </a:extLst>
          </p:cNvPr>
          <p:cNvSpPr/>
          <p:nvPr/>
        </p:nvSpPr>
        <p:spPr>
          <a:xfrm>
            <a:off x="5715000" y="3937000"/>
            <a:ext cx="139700" cy="1397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OBJ_Oxygen_11">
            <a:extLst>
              <a:ext uri="{FF2B5EF4-FFF2-40B4-BE49-F238E27FC236}">
                <a16:creationId xmlns:a16="http://schemas.microsoft.com/office/drawing/2014/main" id="{40C6829A-6D10-BFFD-795A-2F46C0912E44}"/>
              </a:ext>
            </a:extLst>
          </p:cNvPr>
          <p:cNvSpPr/>
          <p:nvPr/>
        </p:nvSpPr>
        <p:spPr>
          <a:xfrm>
            <a:off x="6223000" y="3873500"/>
            <a:ext cx="165100" cy="1651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OBJ_Oxygen_12">
            <a:extLst>
              <a:ext uri="{FF2B5EF4-FFF2-40B4-BE49-F238E27FC236}">
                <a16:creationId xmlns:a16="http://schemas.microsoft.com/office/drawing/2014/main" id="{6766BF9B-C1DC-FC39-4E15-5E79E7A75DD9}"/>
              </a:ext>
            </a:extLst>
          </p:cNvPr>
          <p:cNvSpPr/>
          <p:nvPr/>
        </p:nvSpPr>
        <p:spPr>
          <a:xfrm>
            <a:off x="6731000" y="3810000"/>
            <a:ext cx="127000" cy="1270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BJ_Oxygen_13">
            <a:extLst>
              <a:ext uri="{FF2B5EF4-FFF2-40B4-BE49-F238E27FC236}">
                <a16:creationId xmlns:a16="http://schemas.microsoft.com/office/drawing/2014/main" id="{1D43CE5B-DA91-EF06-DEF7-48A83FBE8A3C}"/>
              </a:ext>
            </a:extLst>
          </p:cNvPr>
          <p:cNvSpPr/>
          <p:nvPr/>
        </p:nvSpPr>
        <p:spPr>
          <a:xfrm>
            <a:off x="5969000" y="3048000"/>
            <a:ext cx="114300" cy="1143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BJ_Oxygen_14">
            <a:extLst>
              <a:ext uri="{FF2B5EF4-FFF2-40B4-BE49-F238E27FC236}">
                <a16:creationId xmlns:a16="http://schemas.microsoft.com/office/drawing/2014/main" id="{B2BEA1E6-EB15-C848-F44E-A594697341C9}"/>
              </a:ext>
            </a:extLst>
          </p:cNvPr>
          <p:cNvSpPr/>
          <p:nvPr/>
        </p:nvSpPr>
        <p:spPr>
          <a:xfrm>
            <a:off x="6477000" y="3111500"/>
            <a:ext cx="127000" cy="1270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BJ_Oxygen_15">
            <a:extLst>
              <a:ext uri="{FF2B5EF4-FFF2-40B4-BE49-F238E27FC236}">
                <a16:creationId xmlns:a16="http://schemas.microsoft.com/office/drawing/2014/main" id="{01569025-241A-9E42-EB3A-97C6957FC905}"/>
              </a:ext>
            </a:extLst>
          </p:cNvPr>
          <p:cNvSpPr/>
          <p:nvPr/>
        </p:nvSpPr>
        <p:spPr>
          <a:xfrm>
            <a:off x="6096000" y="3429000"/>
            <a:ext cx="152400" cy="1524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BJ_Oxygen_16">
            <a:extLst>
              <a:ext uri="{FF2B5EF4-FFF2-40B4-BE49-F238E27FC236}">
                <a16:creationId xmlns:a16="http://schemas.microsoft.com/office/drawing/2014/main" id="{03B4527F-6453-536A-D0C5-372466CD453D}"/>
              </a:ext>
            </a:extLst>
          </p:cNvPr>
          <p:cNvSpPr/>
          <p:nvPr/>
        </p:nvSpPr>
        <p:spPr>
          <a:xfrm>
            <a:off x="5778500" y="3746500"/>
            <a:ext cx="114300" cy="114300"/>
          </a:xfrm>
          <a:prstGeom prst="ellipse">
            <a:avLst/>
          </a:prstGeom>
          <a:solidFill>
            <a:srgbClr val="40C4E6">
              <a:alpha val="8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UI_Stage1">
            <a:extLst>
              <a:ext uri="{FF2B5EF4-FFF2-40B4-BE49-F238E27FC236}">
                <a16:creationId xmlns:a16="http://schemas.microsoft.com/office/drawing/2014/main" id="{2EE48190-8BE5-5432-D7D4-C6BE235AFDE5}"/>
              </a:ext>
            </a:extLst>
          </p:cNvPr>
          <p:cNvSpPr/>
          <p:nvPr/>
        </p:nvSpPr>
        <p:spPr>
          <a:xfrm>
            <a:off x="9144000" y="1524000"/>
            <a:ext cx="2540000" cy="60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0B4D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00B4DC"/>
                </a:solidFill>
                <a:latin typeface="Aptos" panose="020B0004020202020204" pitchFamily="34" charset="0"/>
              </a:rPr>
              <a:t>1  Many oxygen</a:t>
            </a:r>
          </a:p>
        </p:txBody>
      </p:sp>
      <p:sp>
        <p:nvSpPr>
          <p:cNvPr id="33" name="UI_Stage2" hidden="1">
            <a:extLst>
              <a:ext uri="{FF2B5EF4-FFF2-40B4-BE49-F238E27FC236}">
                <a16:creationId xmlns:a16="http://schemas.microsoft.com/office/drawing/2014/main" id="{7A8FC021-24C0-E568-DF4E-D92CA6781604}"/>
              </a:ext>
            </a:extLst>
          </p:cNvPr>
          <p:cNvSpPr/>
          <p:nvPr/>
        </p:nvSpPr>
        <p:spPr>
          <a:xfrm>
            <a:off x="9144000" y="2349500"/>
            <a:ext cx="2540000" cy="60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BE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BE3C"/>
                </a:solidFill>
                <a:latin typeface="Aptos" panose="020B0004020202020204" pitchFamily="34" charset="0"/>
              </a:rPr>
              <a:t>2  Fewer oxygen</a:t>
            </a:r>
          </a:p>
        </p:txBody>
      </p:sp>
      <p:sp>
        <p:nvSpPr>
          <p:cNvPr id="34" name="UI_Stage3" hidden="1">
            <a:extLst>
              <a:ext uri="{FF2B5EF4-FFF2-40B4-BE49-F238E27FC236}">
                <a16:creationId xmlns:a16="http://schemas.microsoft.com/office/drawing/2014/main" id="{A8F8B624-3B39-EBDD-9221-AACC02CA931E}"/>
              </a:ext>
            </a:extLst>
          </p:cNvPr>
          <p:cNvSpPr/>
          <p:nvPr/>
        </p:nvSpPr>
        <p:spPr>
          <a:xfrm>
            <a:off x="9144000" y="3175000"/>
            <a:ext cx="2540000" cy="60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F8C3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FF8C32"/>
                </a:solidFill>
                <a:latin typeface="Aptos" panose="020B0004020202020204" pitchFamily="34" charset="0"/>
              </a:rPr>
              <a:t>3  Very few</a:t>
            </a:r>
          </a:p>
        </p:txBody>
      </p:sp>
      <p:sp>
        <p:nvSpPr>
          <p:cNvPr id="35" name="UI_Stage4" hidden="1">
            <a:extLst>
              <a:ext uri="{FF2B5EF4-FFF2-40B4-BE49-F238E27FC236}">
                <a16:creationId xmlns:a16="http://schemas.microsoft.com/office/drawing/2014/main" id="{7B915B4C-8CA9-B2CE-E45A-FAD6F5879388}"/>
              </a:ext>
            </a:extLst>
          </p:cNvPr>
          <p:cNvSpPr/>
          <p:nvPr/>
        </p:nvSpPr>
        <p:spPr>
          <a:xfrm>
            <a:off x="9144000" y="4000500"/>
            <a:ext cx="2540000" cy="609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E65A3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E65A3C"/>
                </a:solidFill>
                <a:latin typeface="Aptos" panose="020B0004020202020204" pitchFamily="34" charset="0"/>
              </a:rPr>
              <a:t>4  Flame out</a:t>
            </a:r>
          </a:p>
        </p:txBody>
      </p:sp>
      <p:sp>
        <p:nvSpPr>
          <p:cNvPr id="36" name="OBJ_Smoke" hidden="1">
            <a:extLst>
              <a:ext uri="{FF2B5EF4-FFF2-40B4-BE49-F238E27FC236}">
                <a16:creationId xmlns:a16="http://schemas.microsoft.com/office/drawing/2014/main" id="{CBB1472F-DA91-B66C-839B-18C54792FDF8}"/>
              </a:ext>
            </a:extLst>
          </p:cNvPr>
          <p:cNvSpPr/>
          <p:nvPr/>
        </p:nvSpPr>
        <p:spPr>
          <a:xfrm>
            <a:off x="6324600" y="3302000"/>
            <a:ext cx="381000" cy="635000"/>
          </a:xfrm>
          <a:prstGeom prst="ellipse">
            <a:avLst/>
          </a:prstGeom>
          <a:solidFill>
            <a:srgbClr val="B4BEC8">
              <a:alpha val="55000"/>
            </a:srgbClr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XT_Caption" hidden="1">
            <a:extLst>
              <a:ext uri="{FF2B5EF4-FFF2-40B4-BE49-F238E27FC236}">
                <a16:creationId xmlns:a16="http://schemas.microsoft.com/office/drawing/2014/main" id="{A4E70B09-A05F-8D55-41D1-4C7B95AAB32D}"/>
              </a:ext>
            </a:extLst>
          </p:cNvPr>
          <p:cNvSpPr txBox="1"/>
          <p:nvPr/>
        </p:nvSpPr>
        <p:spPr>
          <a:xfrm>
            <a:off x="1016000" y="6604000"/>
            <a:ext cx="10159695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algn="ctr"/>
            <a:r>
              <a:rPr lang="en-US" sz="1500" b="1">
                <a:solidFill>
                  <a:srgbClr val="183050"/>
                </a:solidFill>
                <a:latin typeface="Aptos" panose="020B0004020202020204" pitchFamily="34" charset="0"/>
              </a:rPr>
              <a:t>The candle uses oxygen as it burns. In a sealed jar, oxygen runs out.</a:t>
            </a:r>
          </a:p>
        </p:txBody>
      </p:sp>
    </p:spTree>
    <p:extLst>
      <p:ext uri="{BB962C8B-B14F-4D97-AF65-F5344CB8AC3E}">
        <p14:creationId xmlns:p14="http://schemas.microsoft.com/office/powerpoint/2010/main" val="31679851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5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5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5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5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5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5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550"/>
                            </p:stCondLst>
                            <p:childTnLst>
                              <p:par>
                                <p:cTn id="38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9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2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5" dur="4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4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6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3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3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3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5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55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3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5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8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8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9" dur="55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0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3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4" dur="5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5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98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9" dur="5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550"/>
                            </p:stCondLst>
                            <p:childTnLst>
                              <p:par>
                                <p:cTn id="101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4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4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5" dur="4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4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1" dur="4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4" dur="4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7" dur="4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0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2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3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34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6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3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8" presetID="47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1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3" fill="hold">
                            <p:stCondLst>
                              <p:cond delay="500"/>
                            </p:stCondLst>
                            <p:childTnLst>
                              <p:par>
                                <p:cTn id="154" presetID="10" presetClass="exit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5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7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8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0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1" dur="4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3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4" dur="4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3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7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1" dur="1" fill="hold">
                                          <p:stCondLst>
                                            <p:cond delay="44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>
                            <p:stCondLst>
                              <p:cond delay="950"/>
                            </p:stCondLst>
                            <p:childTnLst>
                              <p:par>
                                <p:cTn id="17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5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1450"/>
                            </p:stCondLst>
                            <p:childTnLst>
                              <p:par>
                                <p:cTn id="17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9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0" grpId="1" animBg="1"/>
      <p:bldP spid="11" grpId="0" animBg="1"/>
      <p:bldP spid="11" grpId="1" animBg="1"/>
      <p:bldP spid="12" grpId="0" animBg="1"/>
      <p:bldP spid="12" grpId="1" animBg="1"/>
      <p:bldP spid="13" grpId="0" animBg="1"/>
      <p:bldP spid="13" grpId="1" animBg="1"/>
      <p:bldP spid="16" grpId="0" animBg="1"/>
      <p:bldP spid="16" grpId="1" animBg="1"/>
      <p:bldP spid="17" grpId="0" animBg="1"/>
      <p:bldP spid="17" grpId="1" animBg="1"/>
      <p:bldP spid="18" grpId="0" animBg="1"/>
      <p:bldP spid="18" grpId="1" animBg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24" grpId="0" animBg="1"/>
      <p:bldP spid="24" grpId="1" animBg="1"/>
      <p:bldP spid="25" grpId="0" animBg="1"/>
      <p:bldP spid="25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  <p:bldP spid="31" grpId="0" animBg="1"/>
      <p:bldP spid="31" grpId="1" animBg="1"/>
      <p:bldP spid="33" grpId="0" animBg="1"/>
      <p:bldP spid="34" grpId="0" animBg="1"/>
      <p:bldP spid="35" grpId="0" animBg="1"/>
      <p:bldP spid="36" grpId="0" animBg="1"/>
      <p:bldP spid="3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177</Words>
  <Application>Microsoft Office PowerPoint</Application>
  <PresentationFormat>Custom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Hussein Ahmed</dc:creator>
  <cp:lastModifiedBy>Hussein Ahmed</cp:lastModifiedBy>
  <cp:revision>1</cp:revision>
  <dcterms:created xsi:type="dcterms:W3CDTF">2026-09-13T23:57:24Z</dcterms:created>
  <dcterms:modified xsi:type="dcterms:W3CDTF">2026-09-13T23:57:24Z</dcterms:modified>
</cp:coreProperties>
</file>