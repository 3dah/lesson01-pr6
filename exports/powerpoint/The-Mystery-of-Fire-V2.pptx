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3EA7F-7093-4143-9AB8-FE7386151CA6}"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6B83F0-1461-4759-AB3E-1526A32C73E2}" type="slidenum">
              <a:rPr lang="en-US" smtClean="0"/>
              <a:t>‹#›</a:t>
            </a:fld>
            <a:endParaRPr lang="en-US"/>
          </a:p>
        </p:txBody>
      </p:sp>
    </p:spTree>
    <p:extLst>
      <p:ext uri="{BB962C8B-B14F-4D97-AF65-F5344CB8AC3E}">
        <p14:creationId xmlns:p14="http://schemas.microsoft.com/office/powerpoint/2010/main" val="1157488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Open in silence. Let the flame hold attention.
SCIENTIFIC POINT
Central investigation question.
STUDENT QUESTION
What might a flame need?
EXPECTED ANSWER
Fuel, heat, air — gather ideas.
TIP
Do not answer yet.</a:t>
            </a:r>
          </a:p>
        </p:txBody>
      </p:sp>
      <p:sp>
        <p:nvSpPr>
          <p:cNvPr id="4" name="Slide Number Placeholder 3"/>
          <p:cNvSpPr>
            <a:spLocks noGrp="1"/>
          </p:cNvSpPr>
          <p:nvPr>
            <p:ph type="sldNum" sz="quarter" idx="5"/>
          </p:nvPr>
        </p:nvSpPr>
        <p:spPr/>
        <p:txBody>
          <a:bodyPr/>
          <a:lstStyle/>
          <a:p>
            <a:fld id="{AF6B83F0-1461-4759-AB3E-1526A32C73E2}" type="slidenum">
              <a:rPr lang="en-US" smtClean="0"/>
              <a:t>1</a:t>
            </a:fld>
            <a:endParaRPr lang="en-US"/>
          </a:p>
        </p:txBody>
      </p:sp>
    </p:spTree>
    <p:extLst>
      <p:ext uri="{BB962C8B-B14F-4D97-AF65-F5344CB8AC3E}">
        <p14:creationId xmlns:p14="http://schemas.microsoft.com/office/powerpoint/2010/main" val="1123405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Point out the space around us is filled with air.
SCIENTIFIC POINT
Air occupies space even when invisible.
STUDENT QUESTION
Can invisible things affect fire?
EXPECTED ANSWER
Yes.
TIP
Particles are a visualization aid.</a:t>
            </a:r>
          </a:p>
        </p:txBody>
      </p:sp>
      <p:sp>
        <p:nvSpPr>
          <p:cNvPr id="4" name="Slide Number Placeholder 3"/>
          <p:cNvSpPr>
            <a:spLocks noGrp="1"/>
          </p:cNvSpPr>
          <p:nvPr>
            <p:ph type="sldNum" sz="quarter" idx="5"/>
          </p:nvPr>
        </p:nvSpPr>
        <p:spPr/>
        <p:txBody>
          <a:bodyPr/>
          <a:lstStyle/>
          <a:p>
            <a:fld id="{AF6B83F0-1461-4759-AB3E-1526A32C73E2}" type="slidenum">
              <a:rPr lang="en-US" smtClean="0"/>
              <a:t>2</a:t>
            </a:fld>
            <a:endParaRPr lang="en-US"/>
          </a:p>
        </p:txBody>
      </p:sp>
    </p:spTree>
    <p:extLst>
      <p:ext uri="{BB962C8B-B14F-4D97-AF65-F5344CB8AC3E}">
        <p14:creationId xmlns:p14="http://schemas.microsoft.com/office/powerpoint/2010/main" val="375658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Walk the mechanism: inputs → reaction → products.
SCIENTIFIC POINT
Combustion: oxygen + substance → heat and light.
STUDENT QUESTION
What three things meet?
EXPECTED ANSWER
Heat, fuel, oxygen.
TIP
Keep Grade 6 language.</a:t>
            </a:r>
          </a:p>
        </p:txBody>
      </p:sp>
      <p:sp>
        <p:nvSpPr>
          <p:cNvPr id="4" name="Slide Number Placeholder 3"/>
          <p:cNvSpPr>
            <a:spLocks noGrp="1"/>
          </p:cNvSpPr>
          <p:nvPr>
            <p:ph type="sldNum" sz="quarter" idx="5"/>
          </p:nvPr>
        </p:nvSpPr>
        <p:spPr/>
        <p:txBody>
          <a:bodyPr/>
          <a:lstStyle/>
          <a:p>
            <a:fld id="{AF6B83F0-1461-4759-AB3E-1526A32C73E2}" type="slidenum">
              <a:rPr lang="en-US" smtClean="0"/>
              <a:t>3</a:t>
            </a:fld>
            <a:endParaRPr lang="en-US"/>
          </a:p>
        </p:txBody>
      </p:sp>
    </p:spTree>
    <p:extLst>
      <p:ext uri="{BB962C8B-B14F-4D97-AF65-F5344CB8AC3E}">
        <p14:creationId xmlns:p14="http://schemas.microsoft.com/office/powerpoint/2010/main" val="1719167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Name each object. Teacher-only lighter.
SCIENTIFIC POINT
Controlled experiment tools.
STUDENT QUESTION
Why a glass jar?
EXPECTED ANSWER
To trap or allow air around the flame.
TIP
Safety first.</a:t>
            </a:r>
          </a:p>
        </p:txBody>
      </p:sp>
      <p:sp>
        <p:nvSpPr>
          <p:cNvPr id="4" name="Slide Number Placeholder 3"/>
          <p:cNvSpPr>
            <a:spLocks noGrp="1"/>
          </p:cNvSpPr>
          <p:nvPr>
            <p:ph type="sldNum" sz="quarter" idx="5"/>
          </p:nvPr>
        </p:nvSpPr>
        <p:spPr/>
        <p:txBody>
          <a:bodyPr/>
          <a:lstStyle/>
          <a:p>
            <a:fld id="{AF6B83F0-1461-4759-AB3E-1526A32C73E2}" type="slidenum">
              <a:rPr lang="en-US" smtClean="0"/>
              <a:t>4</a:t>
            </a:fld>
            <a:endParaRPr lang="en-US"/>
          </a:p>
        </p:txBody>
      </p:sp>
    </p:spTree>
    <p:extLst>
      <p:ext uri="{BB962C8B-B14F-4D97-AF65-F5344CB8AC3E}">
        <p14:creationId xmlns:p14="http://schemas.microsoft.com/office/powerpoint/2010/main" val="314913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Describe the physical setup.
SCIENTIFIC POINT
Bottomless jar lets us control top and bottom.
STUDENT QUESTION
What can we change?
EXPECTED ANSWER
Lid on/off, gaps in clay.
TIP
Keep apparatus large on screen.</a:t>
            </a:r>
          </a:p>
        </p:txBody>
      </p:sp>
      <p:sp>
        <p:nvSpPr>
          <p:cNvPr id="4" name="Slide Number Placeholder 3"/>
          <p:cNvSpPr>
            <a:spLocks noGrp="1"/>
          </p:cNvSpPr>
          <p:nvPr>
            <p:ph type="sldNum" sz="quarter" idx="5"/>
          </p:nvPr>
        </p:nvSpPr>
        <p:spPr/>
        <p:txBody>
          <a:bodyPr/>
          <a:lstStyle/>
          <a:p>
            <a:fld id="{AF6B83F0-1461-4759-AB3E-1526A32C73E2}" type="slidenum">
              <a:rPr lang="en-US" smtClean="0"/>
              <a:t>5</a:t>
            </a:fld>
            <a:endParaRPr lang="en-US"/>
          </a:p>
        </p:txBody>
      </p:sp>
    </p:spTree>
    <p:extLst>
      <p:ext uri="{BB962C8B-B14F-4D97-AF65-F5344CB8AC3E}">
        <p14:creationId xmlns:p14="http://schemas.microsoft.com/office/powerpoint/2010/main" val="2150758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Class vote before sealing.
SCIENTIFIC POINT
Prediction before observation.
STUDENT QUESTION
Which shows gradual change?
EXPECTED ANSWER
B.
TIP
Do not confirm yet.</a:t>
            </a:r>
          </a:p>
        </p:txBody>
      </p:sp>
      <p:sp>
        <p:nvSpPr>
          <p:cNvPr id="4" name="Slide Number Placeholder 3"/>
          <p:cNvSpPr>
            <a:spLocks noGrp="1"/>
          </p:cNvSpPr>
          <p:nvPr>
            <p:ph type="sldNum" sz="quarter" idx="5"/>
          </p:nvPr>
        </p:nvSpPr>
        <p:spPr/>
        <p:txBody>
          <a:bodyPr/>
          <a:lstStyle/>
          <a:p>
            <a:fld id="{AF6B83F0-1461-4759-AB3E-1526A32C73E2}" type="slidenum">
              <a:rPr lang="en-US" smtClean="0"/>
              <a:t>6</a:t>
            </a:fld>
            <a:endParaRPr lang="en-US"/>
          </a:p>
        </p:txBody>
      </p:sp>
    </p:spTree>
    <p:extLst>
      <p:ext uri="{BB962C8B-B14F-4D97-AF65-F5344CB8AC3E}">
        <p14:creationId xmlns:p14="http://schemas.microsoft.com/office/powerpoint/2010/main" val="1631949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Emphasize enclosure and trapped volume.
SCIENTIFIC POINT
Closed system: air cannot renew.
STUDENT QUESTION
What is trapped with the flame?
EXPECTED ANSWER
A limited amount of air.
TIP
Almost no other text — let the image speak.</a:t>
            </a:r>
          </a:p>
        </p:txBody>
      </p:sp>
      <p:sp>
        <p:nvSpPr>
          <p:cNvPr id="4" name="Slide Number Placeholder 3"/>
          <p:cNvSpPr>
            <a:spLocks noGrp="1"/>
          </p:cNvSpPr>
          <p:nvPr>
            <p:ph type="sldNum" sz="quarter" idx="5"/>
          </p:nvPr>
        </p:nvSpPr>
        <p:spPr/>
        <p:txBody>
          <a:bodyPr/>
          <a:lstStyle/>
          <a:p>
            <a:fld id="{AF6B83F0-1461-4759-AB3E-1526A32C73E2}" type="slidenum">
              <a:rPr lang="en-US" smtClean="0"/>
              <a:t>7</a:t>
            </a:fld>
            <a:endParaRPr lang="en-US"/>
          </a:p>
        </p:txBody>
      </p:sp>
    </p:spTree>
    <p:extLst>
      <p:ext uri="{BB962C8B-B14F-4D97-AF65-F5344CB8AC3E}">
        <p14:creationId xmlns:p14="http://schemas.microsoft.com/office/powerpoint/2010/main" val="2947909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Trace the sequence left to right.
SCIENTIFIC POINT
Flame weakens as available air runs low.
STUDENT QUESTION
Instant or gradual?
EXPECTED ANSWER
Gradual, then out.
TIP
Match to prediction B.</a:t>
            </a:r>
          </a:p>
        </p:txBody>
      </p:sp>
      <p:sp>
        <p:nvSpPr>
          <p:cNvPr id="4" name="Slide Number Placeholder 3"/>
          <p:cNvSpPr>
            <a:spLocks noGrp="1"/>
          </p:cNvSpPr>
          <p:nvPr>
            <p:ph type="sldNum" sz="quarter" idx="5"/>
          </p:nvPr>
        </p:nvSpPr>
        <p:spPr/>
        <p:txBody>
          <a:bodyPr/>
          <a:lstStyle/>
          <a:p>
            <a:fld id="{AF6B83F0-1461-4759-AB3E-1526A32C73E2}" type="slidenum">
              <a:rPr lang="en-US" smtClean="0"/>
              <a:t>8</a:t>
            </a:fld>
            <a:endParaRPr lang="en-US"/>
          </a:p>
        </p:txBody>
      </p:sp>
    </p:spTree>
    <p:extLst>
      <p:ext uri="{BB962C8B-B14F-4D97-AF65-F5344CB8AC3E}">
        <p14:creationId xmlns:p14="http://schemas.microsoft.com/office/powerpoint/2010/main" val="2691564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Connect particle density to flame strength.
SCIENTIFIC POINT
In a closed jar, air is used up.
STUDENT QUESTION
Why can't it burn forever sealed?
EXPECTED ANSWER
No fresh air enters.
TIP
Avoid exact oxygen percentages.</a:t>
            </a:r>
          </a:p>
        </p:txBody>
      </p:sp>
      <p:sp>
        <p:nvSpPr>
          <p:cNvPr id="4" name="Slide Number Placeholder 3"/>
          <p:cNvSpPr>
            <a:spLocks noGrp="1"/>
          </p:cNvSpPr>
          <p:nvPr>
            <p:ph type="sldNum" sz="quarter" idx="5"/>
          </p:nvPr>
        </p:nvSpPr>
        <p:spPr/>
        <p:txBody>
          <a:bodyPr/>
          <a:lstStyle/>
          <a:p>
            <a:fld id="{AF6B83F0-1461-4759-AB3E-1526A32C73E2}" type="slidenum">
              <a:rPr lang="en-US" smtClean="0"/>
              <a:t>9</a:t>
            </a:fld>
            <a:endParaRPr lang="en-US"/>
          </a:p>
        </p:txBody>
      </p:sp>
    </p:spTree>
    <p:extLst>
      <p:ext uri="{BB962C8B-B14F-4D97-AF65-F5344CB8AC3E}">
        <p14:creationId xmlns:p14="http://schemas.microsoft.com/office/powerpoint/2010/main" val="3020400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Show the gap as a doorway for air.
SCIENTIFIC POINT
Opening allows possible inflow.
STUDENT QUESTION
Does any hole guarantee burning forever?
EXPECTED ANSWER
No — continuous replacement matters.
TIP
Preview bottom-only nuance verbally.</a:t>
            </a:r>
          </a:p>
        </p:txBody>
      </p:sp>
      <p:sp>
        <p:nvSpPr>
          <p:cNvPr id="4" name="Slide Number Placeholder 3"/>
          <p:cNvSpPr>
            <a:spLocks noGrp="1"/>
          </p:cNvSpPr>
          <p:nvPr>
            <p:ph type="sldNum" sz="quarter" idx="5"/>
          </p:nvPr>
        </p:nvSpPr>
        <p:spPr/>
        <p:txBody>
          <a:bodyPr/>
          <a:lstStyle/>
          <a:p>
            <a:fld id="{AF6B83F0-1461-4759-AB3E-1526A32C73E2}" type="slidenum">
              <a:rPr lang="en-US" smtClean="0"/>
              <a:t>10</a:t>
            </a:fld>
            <a:endParaRPr lang="en-US"/>
          </a:p>
        </p:txBody>
      </p:sp>
    </p:spTree>
    <p:extLst>
      <p:ext uri="{BB962C8B-B14F-4D97-AF65-F5344CB8AC3E}">
        <p14:creationId xmlns:p14="http://schemas.microsoft.com/office/powerpoint/2010/main" val="3709936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Trace bottom in → flame → top out.
SCIENTIFIC POINT
Air constantly renewed with both openings.
STUDENT QUESTION
Which way does warm air move?
EXPECTED ANSWER
Up and out.
TIP
Key teaching slide.</a:t>
            </a:r>
          </a:p>
        </p:txBody>
      </p:sp>
      <p:sp>
        <p:nvSpPr>
          <p:cNvPr id="4" name="Slide Number Placeholder 3"/>
          <p:cNvSpPr>
            <a:spLocks noGrp="1"/>
          </p:cNvSpPr>
          <p:nvPr>
            <p:ph type="sldNum" sz="quarter" idx="5"/>
          </p:nvPr>
        </p:nvSpPr>
        <p:spPr/>
        <p:txBody>
          <a:bodyPr/>
          <a:lstStyle/>
          <a:p>
            <a:fld id="{AF6B83F0-1461-4759-AB3E-1526A32C73E2}" type="slidenum">
              <a:rPr lang="en-US" smtClean="0"/>
              <a:t>11</a:t>
            </a:fld>
            <a:endParaRPr lang="en-US"/>
          </a:p>
        </p:txBody>
      </p:sp>
    </p:spTree>
    <p:extLst>
      <p:ext uri="{BB962C8B-B14F-4D97-AF65-F5344CB8AC3E}">
        <p14:creationId xmlns:p14="http://schemas.microsoft.com/office/powerpoint/2010/main" val="1935582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Contrast with sealed outcome.
SCIENTIFIC POINT
Continuous supply allows continued burning.
STUDENT QUESTION
What changed from the sealed jar?
EXPECTED ANSWER
Air can be renewed.
TIP
Hold on the strong flame.</a:t>
            </a:r>
          </a:p>
        </p:txBody>
      </p:sp>
      <p:sp>
        <p:nvSpPr>
          <p:cNvPr id="4" name="Slide Number Placeholder 3"/>
          <p:cNvSpPr>
            <a:spLocks noGrp="1"/>
          </p:cNvSpPr>
          <p:nvPr>
            <p:ph type="sldNum" sz="quarter" idx="5"/>
          </p:nvPr>
        </p:nvSpPr>
        <p:spPr/>
        <p:txBody>
          <a:bodyPr/>
          <a:lstStyle/>
          <a:p>
            <a:fld id="{AF6B83F0-1461-4759-AB3E-1526A32C73E2}" type="slidenum">
              <a:rPr lang="en-US" smtClean="0"/>
              <a:t>12</a:t>
            </a:fld>
            <a:endParaRPr lang="en-US"/>
          </a:p>
        </p:txBody>
      </p:sp>
    </p:spTree>
    <p:extLst>
      <p:ext uri="{BB962C8B-B14F-4D97-AF65-F5344CB8AC3E}">
        <p14:creationId xmlns:p14="http://schemas.microsoft.com/office/powerpoint/2010/main" val="1787260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Partner explain left vs right.
SCIENTIFIC POINT
Both openings support renewal in this experiment.
STUDENT QUESTION
Which keeps burning?
EXPECTED ANSWER
Open / airflow side.
TIP
Aha moment.</a:t>
            </a:r>
          </a:p>
        </p:txBody>
      </p:sp>
      <p:sp>
        <p:nvSpPr>
          <p:cNvPr id="4" name="Slide Number Placeholder 3"/>
          <p:cNvSpPr>
            <a:spLocks noGrp="1"/>
          </p:cNvSpPr>
          <p:nvPr>
            <p:ph type="sldNum" sz="quarter" idx="5"/>
          </p:nvPr>
        </p:nvSpPr>
        <p:spPr/>
        <p:txBody>
          <a:bodyPr/>
          <a:lstStyle/>
          <a:p>
            <a:fld id="{AF6B83F0-1461-4759-AB3E-1526A32C73E2}" type="slidenum">
              <a:rPr lang="en-US" smtClean="0"/>
              <a:t>13</a:t>
            </a:fld>
            <a:endParaRPr lang="en-US"/>
          </a:p>
        </p:txBody>
      </p:sp>
    </p:spTree>
    <p:extLst>
      <p:ext uri="{BB962C8B-B14F-4D97-AF65-F5344CB8AC3E}">
        <p14:creationId xmlns:p14="http://schemas.microsoft.com/office/powerpoint/2010/main" val="421849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Return to the definition as culmination.
SCIENTIFIC POINT
Official combustion meaning.
STUDENT QUESTION
What products appear?
EXPECTED ANSWER
Heat and light.
TIP
Keep wording source-aligned.</a:t>
            </a:r>
          </a:p>
        </p:txBody>
      </p:sp>
      <p:sp>
        <p:nvSpPr>
          <p:cNvPr id="4" name="Slide Number Placeholder 3"/>
          <p:cNvSpPr>
            <a:spLocks noGrp="1"/>
          </p:cNvSpPr>
          <p:nvPr>
            <p:ph type="sldNum" sz="quarter" idx="5"/>
          </p:nvPr>
        </p:nvSpPr>
        <p:spPr/>
        <p:txBody>
          <a:bodyPr/>
          <a:lstStyle/>
          <a:p>
            <a:fld id="{AF6B83F0-1461-4759-AB3E-1526A32C73E2}" type="slidenum">
              <a:rPr lang="en-US" smtClean="0"/>
              <a:t>14</a:t>
            </a:fld>
            <a:endParaRPr lang="en-US"/>
          </a:p>
        </p:txBody>
      </p:sp>
    </p:spTree>
    <p:extLst>
      <p:ext uri="{BB962C8B-B14F-4D97-AF65-F5344CB8AC3E}">
        <p14:creationId xmlns:p14="http://schemas.microsoft.com/office/powerpoint/2010/main" val="2349020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Pause. Let the line land.
SCIENTIFIC POINT
Air is essential for continued burning.
STUDENT QUESTION
One-sentence takeaway?
EXPECTED ANSWER
Burning needs renewed fresh air.
TIP
Calm, memorable close of concept.</a:t>
            </a:r>
          </a:p>
        </p:txBody>
      </p:sp>
      <p:sp>
        <p:nvSpPr>
          <p:cNvPr id="4" name="Slide Number Placeholder 3"/>
          <p:cNvSpPr>
            <a:spLocks noGrp="1"/>
          </p:cNvSpPr>
          <p:nvPr>
            <p:ph type="sldNum" sz="quarter" idx="5"/>
          </p:nvPr>
        </p:nvSpPr>
        <p:spPr/>
        <p:txBody>
          <a:bodyPr/>
          <a:lstStyle/>
          <a:p>
            <a:fld id="{AF6B83F0-1461-4759-AB3E-1526A32C73E2}" type="slidenum">
              <a:rPr lang="en-US" smtClean="0"/>
              <a:t>15</a:t>
            </a:fld>
            <a:endParaRPr lang="en-US"/>
          </a:p>
        </p:txBody>
      </p:sp>
    </p:spTree>
    <p:extLst>
      <p:ext uri="{BB962C8B-B14F-4D97-AF65-F5344CB8AC3E}">
        <p14:creationId xmlns:p14="http://schemas.microsoft.com/office/powerpoint/2010/main" val="3034404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Connect to student homes.
SCIENTIFIC POINT
Designed airflow in real systems.
STUDENT QUESTION
Why chimneys?
EXPECTED ANSWER
Warm air out, fresh air in.
TIP
Concrete examples.</a:t>
            </a:r>
          </a:p>
        </p:txBody>
      </p:sp>
      <p:sp>
        <p:nvSpPr>
          <p:cNvPr id="4" name="Slide Number Placeholder 3"/>
          <p:cNvSpPr>
            <a:spLocks noGrp="1"/>
          </p:cNvSpPr>
          <p:nvPr>
            <p:ph type="sldNum" sz="quarter" idx="5"/>
          </p:nvPr>
        </p:nvSpPr>
        <p:spPr/>
        <p:txBody>
          <a:bodyPr/>
          <a:lstStyle/>
          <a:p>
            <a:fld id="{AF6B83F0-1461-4759-AB3E-1526A32C73E2}" type="slidenum">
              <a:rPr lang="en-US" smtClean="0"/>
              <a:t>16</a:t>
            </a:fld>
            <a:endParaRPr lang="en-US"/>
          </a:p>
        </p:txBody>
      </p:sp>
    </p:spTree>
    <p:extLst>
      <p:ext uri="{BB962C8B-B14F-4D97-AF65-F5344CB8AC3E}">
        <p14:creationId xmlns:p14="http://schemas.microsoft.com/office/powerpoint/2010/main" val="1521540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Students choose before reveal.
SCIENTIFIC POINT
Airflow side continues; sealed goes out.
STUDENT QUESTION
Why?
EXPECTED ANSWER
Fresh air can be renewed.
TIP
Formative check.</a:t>
            </a:r>
          </a:p>
        </p:txBody>
      </p:sp>
      <p:sp>
        <p:nvSpPr>
          <p:cNvPr id="4" name="Slide Number Placeholder 3"/>
          <p:cNvSpPr>
            <a:spLocks noGrp="1"/>
          </p:cNvSpPr>
          <p:nvPr>
            <p:ph type="sldNum" sz="quarter" idx="5"/>
          </p:nvPr>
        </p:nvSpPr>
        <p:spPr/>
        <p:txBody>
          <a:bodyPr/>
          <a:lstStyle/>
          <a:p>
            <a:fld id="{AF6B83F0-1461-4759-AB3E-1526A32C73E2}" type="slidenum">
              <a:rPr lang="en-US" smtClean="0"/>
              <a:t>17</a:t>
            </a:fld>
            <a:endParaRPr lang="en-US"/>
          </a:p>
        </p:txBody>
      </p:sp>
    </p:spTree>
    <p:extLst>
      <p:ext uri="{BB962C8B-B14F-4D97-AF65-F5344CB8AC3E}">
        <p14:creationId xmlns:p14="http://schemas.microsoft.com/office/powerpoint/2010/main" val="3643883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 EXPLANATION
Read the three lines slowly.
SCIENTIFIC POINT
Authoritative conclusions.
STUDENT QUESTION
What does a flame need to keep burning?
EXPECTED ANSWER
Fuel, heat, continuous fresh air.
TIP
End on the image.</a:t>
            </a:r>
          </a:p>
        </p:txBody>
      </p:sp>
      <p:sp>
        <p:nvSpPr>
          <p:cNvPr id="4" name="Slide Number Placeholder 3"/>
          <p:cNvSpPr>
            <a:spLocks noGrp="1"/>
          </p:cNvSpPr>
          <p:nvPr>
            <p:ph type="sldNum" sz="quarter" idx="5"/>
          </p:nvPr>
        </p:nvSpPr>
        <p:spPr/>
        <p:txBody>
          <a:bodyPr/>
          <a:lstStyle/>
          <a:p>
            <a:fld id="{AF6B83F0-1461-4759-AB3E-1526A32C73E2}" type="slidenum">
              <a:rPr lang="en-US" smtClean="0"/>
              <a:t>18</a:t>
            </a:fld>
            <a:endParaRPr lang="en-US"/>
          </a:p>
        </p:txBody>
      </p:sp>
    </p:spTree>
    <p:extLst>
      <p:ext uri="{BB962C8B-B14F-4D97-AF65-F5344CB8AC3E}">
        <p14:creationId xmlns:p14="http://schemas.microsoft.com/office/powerpoint/2010/main" val="2364633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2B13-F122-A691-5C34-EEDA64D13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314FDA-B72B-5DF4-4B70-88EBDFBD40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44E205-9B68-4FB6-6F54-EE17AA01B589}"/>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5" name="Footer Placeholder 4">
            <a:extLst>
              <a:ext uri="{FF2B5EF4-FFF2-40B4-BE49-F238E27FC236}">
                <a16:creationId xmlns:a16="http://schemas.microsoft.com/office/drawing/2014/main" id="{1E9C3272-79F7-61F1-6776-678BCD960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44A69-CF34-6A2C-05B3-232E0A3C25A3}"/>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94433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80B00-9FE2-C4B8-D6FD-94D4D6F3D0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BEEEB6-58C9-8E94-3570-1A2A7B1AF4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4A37F-F352-4230-94C3-DA4912780A6E}"/>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5" name="Footer Placeholder 4">
            <a:extLst>
              <a:ext uri="{FF2B5EF4-FFF2-40B4-BE49-F238E27FC236}">
                <a16:creationId xmlns:a16="http://schemas.microsoft.com/office/drawing/2014/main" id="{ED1D4607-CEF0-BA94-1E52-6B8C251972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1B879-661C-C5D9-B008-4386F6D18F8A}"/>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2856436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BFB86-73E5-CDDC-FF2C-4D171DA2BF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0C67E6-1DB7-A6BF-DEB0-85014CE7A6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5DE8D9-9BF7-81AB-B1A5-08BC9BE859AA}"/>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5" name="Footer Placeholder 4">
            <a:extLst>
              <a:ext uri="{FF2B5EF4-FFF2-40B4-BE49-F238E27FC236}">
                <a16:creationId xmlns:a16="http://schemas.microsoft.com/office/drawing/2014/main" id="{D7967DB7-2365-10C3-B9D8-042A38C622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57D7CE-563A-653E-E8C3-C2C07D7F1243}"/>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1956966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33DCE-9FD2-8C00-4AAF-EC8245A867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D21A31-38AC-36DF-E863-91A8C816E2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E68175-714D-7CE4-3F9E-4189C711F0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61F4D1-06AE-1AE2-1B41-0000945F6329}"/>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6" name="Footer Placeholder 5">
            <a:extLst>
              <a:ext uri="{FF2B5EF4-FFF2-40B4-BE49-F238E27FC236}">
                <a16:creationId xmlns:a16="http://schemas.microsoft.com/office/drawing/2014/main" id="{1FFD4DEC-31AE-D06C-2252-5CBCC02F81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EC8B43-ABDA-CCBB-2E47-F0C00DAB93A0}"/>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2024525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6E015-B069-A507-F982-B65D4B1EA4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E817EF-6BDF-40B7-DC46-991F930739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69A670-83C0-2EEB-38C2-A1BA01F613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C2B641-1826-A72D-FE69-90B1E65F43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7ABDAA-57F4-55E7-3486-36584EB405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0F43EA-7B39-68E2-249E-B5FADC1DD878}"/>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8" name="Footer Placeholder 7">
            <a:extLst>
              <a:ext uri="{FF2B5EF4-FFF2-40B4-BE49-F238E27FC236}">
                <a16:creationId xmlns:a16="http://schemas.microsoft.com/office/drawing/2014/main" id="{09230987-D1F8-A37E-7498-4347789CD5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ACA9FF-9A23-0E58-FCF0-D0D29032EA4F}"/>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1385524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8E272-126A-3D18-CF99-E09720E254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114599-9207-E574-9030-550A88D61A94}"/>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4" name="Footer Placeholder 3">
            <a:extLst>
              <a:ext uri="{FF2B5EF4-FFF2-40B4-BE49-F238E27FC236}">
                <a16:creationId xmlns:a16="http://schemas.microsoft.com/office/drawing/2014/main" id="{65DC9631-D438-6A2E-5F90-6306E16BBD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D52628-9999-2FA4-55F2-35DBBD1517B1}"/>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543874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2B0EF7-07D8-1578-97F1-9F662432EE5D}"/>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3" name="Footer Placeholder 2">
            <a:extLst>
              <a:ext uri="{FF2B5EF4-FFF2-40B4-BE49-F238E27FC236}">
                <a16:creationId xmlns:a16="http://schemas.microsoft.com/office/drawing/2014/main" id="{091F816F-B079-054A-2FCC-CD0359F117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A31D2E-A773-ACB8-9417-CA048B5F6985}"/>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2955713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C19F0-CF3E-5A3D-0FDA-7089FAE783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5B452E-B91E-F1E3-AFD0-D6E34B3D90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A578FD-DC56-C7F7-16CB-0626517AAF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565A06-143F-3D2F-BC84-CB77CA8A2227}"/>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6" name="Footer Placeholder 5">
            <a:extLst>
              <a:ext uri="{FF2B5EF4-FFF2-40B4-BE49-F238E27FC236}">
                <a16:creationId xmlns:a16="http://schemas.microsoft.com/office/drawing/2014/main" id="{BB3D5E1F-0B9F-A85D-44CB-89C4F51D3E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E4E40D-46BF-CAF2-B0B9-25C12A7D7FD4}"/>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506149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7A84A-06B6-1B2D-90F3-5811ED4A0A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DC940D-85C4-D423-02F4-AC8C07D85C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17E34E-3E8C-9A7F-0B8C-A2393B233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DB6C0C-84E0-3166-001B-263E81C97EA4}"/>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6" name="Footer Placeholder 5">
            <a:extLst>
              <a:ext uri="{FF2B5EF4-FFF2-40B4-BE49-F238E27FC236}">
                <a16:creationId xmlns:a16="http://schemas.microsoft.com/office/drawing/2014/main" id="{9BF94181-3256-534C-F3C6-207A33C4D2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29DDB6-B9FF-31FD-1229-4BD9006ECFF1}"/>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2809622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5985-F343-9239-CCED-CBA2CFB831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CAC449-8E07-302E-B126-1D9CC58080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F9E3DD-5D00-F4CB-1D71-7C256B92CF57}"/>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5" name="Footer Placeholder 4">
            <a:extLst>
              <a:ext uri="{FF2B5EF4-FFF2-40B4-BE49-F238E27FC236}">
                <a16:creationId xmlns:a16="http://schemas.microsoft.com/office/drawing/2014/main" id="{250C45F8-9060-3A9A-85C1-23BCBA5D5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AE0886-6CE1-7D50-C71C-65153DF7B0CF}"/>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1302377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AC852B-F6B1-6BFE-32B5-AF0B2B6F88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6411C2-2FD0-3675-58F9-099CDFA206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7F505-EF85-F3FB-5734-921DEE825BEA}"/>
              </a:ext>
            </a:extLst>
          </p:cNvPr>
          <p:cNvSpPr>
            <a:spLocks noGrp="1"/>
          </p:cNvSpPr>
          <p:nvPr>
            <p:ph type="dt" sz="half" idx="10"/>
          </p:nvPr>
        </p:nvSpPr>
        <p:spPr/>
        <p:txBody>
          <a:bodyPr/>
          <a:lstStyle/>
          <a:p>
            <a:fld id="{E0AE8677-9E04-4F7B-9F6B-309D5543FCCD}" type="datetimeFigureOut">
              <a:rPr lang="en-US" smtClean="0"/>
              <a:t>9/14/2026</a:t>
            </a:fld>
            <a:endParaRPr lang="en-US"/>
          </a:p>
        </p:txBody>
      </p:sp>
      <p:sp>
        <p:nvSpPr>
          <p:cNvPr id="5" name="Footer Placeholder 4">
            <a:extLst>
              <a:ext uri="{FF2B5EF4-FFF2-40B4-BE49-F238E27FC236}">
                <a16:creationId xmlns:a16="http://schemas.microsoft.com/office/drawing/2014/main" id="{25734AA1-EA71-E8B9-F8FB-F1C2C019F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7157DB-58A1-6C8A-16C4-B41C413870F5}"/>
              </a:ext>
            </a:extLst>
          </p:cNvPr>
          <p:cNvSpPr>
            <a:spLocks noGrp="1"/>
          </p:cNvSpPr>
          <p:nvPr>
            <p:ph type="sldNum" sz="quarter" idx="12"/>
          </p:nvPr>
        </p:nvSpPr>
        <p:spPr/>
        <p:txBody>
          <a:bodyPr/>
          <a:lstStyle/>
          <a:p>
            <a:fld id="{A7C7677A-778B-4053-968F-8F65C9921EB4}" type="slidenum">
              <a:rPr lang="en-US" smtClean="0"/>
              <a:t>‹#›</a:t>
            </a:fld>
            <a:endParaRPr lang="en-US"/>
          </a:p>
        </p:txBody>
      </p:sp>
    </p:spTree>
    <p:extLst>
      <p:ext uri="{BB962C8B-B14F-4D97-AF65-F5344CB8AC3E}">
        <p14:creationId xmlns:p14="http://schemas.microsoft.com/office/powerpoint/2010/main" val="4225368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77D249-646E-3324-6F27-8452234A63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D0247F-5809-56B9-E522-F6F5828E0F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4EFCAC-0356-733D-7556-4894DCD861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AE8677-9E04-4F7B-9F6B-309D5543FCCD}" type="datetimeFigureOut">
              <a:rPr lang="en-US" smtClean="0"/>
              <a:t>9/14/2026</a:t>
            </a:fld>
            <a:endParaRPr lang="en-US"/>
          </a:p>
        </p:txBody>
      </p:sp>
      <p:sp>
        <p:nvSpPr>
          <p:cNvPr id="5" name="Footer Placeholder 4">
            <a:extLst>
              <a:ext uri="{FF2B5EF4-FFF2-40B4-BE49-F238E27FC236}">
                <a16:creationId xmlns:a16="http://schemas.microsoft.com/office/drawing/2014/main" id="{CAA0064A-0EFD-6DB4-8D7C-873B1D3360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1C0147-5CF5-070C-09ED-C7C73445C9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C7677A-778B-4053-968F-8F65C9921EB4}" type="slidenum">
              <a:rPr lang="en-US" smtClean="0"/>
              <a:t>‹#›</a:t>
            </a:fld>
            <a:endParaRPr lang="en-US"/>
          </a:p>
        </p:txBody>
      </p:sp>
    </p:spTree>
    <p:extLst>
      <p:ext uri="{BB962C8B-B14F-4D97-AF65-F5344CB8AC3E}">
        <p14:creationId xmlns:p14="http://schemas.microsoft.com/office/powerpoint/2010/main" val="2376144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5FA9CC-28C9-735F-0AD4-8827390C4D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BBBD7B33-7D45-16A4-F0DF-B715BB85A06B}"/>
              </a:ext>
            </a:extLst>
          </p:cNvPr>
          <p:cNvSpPr/>
          <p:nvPr/>
        </p:nvSpPr>
        <p:spPr>
          <a:xfrm>
            <a:off x="0" y="0"/>
            <a:ext cx="12191695" cy="1651000"/>
          </a:xfrm>
          <a:prstGeom prst="rect">
            <a:avLst/>
          </a:prstGeom>
          <a:solidFill>
            <a:srgbClr val="070B14">
              <a:alpha val="6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4AF74E8-F313-A2A0-3667-3702EC4B51A7}"/>
              </a:ext>
            </a:extLst>
          </p:cNvPr>
          <p:cNvSpPr txBox="1"/>
          <p:nvPr/>
        </p:nvSpPr>
        <p:spPr>
          <a:xfrm>
            <a:off x="609600" y="355600"/>
            <a:ext cx="10972495" cy="707886"/>
          </a:xfrm>
          <a:prstGeom prst="rect">
            <a:avLst/>
          </a:prstGeom>
          <a:noFill/>
        </p:spPr>
        <p:txBody>
          <a:bodyPr vert="horz" wrap="square" rtlCol="0">
            <a:spAutoFit/>
          </a:bodyPr>
          <a:lstStyle/>
          <a:p>
            <a:pPr algn="ctr"/>
            <a:r>
              <a:rPr lang="en-US" sz="4000" b="1">
                <a:solidFill>
                  <a:srgbClr val="F8F8F6"/>
                </a:solidFill>
                <a:latin typeface="Georgia" panose="02040502050405020303" pitchFamily="18" charset="0"/>
              </a:rPr>
              <a:t>THE MYSTERY OF FIRE</a:t>
            </a:r>
          </a:p>
        </p:txBody>
      </p:sp>
      <p:sp>
        <p:nvSpPr>
          <p:cNvPr id="6" name="TextBox 5">
            <a:extLst>
              <a:ext uri="{FF2B5EF4-FFF2-40B4-BE49-F238E27FC236}">
                <a16:creationId xmlns:a16="http://schemas.microsoft.com/office/drawing/2014/main" id="{CDCDDF00-C4A6-823B-7D1D-40D165A2A071}"/>
              </a:ext>
            </a:extLst>
          </p:cNvPr>
          <p:cNvSpPr txBox="1"/>
          <p:nvPr/>
        </p:nvSpPr>
        <p:spPr>
          <a:xfrm>
            <a:off x="1016000" y="11176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What does a flame need to keep burning?</a:t>
            </a:r>
          </a:p>
        </p:txBody>
      </p:sp>
    </p:spTree>
    <p:extLst>
      <p:ext uri="{BB962C8B-B14F-4D97-AF65-F5344CB8AC3E}">
        <p14:creationId xmlns:p14="http://schemas.microsoft.com/office/powerpoint/2010/main" val="2937803860"/>
      </p:ext>
    </p:extLst>
  </p:cSld>
  <p:clrMapOvr>
    <a:masterClrMapping/>
  </p:clrMapOvr>
  <p:transition spd="med">
    <p:cut/>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B1CCC7-7B2A-9A7A-76A9-BF1AC49EB5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6BAD5E43-02C2-69C0-59ED-9ADEDC40B0F1}"/>
              </a:ext>
            </a:extLst>
          </p:cNvPr>
          <p:cNvSpPr/>
          <p:nvPr/>
        </p:nvSpPr>
        <p:spPr>
          <a:xfrm>
            <a:off x="0" y="0"/>
            <a:ext cx="12191695" cy="1524000"/>
          </a:xfrm>
          <a:prstGeom prst="rect">
            <a:avLst/>
          </a:prstGeom>
          <a:solidFill>
            <a:srgbClr val="070B14">
              <a:alpha val="5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8DA48E-5835-C033-55FA-EE16F1C6F4B1}"/>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AIR IS EVERYWHERE</a:t>
            </a:r>
          </a:p>
        </p:txBody>
      </p:sp>
      <p:sp>
        <p:nvSpPr>
          <p:cNvPr id="6" name="TextBox 5">
            <a:extLst>
              <a:ext uri="{FF2B5EF4-FFF2-40B4-BE49-F238E27FC236}">
                <a16:creationId xmlns:a16="http://schemas.microsoft.com/office/drawing/2014/main" id="{610A44BA-5592-6A19-8190-C5EA571CB84D}"/>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You cannot see it — but it can affect fire.</a:t>
            </a:r>
          </a:p>
        </p:txBody>
      </p:sp>
    </p:spTree>
    <p:extLst>
      <p:ext uri="{BB962C8B-B14F-4D97-AF65-F5344CB8AC3E}">
        <p14:creationId xmlns:p14="http://schemas.microsoft.com/office/powerpoint/2010/main" val="1845247946"/>
      </p:ext>
    </p:extLst>
  </p:cSld>
  <p:clrMapOvr>
    <a:masterClrMapping/>
  </p:clrMapOvr>
  <p:transition spd="med">
    <p:cu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8C4336-EE92-B11C-A8B4-45B3BD05187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5902B037-CF89-4B35-9461-A83B62ADEDCE}"/>
              </a:ext>
            </a:extLst>
          </p:cNvPr>
          <p:cNvSpPr/>
          <p:nvPr/>
        </p:nvSpPr>
        <p:spPr>
          <a:xfrm>
            <a:off x="0" y="0"/>
            <a:ext cx="12191695" cy="1397000"/>
          </a:xfrm>
          <a:prstGeom prst="rect">
            <a:avLst/>
          </a:prstGeom>
          <a:solidFill>
            <a:srgbClr val="070B14">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2CA17B1-B21E-958A-CBE0-67AFF59A10D9}"/>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WHAT IS BURNING?</a:t>
            </a:r>
          </a:p>
        </p:txBody>
      </p:sp>
      <p:sp>
        <p:nvSpPr>
          <p:cNvPr id="6" name="TextBox 5">
            <a:extLst>
              <a:ext uri="{FF2B5EF4-FFF2-40B4-BE49-F238E27FC236}">
                <a16:creationId xmlns:a16="http://schemas.microsoft.com/office/drawing/2014/main" id="{CDCE8E49-9DDD-CF49-64FC-8265D9692B0F}"/>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Heat + Fuel + Oxygen  →  Combustion  →  Heat + Light</a:t>
            </a:r>
          </a:p>
        </p:txBody>
      </p:sp>
    </p:spTree>
    <p:extLst>
      <p:ext uri="{BB962C8B-B14F-4D97-AF65-F5344CB8AC3E}">
        <p14:creationId xmlns:p14="http://schemas.microsoft.com/office/powerpoint/2010/main" val="2648630160"/>
      </p:ext>
    </p:extLst>
  </p:cSld>
  <p:clrMapOvr>
    <a:masterClrMapping/>
  </p:clrMapOvr>
  <p:transition spd="med">
    <p:cu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F38820-D816-27B3-AF9B-D2D674EB45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C2B18560-94F5-A1C4-DE32-E3070816BEEE}"/>
              </a:ext>
            </a:extLst>
          </p:cNvPr>
          <p:cNvSpPr/>
          <p:nvPr/>
        </p:nvSpPr>
        <p:spPr>
          <a:xfrm>
            <a:off x="0" y="5715000"/>
            <a:ext cx="12191695" cy="1143000"/>
          </a:xfrm>
          <a:prstGeom prst="rect">
            <a:avLst/>
          </a:prstGeom>
          <a:solidFill>
            <a:srgbClr val="070B14">
              <a:alpha val="6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254D772-DE75-E00F-6466-F495262C126D}"/>
              </a:ext>
            </a:extLst>
          </p:cNvPr>
          <p:cNvSpPr txBox="1"/>
          <p:nvPr/>
        </p:nvSpPr>
        <p:spPr>
          <a:xfrm>
            <a:off x="609600" y="5867400"/>
            <a:ext cx="10972495" cy="523220"/>
          </a:xfrm>
          <a:prstGeom prst="rect">
            <a:avLst/>
          </a:prstGeom>
          <a:noFill/>
        </p:spPr>
        <p:txBody>
          <a:bodyPr vert="horz" wrap="square" rtlCol="0">
            <a:spAutoFit/>
          </a:bodyPr>
          <a:lstStyle/>
          <a:p>
            <a:pPr algn="ctr"/>
            <a:r>
              <a:rPr lang="en-US" sz="2800" b="1">
                <a:solidFill>
                  <a:srgbClr val="F8F8F6"/>
                </a:solidFill>
                <a:latin typeface="Georgia" panose="02040502050405020303" pitchFamily="18" charset="0"/>
              </a:rPr>
              <a:t>LET'S TEST IT</a:t>
            </a:r>
          </a:p>
        </p:txBody>
      </p:sp>
      <p:sp>
        <p:nvSpPr>
          <p:cNvPr id="6" name="TextBox 5">
            <a:extLst>
              <a:ext uri="{FF2B5EF4-FFF2-40B4-BE49-F238E27FC236}">
                <a16:creationId xmlns:a16="http://schemas.microsoft.com/office/drawing/2014/main" id="{0F301B84-907E-BCED-974B-56151298190A}"/>
              </a:ext>
            </a:extLst>
          </p:cNvPr>
          <p:cNvSpPr txBox="1"/>
          <p:nvPr/>
        </p:nvSpPr>
        <p:spPr>
          <a:xfrm>
            <a:off x="1016000" y="6324600"/>
            <a:ext cx="10159695" cy="292388"/>
          </a:xfrm>
          <a:prstGeom prst="rect">
            <a:avLst/>
          </a:prstGeom>
          <a:noFill/>
        </p:spPr>
        <p:txBody>
          <a:bodyPr vert="horz" wrap="square" rtlCol="0">
            <a:spAutoFit/>
          </a:bodyPr>
          <a:lstStyle/>
          <a:p>
            <a:pPr algn="ctr"/>
            <a:r>
              <a:rPr lang="en-US" sz="1300">
                <a:solidFill>
                  <a:srgbClr val="C8D0DA"/>
                </a:solidFill>
                <a:latin typeface="Calibri" panose="020F0502020204030204" pitchFamily="34" charset="0"/>
              </a:rPr>
              <a:t>Candle · Glass jar · Lid · Clay · Board · Lighter (teacher only)</a:t>
            </a:r>
          </a:p>
        </p:txBody>
      </p:sp>
    </p:spTree>
    <p:extLst>
      <p:ext uri="{BB962C8B-B14F-4D97-AF65-F5344CB8AC3E}">
        <p14:creationId xmlns:p14="http://schemas.microsoft.com/office/powerpoint/2010/main" val="983929545"/>
      </p:ext>
    </p:extLst>
  </p:cSld>
  <p:clrMapOvr>
    <a:masterClrMapping/>
  </p:clrMapOvr>
  <p:transition spd="med">
    <p:cu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BC8189-EB89-8C39-4BCD-5821DC7110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BFCB86EE-5F0F-140A-1BED-4DEA36572902}"/>
              </a:ext>
            </a:extLst>
          </p:cNvPr>
          <p:cNvSpPr/>
          <p:nvPr/>
        </p:nvSpPr>
        <p:spPr>
          <a:xfrm>
            <a:off x="0" y="0"/>
            <a:ext cx="12191695" cy="1270000"/>
          </a:xfrm>
          <a:prstGeom prst="rect">
            <a:avLst/>
          </a:prstGeom>
          <a:solidFill>
            <a:srgbClr val="070B14">
              <a:alpha val="5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FE78FA1-7F02-262F-3D61-EE5A2FCB393C}"/>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THE EXPERIMENT</a:t>
            </a:r>
          </a:p>
        </p:txBody>
      </p:sp>
      <p:sp>
        <p:nvSpPr>
          <p:cNvPr id="6" name="TextBox 5">
            <a:extLst>
              <a:ext uri="{FF2B5EF4-FFF2-40B4-BE49-F238E27FC236}">
                <a16:creationId xmlns:a16="http://schemas.microsoft.com/office/drawing/2014/main" id="{1DE8DB6D-14EC-27FD-71F1-37274EB145F4}"/>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A candle. A transparent jar. Controlled openings.</a:t>
            </a:r>
          </a:p>
        </p:txBody>
      </p:sp>
    </p:spTree>
    <p:extLst>
      <p:ext uri="{BB962C8B-B14F-4D97-AF65-F5344CB8AC3E}">
        <p14:creationId xmlns:p14="http://schemas.microsoft.com/office/powerpoint/2010/main" val="3396564249"/>
      </p:ext>
    </p:extLst>
  </p:cSld>
  <p:clrMapOvr>
    <a:masterClrMapping/>
  </p:clrMapOvr>
  <p:transition spd="med">
    <p:cu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54CA3A-06A0-5398-A586-1F3A962A62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B76A0366-D9FA-9AFB-C37C-A27819B61BBC}"/>
              </a:ext>
            </a:extLst>
          </p:cNvPr>
          <p:cNvSpPr/>
          <p:nvPr/>
        </p:nvSpPr>
        <p:spPr>
          <a:xfrm>
            <a:off x="0" y="0"/>
            <a:ext cx="12191695" cy="1270000"/>
          </a:xfrm>
          <a:prstGeom prst="rect">
            <a:avLst/>
          </a:prstGeom>
          <a:solidFill>
            <a:srgbClr val="070B14">
              <a:alpha val="5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3E81752-5518-B456-48B7-A9D0FA661A8D}"/>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WHAT WILL HAPPEN?</a:t>
            </a:r>
          </a:p>
        </p:txBody>
      </p:sp>
      <p:sp>
        <p:nvSpPr>
          <p:cNvPr id="6" name="TextBox 5">
            <a:extLst>
              <a:ext uri="{FF2B5EF4-FFF2-40B4-BE49-F238E27FC236}">
                <a16:creationId xmlns:a16="http://schemas.microsoft.com/office/drawing/2014/main" id="{578A73FB-A891-31D4-142B-57218EA008F4}"/>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A strong   ·   B weaker   ·   C out</a:t>
            </a:r>
          </a:p>
        </p:txBody>
      </p:sp>
      <p:sp>
        <p:nvSpPr>
          <p:cNvPr id="7" name="Rectangle 6">
            <a:extLst>
              <a:ext uri="{FF2B5EF4-FFF2-40B4-BE49-F238E27FC236}">
                <a16:creationId xmlns:a16="http://schemas.microsoft.com/office/drawing/2014/main" id="{A3E221E4-9A31-7339-82CE-B109587BE4D2}"/>
              </a:ext>
            </a:extLst>
          </p:cNvPr>
          <p:cNvSpPr/>
          <p:nvPr/>
        </p:nvSpPr>
        <p:spPr>
          <a:xfrm>
            <a:off x="0" y="6146800"/>
            <a:ext cx="12191695" cy="711200"/>
          </a:xfrm>
          <a:prstGeom prst="rect">
            <a:avLst/>
          </a:prstGeom>
          <a:solidFill>
            <a:srgbClr val="070B14">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684D62-4CF7-2B0A-9425-AD33BB60EF43}"/>
              </a:ext>
            </a:extLst>
          </p:cNvPr>
          <p:cNvSpPr txBox="1"/>
          <p:nvPr/>
        </p:nvSpPr>
        <p:spPr>
          <a:xfrm>
            <a:off x="508000" y="6324600"/>
            <a:ext cx="3556000" cy="276999"/>
          </a:xfrm>
          <a:prstGeom prst="rect">
            <a:avLst/>
          </a:prstGeom>
          <a:noFill/>
        </p:spPr>
        <p:txBody>
          <a:bodyPr vert="horz" wrap="square" rtlCol="0">
            <a:spAutoFit/>
          </a:bodyPr>
          <a:lstStyle/>
          <a:p>
            <a:pPr algn="ctr"/>
            <a:r>
              <a:rPr lang="en-US" sz="1200" b="1">
                <a:solidFill>
                  <a:srgbClr val="FF8A3D"/>
                </a:solidFill>
                <a:latin typeface="Calibri" panose="020F0502020204030204" pitchFamily="34" charset="0"/>
              </a:rPr>
              <a:t>A — KEEPS BURNING</a:t>
            </a:r>
          </a:p>
        </p:txBody>
      </p:sp>
      <p:sp>
        <p:nvSpPr>
          <p:cNvPr id="9" name="TextBox 8">
            <a:extLst>
              <a:ext uri="{FF2B5EF4-FFF2-40B4-BE49-F238E27FC236}">
                <a16:creationId xmlns:a16="http://schemas.microsoft.com/office/drawing/2014/main" id="{9722F177-E455-CAAE-B8D4-74AD58A3AAE2}"/>
              </a:ext>
            </a:extLst>
          </p:cNvPr>
          <p:cNvSpPr txBox="1"/>
          <p:nvPr/>
        </p:nvSpPr>
        <p:spPr>
          <a:xfrm>
            <a:off x="4064000" y="6324600"/>
            <a:ext cx="3810000" cy="276999"/>
          </a:xfrm>
          <a:prstGeom prst="rect">
            <a:avLst/>
          </a:prstGeom>
          <a:noFill/>
        </p:spPr>
        <p:txBody>
          <a:bodyPr vert="horz" wrap="square" rtlCol="0">
            <a:spAutoFit/>
          </a:bodyPr>
          <a:lstStyle/>
          <a:p>
            <a:pPr algn="ctr"/>
            <a:r>
              <a:rPr lang="en-US" sz="1200" b="1">
                <a:solidFill>
                  <a:srgbClr val="FF8A3D"/>
                </a:solidFill>
                <a:latin typeface="Calibri" panose="020F0502020204030204" pitchFamily="34" charset="0"/>
              </a:rPr>
              <a:t>B — BECOMES WEAKER</a:t>
            </a:r>
          </a:p>
        </p:txBody>
      </p:sp>
      <p:sp>
        <p:nvSpPr>
          <p:cNvPr id="10" name="TextBox 9">
            <a:extLst>
              <a:ext uri="{FF2B5EF4-FFF2-40B4-BE49-F238E27FC236}">
                <a16:creationId xmlns:a16="http://schemas.microsoft.com/office/drawing/2014/main" id="{C114F322-2CD4-B471-B470-3AA8AB1062F8}"/>
              </a:ext>
            </a:extLst>
          </p:cNvPr>
          <p:cNvSpPr txBox="1"/>
          <p:nvPr/>
        </p:nvSpPr>
        <p:spPr>
          <a:xfrm>
            <a:off x="8128000" y="6324600"/>
            <a:ext cx="3302000" cy="276999"/>
          </a:xfrm>
          <a:prstGeom prst="rect">
            <a:avLst/>
          </a:prstGeom>
          <a:noFill/>
        </p:spPr>
        <p:txBody>
          <a:bodyPr vert="horz" wrap="square" rtlCol="0">
            <a:spAutoFit/>
          </a:bodyPr>
          <a:lstStyle/>
          <a:p>
            <a:pPr algn="ctr"/>
            <a:r>
              <a:rPr lang="en-US" sz="1200" b="1">
                <a:solidFill>
                  <a:srgbClr val="B4BECD"/>
                </a:solidFill>
                <a:latin typeface="Calibri" panose="020F0502020204030204" pitchFamily="34" charset="0"/>
              </a:rPr>
              <a:t>C — GOES OUT</a:t>
            </a:r>
          </a:p>
        </p:txBody>
      </p:sp>
    </p:spTree>
    <p:extLst>
      <p:ext uri="{BB962C8B-B14F-4D97-AF65-F5344CB8AC3E}">
        <p14:creationId xmlns:p14="http://schemas.microsoft.com/office/powerpoint/2010/main" val="2869423991"/>
      </p:ext>
    </p:extLst>
  </p:cSld>
  <p:clrMapOvr>
    <a:masterClrMapping/>
  </p:clrMapOvr>
  <p:transition spd="med">
    <p:cut/>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4E0333-90B6-6EE5-B9D1-1AB0D4A1FA2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D58C439D-193E-253A-9E7B-AC0EC9510BBE}"/>
              </a:ext>
            </a:extLst>
          </p:cNvPr>
          <p:cNvSpPr/>
          <p:nvPr/>
        </p:nvSpPr>
        <p:spPr>
          <a:xfrm>
            <a:off x="0" y="5842000"/>
            <a:ext cx="12191695" cy="1016000"/>
          </a:xfrm>
          <a:prstGeom prst="rect">
            <a:avLst/>
          </a:prstGeom>
          <a:solidFill>
            <a:srgbClr val="070B14">
              <a:alpha val="6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1279640-38BF-8CC0-4F67-419E86FB011F}"/>
              </a:ext>
            </a:extLst>
          </p:cNvPr>
          <p:cNvSpPr txBox="1"/>
          <p:nvPr/>
        </p:nvSpPr>
        <p:spPr>
          <a:xfrm>
            <a:off x="609600" y="6070600"/>
            <a:ext cx="10972495" cy="492443"/>
          </a:xfrm>
          <a:prstGeom prst="rect">
            <a:avLst/>
          </a:prstGeom>
          <a:noFill/>
        </p:spPr>
        <p:txBody>
          <a:bodyPr vert="horz" wrap="square" rtlCol="0">
            <a:spAutoFit/>
          </a:bodyPr>
          <a:lstStyle/>
          <a:p>
            <a:pPr algn="ctr"/>
            <a:r>
              <a:rPr lang="en-US" sz="2600" b="1">
                <a:solidFill>
                  <a:srgbClr val="F8F8F6"/>
                </a:solidFill>
                <a:latin typeface="Georgia" panose="02040502050405020303" pitchFamily="18" charset="0"/>
              </a:rPr>
              <a:t>THE AIR CAN'T BE REPLACED</a:t>
            </a:r>
          </a:p>
        </p:txBody>
      </p:sp>
    </p:spTree>
    <p:extLst>
      <p:ext uri="{BB962C8B-B14F-4D97-AF65-F5344CB8AC3E}">
        <p14:creationId xmlns:p14="http://schemas.microsoft.com/office/powerpoint/2010/main" val="3344321795"/>
      </p:ext>
    </p:extLst>
  </p:cSld>
  <p:clrMapOvr>
    <a:masterClrMapping/>
  </p:clrMapOvr>
  <p:transition spd="med">
    <p:cut/>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E3E61A-61EA-CD83-51D5-EF33D56CEC2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30AB7818-2ED1-E454-0103-61B2FEBFB966}"/>
              </a:ext>
            </a:extLst>
          </p:cNvPr>
          <p:cNvSpPr/>
          <p:nvPr/>
        </p:nvSpPr>
        <p:spPr>
          <a:xfrm>
            <a:off x="0" y="0"/>
            <a:ext cx="12191695" cy="1143000"/>
          </a:xfrm>
          <a:prstGeom prst="rect">
            <a:avLst/>
          </a:prstGeom>
          <a:solidFill>
            <a:srgbClr val="070B14">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117BFA3-6678-70E7-D37D-73919AEBD8EE}"/>
              </a:ext>
            </a:extLst>
          </p:cNvPr>
          <p:cNvSpPr txBox="1"/>
          <p:nvPr/>
        </p:nvSpPr>
        <p:spPr>
          <a:xfrm>
            <a:off x="609600" y="304800"/>
            <a:ext cx="10972495" cy="584775"/>
          </a:xfrm>
          <a:prstGeom prst="rect">
            <a:avLst/>
          </a:prstGeom>
          <a:noFill/>
        </p:spPr>
        <p:txBody>
          <a:bodyPr vert="horz" wrap="square" rtlCol="0">
            <a:spAutoFit/>
          </a:bodyPr>
          <a:lstStyle/>
          <a:p>
            <a:pPr algn="ctr"/>
            <a:r>
              <a:rPr lang="en-US" sz="3200" b="1">
                <a:solidFill>
                  <a:srgbClr val="F8F8F6"/>
                </a:solidFill>
                <a:latin typeface="Georgia" panose="02040502050405020303" pitchFamily="18" charset="0"/>
              </a:rPr>
              <a:t>WATCH CAREFULLY</a:t>
            </a:r>
          </a:p>
        </p:txBody>
      </p:sp>
      <p:sp>
        <p:nvSpPr>
          <p:cNvPr id="6" name="TextBox 5">
            <a:extLst>
              <a:ext uri="{FF2B5EF4-FFF2-40B4-BE49-F238E27FC236}">
                <a16:creationId xmlns:a16="http://schemas.microsoft.com/office/drawing/2014/main" id="{2375FF92-8F98-5100-7379-8909AA3BA937}"/>
              </a:ext>
            </a:extLst>
          </p:cNvPr>
          <p:cNvSpPr txBox="1"/>
          <p:nvPr/>
        </p:nvSpPr>
        <p:spPr>
          <a:xfrm>
            <a:off x="1016000" y="9906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Strong  →  Weaker  →  Out</a:t>
            </a:r>
          </a:p>
        </p:txBody>
      </p:sp>
    </p:spTree>
    <p:extLst>
      <p:ext uri="{BB962C8B-B14F-4D97-AF65-F5344CB8AC3E}">
        <p14:creationId xmlns:p14="http://schemas.microsoft.com/office/powerpoint/2010/main" val="1425265971"/>
      </p:ext>
    </p:extLst>
  </p:cSld>
  <p:clrMapOvr>
    <a:masterClrMapping/>
  </p:clrMapOvr>
  <p:transition spd="med">
    <p:cut/>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363484-8982-B0B3-2363-2D66A398343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CCD890CC-A157-F477-54AF-D46899DB04C5}"/>
              </a:ext>
            </a:extLst>
          </p:cNvPr>
          <p:cNvSpPr/>
          <p:nvPr/>
        </p:nvSpPr>
        <p:spPr>
          <a:xfrm>
            <a:off x="0" y="0"/>
            <a:ext cx="12191695" cy="1270000"/>
          </a:xfrm>
          <a:prstGeom prst="rect">
            <a:avLst/>
          </a:prstGeom>
          <a:solidFill>
            <a:srgbClr val="070B14">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F234054-EF50-B34F-64C6-FAA585E91F2C}"/>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WHY DID IT GO OUT?</a:t>
            </a:r>
          </a:p>
        </p:txBody>
      </p:sp>
      <p:sp>
        <p:nvSpPr>
          <p:cNvPr id="6" name="TextBox 5">
            <a:extLst>
              <a:ext uri="{FF2B5EF4-FFF2-40B4-BE49-F238E27FC236}">
                <a16:creationId xmlns:a16="http://schemas.microsoft.com/office/drawing/2014/main" id="{6F47C5B2-F2FB-CDFE-C408-8FEB059A3CD2}"/>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More air → stronger flame   ·   Less air → weaker flame   ·   Air used up → out</a:t>
            </a:r>
          </a:p>
        </p:txBody>
      </p:sp>
    </p:spTree>
    <p:extLst>
      <p:ext uri="{BB962C8B-B14F-4D97-AF65-F5344CB8AC3E}">
        <p14:creationId xmlns:p14="http://schemas.microsoft.com/office/powerpoint/2010/main" val="734705009"/>
      </p:ext>
    </p:extLst>
  </p:cSld>
  <p:clrMapOvr>
    <a:masterClrMapping/>
  </p:clrMapOvr>
  <p:transition spd="med">
    <p:cut/>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AA34BF-99FC-23E4-D444-96BFA14CB6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970C081D-41A7-D24D-39D6-06DA427FE4B8}"/>
              </a:ext>
            </a:extLst>
          </p:cNvPr>
          <p:cNvSpPr/>
          <p:nvPr/>
        </p:nvSpPr>
        <p:spPr>
          <a:xfrm>
            <a:off x="0" y="0"/>
            <a:ext cx="12191695" cy="1270000"/>
          </a:xfrm>
          <a:prstGeom prst="rect">
            <a:avLst/>
          </a:prstGeom>
          <a:solidFill>
            <a:srgbClr val="070B14">
              <a:alpha val="5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64F64E-30D4-CEBB-06BF-F53AE73E125C}"/>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WHAT IF FRESH AIR CAN ENTER?</a:t>
            </a:r>
          </a:p>
        </p:txBody>
      </p:sp>
      <p:sp>
        <p:nvSpPr>
          <p:cNvPr id="6" name="TextBox 5">
            <a:extLst>
              <a:ext uri="{FF2B5EF4-FFF2-40B4-BE49-F238E27FC236}">
                <a16:creationId xmlns:a16="http://schemas.microsoft.com/office/drawing/2014/main" id="{43BFD50F-D988-13FC-28A0-926CEC59E08C}"/>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A path for new air — but renewal still matters.</a:t>
            </a:r>
          </a:p>
        </p:txBody>
      </p:sp>
    </p:spTree>
    <p:extLst>
      <p:ext uri="{BB962C8B-B14F-4D97-AF65-F5344CB8AC3E}">
        <p14:creationId xmlns:p14="http://schemas.microsoft.com/office/powerpoint/2010/main" val="1217537910"/>
      </p:ext>
    </p:extLst>
  </p:cSld>
  <p:clrMapOvr>
    <a:masterClrMapping/>
  </p:clrMapOvr>
  <p:transition spd="med">
    <p:cut/>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C1B5CE-8438-F535-EDC4-D1A5BC18F2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C2AF1D42-A6FF-16AF-E164-1AF374312718}"/>
              </a:ext>
            </a:extLst>
          </p:cNvPr>
          <p:cNvSpPr/>
          <p:nvPr/>
        </p:nvSpPr>
        <p:spPr>
          <a:xfrm>
            <a:off x="0" y="0"/>
            <a:ext cx="12191695" cy="1143000"/>
          </a:xfrm>
          <a:prstGeom prst="rect">
            <a:avLst/>
          </a:prstGeom>
          <a:solidFill>
            <a:srgbClr val="070B14">
              <a:alpha val="4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3EC5279-7989-F4BB-056E-369435929654}"/>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FRESH AIR ENTERS</a:t>
            </a:r>
          </a:p>
        </p:txBody>
      </p:sp>
      <p:sp>
        <p:nvSpPr>
          <p:cNvPr id="6" name="TextBox 5">
            <a:extLst>
              <a:ext uri="{FF2B5EF4-FFF2-40B4-BE49-F238E27FC236}">
                <a16:creationId xmlns:a16="http://schemas.microsoft.com/office/drawing/2014/main" id="{604D5BDF-75A2-D03C-1BCA-801C8C478F94}"/>
              </a:ext>
            </a:extLst>
          </p:cNvPr>
          <p:cNvSpPr txBox="1"/>
          <p:nvPr/>
        </p:nvSpPr>
        <p:spPr>
          <a:xfrm>
            <a:off x="762000" y="5334000"/>
            <a:ext cx="2032000" cy="292388"/>
          </a:xfrm>
          <a:prstGeom prst="rect">
            <a:avLst/>
          </a:prstGeom>
          <a:noFill/>
        </p:spPr>
        <p:txBody>
          <a:bodyPr vert="horz" wrap="square" rtlCol="0">
            <a:spAutoFit/>
          </a:bodyPr>
          <a:lstStyle/>
          <a:p>
            <a:r>
              <a:rPr lang="en-US" sz="1300" b="1">
                <a:solidFill>
                  <a:srgbClr val="5EC8FF"/>
                </a:solidFill>
                <a:latin typeface="Calibri" panose="020F0502020204030204" pitchFamily="34" charset="0"/>
              </a:rPr>
              <a:t>FRESH AIR ↓</a:t>
            </a:r>
          </a:p>
        </p:txBody>
      </p:sp>
      <p:sp>
        <p:nvSpPr>
          <p:cNvPr id="7" name="TextBox 6">
            <a:extLst>
              <a:ext uri="{FF2B5EF4-FFF2-40B4-BE49-F238E27FC236}">
                <a16:creationId xmlns:a16="http://schemas.microsoft.com/office/drawing/2014/main" id="{C004A373-81F2-AC1C-7077-346213111FFB}"/>
              </a:ext>
            </a:extLst>
          </p:cNvPr>
          <p:cNvSpPr txBox="1"/>
          <p:nvPr/>
        </p:nvSpPr>
        <p:spPr>
          <a:xfrm>
            <a:off x="4826000" y="3810000"/>
            <a:ext cx="2540000" cy="292388"/>
          </a:xfrm>
          <a:prstGeom prst="rect">
            <a:avLst/>
          </a:prstGeom>
          <a:noFill/>
        </p:spPr>
        <p:txBody>
          <a:bodyPr vert="horz" wrap="square" rtlCol="0">
            <a:spAutoFit/>
          </a:bodyPr>
          <a:lstStyle/>
          <a:p>
            <a:r>
              <a:rPr lang="en-US" sz="1300" b="1">
                <a:solidFill>
                  <a:srgbClr val="9EFFF0"/>
                </a:solidFill>
                <a:latin typeface="Calibri" panose="020F0502020204030204" pitchFamily="34" charset="0"/>
              </a:rPr>
              <a:t>OXYGEN → FLAME</a:t>
            </a:r>
          </a:p>
        </p:txBody>
      </p:sp>
      <p:sp>
        <p:nvSpPr>
          <p:cNvPr id="8" name="TextBox 7">
            <a:extLst>
              <a:ext uri="{FF2B5EF4-FFF2-40B4-BE49-F238E27FC236}">
                <a16:creationId xmlns:a16="http://schemas.microsoft.com/office/drawing/2014/main" id="{C2DF17C0-3E86-15C4-E695-F19E7F4DF860}"/>
              </a:ext>
            </a:extLst>
          </p:cNvPr>
          <p:cNvSpPr txBox="1"/>
          <p:nvPr/>
        </p:nvSpPr>
        <p:spPr>
          <a:xfrm>
            <a:off x="8890000" y="1778000"/>
            <a:ext cx="2032000" cy="292388"/>
          </a:xfrm>
          <a:prstGeom prst="rect">
            <a:avLst/>
          </a:prstGeom>
          <a:noFill/>
        </p:spPr>
        <p:txBody>
          <a:bodyPr vert="horz" wrap="square" rtlCol="0">
            <a:spAutoFit/>
          </a:bodyPr>
          <a:lstStyle/>
          <a:p>
            <a:r>
              <a:rPr lang="en-US" sz="1300" b="1">
                <a:solidFill>
                  <a:srgbClr val="FF8A3D"/>
                </a:solidFill>
                <a:latin typeface="Calibri" panose="020F0502020204030204" pitchFamily="34" charset="0"/>
              </a:rPr>
              <a:t>WARM AIR ↑</a:t>
            </a:r>
          </a:p>
        </p:txBody>
      </p:sp>
    </p:spTree>
    <p:extLst>
      <p:ext uri="{BB962C8B-B14F-4D97-AF65-F5344CB8AC3E}">
        <p14:creationId xmlns:p14="http://schemas.microsoft.com/office/powerpoint/2010/main" val="2739188338"/>
      </p:ext>
    </p:extLst>
  </p:cSld>
  <p:clrMapOvr>
    <a:masterClrMapping/>
  </p:clrMapOvr>
  <p:transition spd="med">
    <p:cut/>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A24AA1-E019-B2ED-83B6-E566361280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D075D99A-55E6-1FE0-A4E2-670BCC71D37D}"/>
              </a:ext>
            </a:extLst>
          </p:cNvPr>
          <p:cNvSpPr/>
          <p:nvPr/>
        </p:nvSpPr>
        <p:spPr>
          <a:xfrm>
            <a:off x="0" y="5588000"/>
            <a:ext cx="12191695" cy="1270000"/>
          </a:xfrm>
          <a:prstGeom prst="rect">
            <a:avLst/>
          </a:prstGeom>
          <a:solidFill>
            <a:srgbClr val="070B14">
              <a:alpha val="5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AD734A-8D3C-C340-A2A2-C8D3307D47C8}"/>
              </a:ext>
            </a:extLst>
          </p:cNvPr>
          <p:cNvSpPr txBox="1"/>
          <p:nvPr/>
        </p:nvSpPr>
        <p:spPr>
          <a:xfrm>
            <a:off x="609600" y="5816600"/>
            <a:ext cx="10972495" cy="553998"/>
          </a:xfrm>
          <a:prstGeom prst="rect">
            <a:avLst/>
          </a:prstGeom>
          <a:noFill/>
        </p:spPr>
        <p:txBody>
          <a:bodyPr vert="horz" wrap="square" rtlCol="0">
            <a:spAutoFit/>
          </a:bodyPr>
          <a:lstStyle/>
          <a:p>
            <a:pPr algn="ctr"/>
            <a:r>
              <a:rPr lang="en-US" sz="3000" b="1">
                <a:solidFill>
                  <a:srgbClr val="F8F8F6"/>
                </a:solidFill>
                <a:latin typeface="Georgia" panose="02040502050405020303" pitchFamily="18" charset="0"/>
              </a:rPr>
              <a:t>IT KEEPS BURNING</a:t>
            </a:r>
          </a:p>
        </p:txBody>
      </p:sp>
      <p:sp>
        <p:nvSpPr>
          <p:cNvPr id="6" name="TextBox 5">
            <a:extLst>
              <a:ext uri="{FF2B5EF4-FFF2-40B4-BE49-F238E27FC236}">
                <a16:creationId xmlns:a16="http://schemas.microsoft.com/office/drawing/2014/main" id="{21DF940F-80CD-62A8-C456-C45305B9DA9C}"/>
              </a:ext>
            </a:extLst>
          </p:cNvPr>
          <p:cNvSpPr txBox="1"/>
          <p:nvPr/>
        </p:nvSpPr>
        <p:spPr>
          <a:xfrm>
            <a:off x="1016000" y="6324600"/>
            <a:ext cx="10159695" cy="307777"/>
          </a:xfrm>
          <a:prstGeom prst="rect">
            <a:avLst/>
          </a:prstGeom>
          <a:noFill/>
        </p:spPr>
        <p:txBody>
          <a:bodyPr vert="horz" wrap="square" rtlCol="0">
            <a:spAutoFit/>
          </a:bodyPr>
          <a:lstStyle/>
          <a:p>
            <a:pPr algn="ctr"/>
            <a:r>
              <a:rPr lang="en-US" sz="1400">
                <a:solidFill>
                  <a:srgbClr val="C8D0DA"/>
                </a:solidFill>
                <a:latin typeface="Calibri" panose="020F0502020204030204" pitchFamily="34" charset="0"/>
              </a:rPr>
              <a:t>Fresh air keeps supplying what the flame needs.</a:t>
            </a:r>
          </a:p>
        </p:txBody>
      </p:sp>
    </p:spTree>
    <p:extLst>
      <p:ext uri="{BB962C8B-B14F-4D97-AF65-F5344CB8AC3E}">
        <p14:creationId xmlns:p14="http://schemas.microsoft.com/office/powerpoint/2010/main" val="2970029911"/>
      </p:ext>
    </p:extLst>
  </p:cSld>
  <p:clrMapOvr>
    <a:masterClrMapping/>
  </p:clrMapOvr>
  <p:transition spd="med">
    <p:cut/>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938167-1EEE-B2BA-27B9-4CD650412F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C87ACB3D-8144-096A-E92E-D62205CBD2EC}"/>
              </a:ext>
            </a:extLst>
          </p:cNvPr>
          <p:cNvSpPr/>
          <p:nvPr/>
        </p:nvSpPr>
        <p:spPr>
          <a:xfrm>
            <a:off x="0" y="0"/>
            <a:ext cx="12191695" cy="1143000"/>
          </a:xfrm>
          <a:prstGeom prst="rect">
            <a:avLst/>
          </a:prstGeom>
          <a:solidFill>
            <a:srgbClr val="070B14">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0592360-4795-131A-FDBB-4ADB668BB80F}"/>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CLOSED  vs  OPEN</a:t>
            </a:r>
          </a:p>
        </p:txBody>
      </p:sp>
      <p:sp>
        <p:nvSpPr>
          <p:cNvPr id="6" name="TextBox 5">
            <a:extLst>
              <a:ext uri="{FF2B5EF4-FFF2-40B4-BE49-F238E27FC236}">
                <a16:creationId xmlns:a16="http://schemas.microsoft.com/office/drawing/2014/main" id="{291A1396-89D6-58E1-0C40-A6F7DC17FD84}"/>
              </a:ext>
            </a:extLst>
          </p:cNvPr>
          <p:cNvSpPr txBox="1"/>
          <p:nvPr/>
        </p:nvSpPr>
        <p:spPr>
          <a:xfrm>
            <a:off x="1016000" y="6223000"/>
            <a:ext cx="3810000" cy="292388"/>
          </a:xfrm>
          <a:prstGeom prst="rect">
            <a:avLst/>
          </a:prstGeom>
          <a:noFill/>
        </p:spPr>
        <p:txBody>
          <a:bodyPr vert="horz" wrap="square" rtlCol="0">
            <a:spAutoFit/>
          </a:bodyPr>
          <a:lstStyle/>
          <a:p>
            <a:pPr algn="ctr"/>
            <a:r>
              <a:rPr lang="en-US" sz="1300" b="1">
                <a:solidFill>
                  <a:srgbClr val="B4BECD"/>
                </a:solidFill>
                <a:latin typeface="Calibri" panose="020F0502020204030204" pitchFamily="34" charset="0"/>
              </a:rPr>
              <a:t>AIR RUNS OUT</a:t>
            </a:r>
          </a:p>
        </p:txBody>
      </p:sp>
      <p:sp>
        <p:nvSpPr>
          <p:cNvPr id="7" name="TextBox 6">
            <a:extLst>
              <a:ext uri="{FF2B5EF4-FFF2-40B4-BE49-F238E27FC236}">
                <a16:creationId xmlns:a16="http://schemas.microsoft.com/office/drawing/2014/main" id="{F0DD8B7F-5C58-BBBB-769E-937E2A027F98}"/>
              </a:ext>
            </a:extLst>
          </p:cNvPr>
          <p:cNvSpPr txBox="1"/>
          <p:nvPr/>
        </p:nvSpPr>
        <p:spPr>
          <a:xfrm>
            <a:off x="7365695" y="6223000"/>
            <a:ext cx="3810000" cy="292388"/>
          </a:xfrm>
          <a:prstGeom prst="rect">
            <a:avLst/>
          </a:prstGeom>
          <a:noFill/>
        </p:spPr>
        <p:txBody>
          <a:bodyPr vert="horz" wrap="square" rtlCol="0">
            <a:spAutoFit/>
          </a:bodyPr>
          <a:lstStyle/>
          <a:p>
            <a:pPr algn="ctr"/>
            <a:r>
              <a:rPr lang="en-US" sz="1300" b="1">
                <a:solidFill>
                  <a:srgbClr val="9EFFF0"/>
                </a:solidFill>
                <a:latin typeface="Calibri" panose="020F0502020204030204" pitchFamily="34" charset="0"/>
              </a:rPr>
              <a:t>AIR RENEWED</a:t>
            </a:r>
          </a:p>
        </p:txBody>
      </p:sp>
    </p:spTree>
    <p:extLst>
      <p:ext uri="{BB962C8B-B14F-4D97-AF65-F5344CB8AC3E}">
        <p14:creationId xmlns:p14="http://schemas.microsoft.com/office/powerpoint/2010/main" val="228105834"/>
      </p:ext>
    </p:extLst>
  </p:cSld>
  <p:clrMapOvr>
    <a:masterClrMapping/>
  </p:clrMapOvr>
  <p:transition spd="med">
    <p:cut/>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663DD4-3317-5A57-E3A5-DBD81126E6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278BCB7A-6606-C3D9-7C33-C930FD013222}"/>
              </a:ext>
            </a:extLst>
          </p:cNvPr>
          <p:cNvSpPr/>
          <p:nvPr/>
        </p:nvSpPr>
        <p:spPr>
          <a:xfrm>
            <a:off x="0" y="0"/>
            <a:ext cx="12191695" cy="1397000"/>
          </a:xfrm>
          <a:prstGeom prst="rect">
            <a:avLst/>
          </a:prstGeom>
          <a:solidFill>
            <a:srgbClr val="070B14">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CE579C-FDC2-60EE-1ED9-05AF17B80C13}"/>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WHY DOES THIS HAPPEN?</a:t>
            </a:r>
          </a:p>
        </p:txBody>
      </p:sp>
      <p:sp>
        <p:nvSpPr>
          <p:cNvPr id="6" name="TextBox 5">
            <a:extLst>
              <a:ext uri="{FF2B5EF4-FFF2-40B4-BE49-F238E27FC236}">
                <a16:creationId xmlns:a16="http://schemas.microsoft.com/office/drawing/2014/main" id="{0C0CAA6B-C4E0-8801-823A-1FB667E5FC71}"/>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FUEL + OXYGEN + HEAT  →  COMBUSTION  →  HEAT + LIGHT</a:t>
            </a:r>
          </a:p>
        </p:txBody>
      </p:sp>
    </p:spTree>
    <p:extLst>
      <p:ext uri="{BB962C8B-B14F-4D97-AF65-F5344CB8AC3E}">
        <p14:creationId xmlns:p14="http://schemas.microsoft.com/office/powerpoint/2010/main" val="1983115122"/>
      </p:ext>
    </p:extLst>
  </p:cSld>
  <p:clrMapOvr>
    <a:masterClrMapping/>
  </p:clrMapOvr>
  <p:transition spd="med">
    <p:cut/>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527318-CD2A-42C8-C99E-9711920354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FCC3A0A1-5D29-252D-5CB2-4536FF90C950}"/>
              </a:ext>
            </a:extLst>
          </p:cNvPr>
          <p:cNvSpPr/>
          <p:nvPr/>
        </p:nvSpPr>
        <p:spPr>
          <a:xfrm>
            <a:off x="0" y="5461000"/>
            <a:ext cx="12191695" cy="1397000"/>
          </a:xfrm>
          <a:prstGeom prst="rect">
            <a:avLst/>
          </a:prstGeom>
          <a:solidFill>
            <a:srgbClr val="070B14">
              <a:alpha val="6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30D84E0-22BB-7502-EE08-A1DC0604BCF3}"/>
              </a:ext>
            </a:extLst>
          </p:cNvPr>
          <p:cNvSpPr txBox="1"/>
          <p:nvPr/>
        </p:nvSpPr>
        <p:spPr>
          <a:xfrm>
            <a:off x="609600" y="5740400"/>
            <a:ext cx="10972495" cy="523220"/>
          </a:xfrm>
          <a:prstGeom prst="rect">
            <a:avLst/>
          </a:prstGeom>
          <a:noFill/>
        </p:spPr>
        <p:txBody>
          <a:bodyPr vert="horz" wrap="square" rtlCol="0">
            <a:spAutoFit/>
          </a:bodyPr>
          <a:lstStyle/>
          <a:p>
            <a:pPr algn="ctr"/>
            <a:r>
              <a:rPr lang="en-US" sz="2800" b="1">
                <a:solidFill>
                  <a:srgbClr val="F8F8F6"/>
                </a:solidFill>
                <a:latin typeface="Georgia" panose="02040502050405020303" pitchFamily="18" charset="0"/>
              </a:rPr>
              <a:t>AIR PLAYS A KEY ROLE IN BURNING</a:t>
            </a:r>
          </a:p>
        </p:txBody>
      </p:sp>
    </p:spTree>
    <p:extLst>
      <p:ext uri="{BB962C8B-B14F-4D97-AF65-F5344CB8AC3E}">
        <p14:creationId xmlns:p14="http://schemas.microsoft.com/office/powerpoint/2010/main" val="2422694611"/>
      </p:ext>
    </p:extLst>
  </p:cSld>
  <p:clrMapOvr>
    <a:masterClrMapping/>
  </p:clrMapOvr>
  <p:transition spd="med">
    <p:cut/>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BD117C-8552-9448-561C-E941ECABC6E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0F611CDB-A073-9AC1-C135-6665C9705292}"/>
              </a:ext>
            </a:extLst>
          </p:cNvPr>
          <p:cNvSpPr/>
          <p:nvPr/>
        </p:nvSpPr>
        <p:spPr>
          <a:xfrm>
            <a:off x="0" y="0"/>
            <a:ext cx="12191695" cy="1143000"/>
          </a:xfrm>
          <a:prstGeom prst="rect">
            <a:avLst/>
          </a:prstGeom>
          <a:solidFill>
            <a:srgbClr val="070B14">
              <a:alpha val="5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9E6D078-5AEE-FDCB-0095-1AE42186AE11}"/>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REAL LIFE</a:t>
            </a:r>
          </a:p>
        </p:txBody>
      </p:sp>
      <p:sp>
        <p:nvSpPr>
          <p:cNvPr id="6" name="TextBox 5">
            <a:extLst>
              <a:ext uri="{FF2B5EF4-FFF2-40B4-BE49-F238E27FC236}">
                <a16:creationId xmlns:a16="http://schemas.microsoft.com/office/drawing/2014/main" id="{2660168F-6F2F-463D-BFE4-EA2BC02F4A10}"/>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Fireplace · Candle · Stove · Engine — each needs air.</a:t>
            </a:r>
          </a:p>
        </p:txBody>
      </p:sp>
    </p:spTree>
    <p:extLst>
      <p:ext uri="{BB962C8B-B14F-4D97-AF65-F5344CB8AC3E}">
        <p14:creationId xmlns:p14="http://schemas.microsoft.com/office/powerpoint/2010/main" val="149405362"/>
      </p:ext>
    </p:extLst>
  </p:cSld>
  <p:clrMapOvr>
    <a:masterClrMapping/>
  </p:clrMapOvr>
  <p:transition spd="med">
    <p:cut/>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6C1E28-D2A8-5EF5-2726-324288D1A7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A76CA5A8-ED0F-ECB5-2685-52E003C25438}"/>
              </a:ext>
            </a:extLst>
          </p:cNvPr>
          <p:cNvSpPr/>
          <p:nvPr/>
        </p:nvSpPr>
        <p:spPr>
          <a:xfrm>
            <a:off x="0" y="0"/>
            <a:ext cx="12191695" cy="1270000"/>
          </a:xfrm>
          <a:prstGeom prst="rect">
            <a:avLst/>
          </a:prstGeom>
          <a:solidFill>
            <a:srgbClr val="070B14">
              <a:alpha val="5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F4BA9D-1640-35B9-7C31-7C9BF4FA3B65}"/>
              </a:ext>
            </a:extLst>
          </p:cNvPr>
          <p:cNvSpPr txBox="1"/>
          <p:nvPr/>
        </p:nvSpPr>
        <p:spPr>
          <a:xfrm>
            <a:off x="609600" y="457200"/>
            <a:ext cx="10972495" cy="646331"/>
          </a:xfrm>
          <a:prstGeom prst="rect">
            <a:avLst/>
          </a:prstGeom>
          <a:noFill/>
        </p:spPr>
        <p:txBody>
          <a:bodyPr vert="horz" wrap="square" rtlCol="0">
            <a:spAutoFit/>
          </a:bodyPr>
          <a:lstStyle/>
          <a:p>
            <a:pPr algn="ctr"/>
            <a:r>
              <a:rPr lang="en-US" sz="3600" b="1">
                <a:solidFill>
                  <a:srgbClr val="F8F8F6"/>
                </a:solidFill>
                <a:latin typeface="Georgia" panose="02040502050405020303" pitchFamily="18" charset="0"/>
              </a:rPr>
              <a:t>WHICH ONE WILL KEEP BURNING?</a:t>
            </a:r>
          </a:p>
        </p:txBody>
      </p:sp>
      <p:sp>
        <p:nvSpPr>
          <p:cNvPr id="6" name="TextBox 5">
            <a:extLst>
              <a:ext uri="{FF2B5EF4-FFF2-40B4-BE49-F238E27FC236}">
                <a16:creationId xmlns:a16="http://schemas.microsoft.com/office/drawing/2014/main" id="{CD42ACD7-544F-F0C3-EB56-E38C43F35589}"/>
              </a:ext>
            </a:extLst>
          </p:cNvPr>
          <p:cNvSpPr txBox="1"/>
          <p:nvPr/>
        </p:nvSpPr>
        <p:spPr>
          <a:xfrm>
            <a:off x="1016000" y="1168400"/>
            <a:ext cx="10159695" cy="323165"/>
          </a:xfrm>
          <a:prstGeom prst="rect">
            <a:avLst/>
          </a:prstGeom>
          <a:noFill/>
        </p:spPr>
        <p:txBody>
          <a:bodyPr vert="horz" wrap="square" rtlCol="0">
            <a:spAutoFit/>
          </a:bodyPr>
          <a:lstStyle/>
          <a:p>
            <a:pPr algn="ctr"/>
            <a:r>
              <a:rPr lang="en-US" sz="1500">
                <a:solidFill>
                  <a:srgbClr val="C8D0DA"/>
                </a:solidFill>
                <a:latin typeface="Calibri" panose="020F0502020204030204" pitchFamily="34" charset="0"/>
              </a:rPr>
              <a:t>Enclosed  ·  vs  ·  Airflow</a:t>
            </a:r>
          </a:p>
        </p:txBody>
      </p:sp>
    </p:spTree>
    <p:extLst>
      <p:ext uri="{BB962C8B-B14F-4D97-AF65-F5344CB8AC3E}">
        <p14:creationId xmlns:p14="http://schemas.microsoft.com/office/powerpoint/2010/main" val="2023632055"/>
      </p:ext>
    </p:extLst>
  </p:cSld>
  <p:clrMapOvr>
    <a:masterClrMapping/>
  </p:clrMapOvr>
  <p:transition spd="med">
    <p:cut/>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1CAA8F-D389-D23E-2F11-ED65A84D7E9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1695" cy="6858000"/>
          </a:xfrm>
          <a:prstGeom prst="rect">
            <a:avLst/>
          </a:prstGeom>
        </p:spPr>
      </p:pic>
      <p:sp>
        <p:nvSpPr>
          <p:cNvPr id="4" name="Rectangle 3">
            <a:extLst>
              <a:ext uri="{FF2B5EF4-FFF2-40B4-BE49-F238E27FC236}">
                <a16:creationId xmlns:a16="http://schemas.microsoft.com/office/drawing/2014/main" id="{581BA28C-98CC-E6E8-CF33-642517F73894}"/>
              </a:ext>
            </a:extLst>
          </p:cNvPr>
          <p:cNvSpPr/>
          <p:nvPr/>
        </p:nvSpPr>
        <p:spPr>
          <a:xfrm>
            <a:off x="0" y="0"/>
            <a:ext cx="12191695" cy="1016000"/>
          </a:xfrm>
          <a:prstGeom prst="rect">
            <a:avLst/>
          </a:prstGeom>
          <a:solidFill>
            <a:srgbClr val="070B14">
              <a:alpha val="5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3F2C39F-F0A2-6E2D-3F46-F8CA8BEA506F}"/>
              </a:ext>
            </a:extLst>
          </p:cNvPr>
          <p:cNvSpPr txBox="1"/>
          <p:nvPr/>
        </p:nvSpPr>
        <p:spPr>
          <a:xfrm>
            <a:off x="609600" y="279400"/>
            <a:ext cx="10972495" cy="523220"/>
          </a:xfrm>
          <a:prstGeom prst="rect">
            <a:avLst/>
          </a:prstGeom>
          <a:noFill/>
        </p:spPr>
        <p:txBody>
          <a:bodyPr vert="horz" wrap="square" rtlCol="0">
            <a:spAutoFit/>
          </a:bodyPr>
          <a:lstStyle/>
          <a:p>
            <a:pPr algn="ctr"/>
            <a:r>
              <a:rPr lang="en-US" sz="2800" b="1">
                <a:solidFill>
                  <a:srgbClr val="F8F8F6"/>
                </a:solidFill>
                <a:latin typeface="Georgia" panose="02040502050405020303" pitchFamily="18" charset="0"/>
              </a:rPr>
              <a:t>REMEMBER</a:t>
            </a:r>
          </a:p>
        </p:txBody>
      </p:sp>
      <p:sp>
        <p:nvSpPr>
          <p:cNvPr id="6" name="Rectangle 5">
            <a:extLst>
              <a:ext uri="{FF2B5EF4-FFF2-40B4-BE49-F238E27FC236}">
                <a16:creationId xmlns:a16="http://schemas.microsoft.com/office/drawing/2014/main" id="{CE765B97-4872-ED3F-8DCF-D8C0FBF93633}"/>
              </a:ext>
            </a:extLst>
          </p:cNvPr>
          <p:cNvSpPr/>
          <p:nvPr/>
        </p:nvSpPr>
        <p:spPr>
          <a:xfrm>
            <a:off x="0" y="4953000"/>
            <a:ext cx="12191695" cy="1905000"/>
          </a:xfrm>
          <a:prstGeom prst="rect">
            <a:avLst/>
          </a:prstGeom>
          <a:solidFill>
            <a:srgbClr val="070B14">
              <a:alpha val="6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6F0EA65-2996-35F7-B963-D6258CC4582E}"/>
              </a:ext>
            </a:extLst>
          </p:cNvPr>
          <p:cNvSpPr txBox="1"/>
          <p:nvPr/>
        </p:nvSpPr>
        <p:spPr>
          <a:xfrm>
            <a:off x="762000" y="5207000"/>
            <a:ext cx="10667695" cy="338554"/>
          </a:xfrm>
          <a:prstGeom prst="rect">
            <a:avLst/>
          </a:prstGeom>
          <a:noFill/>
        </p:spPr>
        <p:txBody>
          <a:bodyPr vert="horz" wrap="square" rtlCol="0">
            <a:spAutoFit/>
          </a:bodyPr>
          <a:lstStyle/>
          <a:p>
            <a:pPr algn="ctr"/>
            <a:r>
              <a:rPr lang="en-US" sz="1600" b="1">
                <a:solidFill>
                  <a:srgbClr val="F8F8F6"/>
                </a:solidFill>
                <a:latin typeface="Calibri" panose="020F0502020204030204" pitchFamily="34" charset="0"/>
              </a:rPr>
              <a:t>BURNING NEEDS OXYGEN</a:t>
            </a:r>
          </a:p>
        </p:txBody>
      </p:sp>
      <p:sp>
        <p:nvSpPr>
          <p:cNvPr id="8" name="TextBox 7">
            <a:extLst>
              <a:ext uri="{FF2B5EF4-FFF2-40B4-BE49-F238E27FC236}">
                <a16:creationId xmlns:a16="http://schemas.microsoft.com/office/drawing/2014/main" id="{1CB52E59-A518-6E3A-F43A-A7325078BF20}"/>
              </a:ext>
            </a:extLst>
          </p:cNvPr>
          <p:cNvSpPr txBox="1"/>
          <p:nvPr/>
        </p:nvSpPr>
        <p:spPr>
          <a:xfrm>
            <a:off x="762000" y="5651500"/>
            <a:ext cx="10667695" cy="338554"/>
          </a:xfrm>
          <a:prstGeom prst="rect">
            <a:avLst/>
          </a:prstGeom>
          <a:noFill/>
        </p:spPr>
        <p:txBody>
          <a:bodyPr vert="horz" wrap="square" rtlCol="0">
            <a:spAutoFit/>
          </a:bodyPr>
          <a:lstStyle/>
          <a:p>
            <a:pPr algn="ctr"/>
            <a:r>
              <a:rPr lang="en-US" sz="1600" b="1">
                <a:solidFill>
                  <a:srgbClr val="9EFFF0"/>
                </a:solidFill>
                <a:latin typeface="Calibri" panose="020F0502020204030204" pitchFamily="34" charset="0"/>
              </a:rPr>
              <a:t>FRESH AIR MUST BE SUPPLIED</a:t>
            </a:r>
          </a:p>
        </p:txBody>
      </p:sp>
      <p:sp>
        <p:nvSpPr>
          <p:cNvPr id="9" name="TextBox 8">
            <a:extLst>
              <a:ext uri="{FF2B5EF4-FFF2-40B4-BE49-F238E27FC236}">
                <a16:creationId xmlns:a16="http://schemas.microsoft.com/office/drawing/2014/main" id="{08B650D9-0499-E94E-71FD-3FDA80CD0FED}"/>
              </a:ext>
            </a:extLst>
          </p:cNvPr>
          <p:cNvSpPr txBox="1"/>
          <p:nvPr/>
        </p:nvSpPr>
        <p:spPr>
          <a:xfrm>
            <a:off x="762000" y="6096000"/>
            <a:ext cx="10667695" cy="338554"/>
          </a:xfrm>
          <a:prstGeom prst="rect">
            <a:avLst/>
          </a:prstGeom>
          <a:noFill/>
        </p:spPr>
        <p:txBody>
          <a:bodyPr vert="horz" wrap="square" rtlCol="0">
            <a:spAutoFit/>
          </a:bodyPr>
          <a:lstStyle/>
          <a:p>
            <a:pPr algn="ctr"/>
            <a:r>
              <a:rPr lang="en-US" sz="1600" b="1">
                <a:solidFill>
                  <a:srgbClr val="FF8A3D"/>
                </a:solidFill>
                <a:latin typeface="Calibri" panose="020F0502020204030204" pitchFamily="34" charset="0"/>
              </a:rPr>
              <a:t>WITHOUT RENEWAL, THE FLAME GOES OUT</a:t>
            </a:r>
          </a:p>
        </p:txBody>
      </p:sp>
    </p:spTree>
    <p:extLst>
      <p:ext uri="{BB962C8B-B14F-4D97-AF65-F5344CB8AC3E}">
        <p14:creationId xmlns:p14="http://schemas.microsoft.com/office/powerpoint/2010/main" val="753817950"/>
      </p:ext>
    </p:extLst>
  </p:cSld>
  <p:clrMapOvr>
    <a:masterClrMapping/>
  </p:clrMapOvr>
  <p:transition spd="med">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1195</Words>
  <Application>Microsoft Office PowerPoint</Application>
  <PresentationFormat>Custom</PresentationFormat>
  <Paragraphs>78</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Hussein Ahmed</dc:creator>
  <cp:lastModifiedBy>Hussein Ahmed</cp:lastModifiedBy>
  <cp:revision>1</cp:revision>
  <dcterms:created xsi:type="dcterms:W3CDTF">2026-09-13T23:19:32Z</dcterms:created>
  <dcterms:modified xsi:type="dcterms:W3CDTF">2026-09-13T23:19:32Z</dcterms:modified>
</cp:coreProperties>
</file>