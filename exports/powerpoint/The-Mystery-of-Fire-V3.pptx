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EC0D6E-C8A6-4A32-9C90-5B05FF762D4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DC7B9-E22B-43FB-B486-1A1D66AA0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019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TEACHER
Build excitement. Pause before the question.
SCIENCE
Central inquiry.
QUESTION
What might fire need?
ANSWER
Fuel, heat, air.
TIP
Keep energy high.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DC7B9-E22B-43FB-B486-1A1D66AA0E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425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TEACHER
Reveal airflow as a surprise.
SCIENCE
Air fills the space around us.
QUESTION
Can invisible air affect fire?
ANSWER
Yes!
TIP
Playful whoosh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DC7B9-E22B-43FB-B486-1A1D66AA0EF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354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TEACHER
Click through each step slowly.
SCIENCE
Combustion needs heat, fuel, oxygen.
QUESTION
What appears after combustion?
ANSWER
Heat and light.
TIP
Make it feel like building a recipe.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DC7B9-E22B-43FB-B486-1A1D66AA0EF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189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TEACHER
Cheerful lab energy.
SCIENCE
Teacher-only lighter.
QUESTION
Name each tool.
ANSWER
Jar controls air around flame.
TIP
Safety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DC7B9-E22B-43FB-B486-1A1D66AA0EF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23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TEACHER
Show jar placement.
SCIENCE
Openings control airflow.
QUESTION
What's around the flame?
ANSWER
Air.
TIP
Clear physical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DC7B9-E22B-43FB-B486-1A1D66AA0EF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045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TEACHER
Class vote — suspense!
SCIENCE
Predict before sealing.
QUESTION
Which is gradual?
ANSWER
B.
TIP
Don't confirm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DC7B9-E22B-43FB-B486-1A1D66AA0EF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41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TEACHER
Emphasize trapped air.
SCIENCE
Closed = no renewal.
QUESTION
What's trapped?
ANSWER
Limited air.
TIP
Bright lab feel.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DC7B9-E22B-43FB-B486-1A1D66AA0EF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642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TEACHER
Narrate the shrink.
SCIENCE
Cause and effect.
QUESTION
Instant or gradual?
ANSWER
Gradual then out.
TIP
Key observation.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DC7B9-E22B-43FB-B486-1A1D66AA0EF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6738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TEACHER
Sync clicks with story.
SCIENCE
Air used up → burning stops.
QUESTION
Why sealed fails?
ANSWER
No fresh air.
TIP
Teaching climax.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DC7B9-E22B-43FB-B486-1A1D66AA0EF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3440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TEACHER
Discovery energy!
SCIENCE
Opening allows inflow.
QUESTION
Does any hole guarantee forever?
ANSWER
No — renewal matters.
TIP
Exciting 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DC7B9-E22B-43FB-B486-1A1D66AA0EF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6468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TEACHER
Trace the loop.
SCIENCE
Bottom in, top out.
QUESTION
Warm air direction?
ANSWER
Up!
TIP
Most exciting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DC7B9-E22B-43FB-B486-1A1D66AA0EF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0071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TEACHER
Celebrate discovery!
SCIENCE
Continuous supply → continues burning.
QUESTION
What changed?
ANSWER
Air can renew.
TIP
Payoff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DC7B9-E22B-43FB-B486-1A1D66AA0EF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3813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TEACHER
Partner compare.
SCIENCE
Both openings help renewal.
QUESTION
Which lasts?
ANSWER
Open side.
TIP
Aha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DC7B9-E22B-43FB-B486-1A1D66AA0EF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272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TEACHER
Build the chain.
SCIENCE
Source-aligned definition.
QUESTION
Products?
ANSWER
Heat + light.
TIP
Culmination.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DC7B9-E22B-43FB-B486-1A1D66AA0EF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1068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TEACHER
Let it land.
SCIENCE
Air is essential for continued burning.
QUESTION
One sentence?
ANSWER
Fire needs renewed fresh air.
TIP
Memorable.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DC7B9-E22B-43FB-B486-1A1D66AA0EF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474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TEACHER
Connect to home.
SCIENCE
Designed airflow.
QUESTION
Why chimneys?
ANSWER
Warm out, fresh in.
TIP
Exciting transfer.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DC7B9-E22B-43FB-B486-1A1D66AA0EF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1546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TEACHER
Suspense then reveal.
SCIENCE
Airflow continues; sealed goes out.
QUESTION
Why?
ANSWER
Renewal.
TIP
Interactive feel.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DC7B9-E22B-43FB-B486-1A1D66AA0EF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8112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TEACHER
Read slowly together.
SCIENCE
Three takeaways.
QUESTION
What does a flame need?
ANSWER
Fuel, heat, continuous fresh air.
TIP
Strong 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DC7B9-E22B-43FB-B486-1A1D66AA0EF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892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35DC8-41FA-39ED-540C-0A22C4E3F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DC07E-4A02-D0BF-0FB2-41CD7C72CF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00540-17A1-6D29-2E34-F582BF3C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BFBC3-3FFF-480B-A540-356828B9922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D87A1-CCB1-8283-2278-F07284157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AF735-4150-7BB4-4EA4-BA43075D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42F9-62AF-40B0-BAD8-4077A31DC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762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456A1-B3AD-449C-9930-E726CA3F4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17588-00F8-5570-CEE0-E5C432A38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EB26D-1AD7-EECE-DD10-698CF759D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BFBC3-3FFF-480B-A540-356828B9922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86EB3-0BAB-FDD0-E2EE-BD28A81E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6EF33-69E6-F144-B824-D4942181B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42F9-62AF-40B0-BAD8-4077A31DC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74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6ECD1-DDEF-A74D-734D-AB957F232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5016A-528F-66F7-CF90-94F1EA1FF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25B04-7F93-13E5-9DA7-62C3E491F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BFBC3-3FFF-480B-A540-356828B9922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893EF-B9C4-3CA0-6ABA-CCD9DE5A5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3CD10-F47B-1CDB-4A55-0F39C0A6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42F9-62AF-40B0-BAD8-4077A31DC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562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38C6D-5001-A0A5-C0E4-3DC56C3E6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08054-B6FB-51D9-49D8-28CB0E09BD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1B4C05-6906-49B3-FE9A-482B840F7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7C408-CCEB-52D6-6C7F-2E3AA20F1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BFBC3-3FFF-480B-A540-356828B9922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C0ACB-E9E5-C4EF-BE1C-0E7FDADEB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25167-F666-9DA0-14CF-EB973BE85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42F9-62AF-40B0-BAD8-4077A31DC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421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CD2B4-01D1-3BE2-0422-02DF0700E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AEE00-4360-02E2-7D12-EE0FFC1A2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2B9A8-7645-AA43-C531-3C285B52C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48D2E3-C7F7-18ED-A1F4-D09DEB9B1A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379DF-2FDB-3935-4D6B-2326BBC270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20070F-DBB4-2628-5FC0-0685D43E8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BFBC3-3FFF-480B-A540-356828B9922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EF4F8A-58C1-9386-8A2C-C68FA3535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13050D-CC13-DBFC-1245-47555DA1A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42F9-62AF-40B0-BAD8-4077A31DC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226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5DD66-3CBE-74B5-C102-D649EFE55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C10D4D-F2B2-D0E5-42A2-AFC238523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BFBC3-3FFF-480B-A540-356828B9922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2D6CA6-3E65-BE90-E421-608D5A0A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F69766-E831-FB4E-11DC-AAD5A188D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42F9-62AF-40B0-BAD8-4077A31DC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209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CE1F86-B21E-FB92-CF0B-AE32EA37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BFBC3-3FFF-480B-A540-356828B9922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93E596-1501-DE19-3704-93E158B7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6D0336-C190-B6B0-A904-3356AC952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42F9-62AF-40B0-BAD8-4077A31DC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231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042E0-1FDB-DB9F-52A2-6BB67225D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B6944-B048-0CDA-00B9-B887463FC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95AE5F-3EA9-17F0-0841-6453B4EFD1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FD336-24C2-F11C-14E8-C8C69B11A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BFBC3-3FFF-480B-A540-356828B9922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756C9-5169-9ED7-F7F9-7AAB0EFF6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FBD8F-6710-5166-81F7-EA25BCED6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42F9-62AF-40B0-BAD8-4077A31DC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946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1D72A-7BED-71D0-5844-93232CD15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090F8F-5988-E4EE-5763-816ACFD457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B9374-4817-5BC9-937E-2A96BE4B4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40B74-A646-EB08-BF7E-49F599511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BFBC3-3FFF-480B-A540-356828B9922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CAF31-65F2-7047-388C-7A07272EB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4955DB-0955-3B8B-5A43-777B5B64A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42F9-62AF-40B0-BAD8-4077A31DC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714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D6D71-D976-FFB2-9103-722980708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04BFA-AD0D-AE97-21E5-4DAAC0EDA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7F152-4FFD-E9ED-EE2D-5EF915CA8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BFBC3-3FFF-480B-A540-356828B9922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16C61-BDD2-1AF8-027C-613FAFEEE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0FE54-8788-3DDC-1084-C6832315C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42F9-62AF-40B0-BAD8-4077A31DC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724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03D830-E84E-DF94-3DA0-E4F5DE49B9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164100-5347-3399-024B-B810D73EC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D0F95-1E65-361F-87C8-7CA02C9F6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BFBC3-3FFF-480B-A540-356828B9922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AB185-D490-1B48-FF67-B5E8894F1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7B8C2-7689-ACF9-B91A-A23A3F7EA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142F9-62AF-40B0-BAD8-4077A31DC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261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E11A65-5189-A388-74AC-7B6A1A633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FA87D-741C-78F1-3AE9-52BF27B1C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7289F-3426-2DFC-41B0-EBC8FDB2CC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BBFBC3-3FFF-480B-A540-356828B9922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0A412-0E57-2266-DB49-A90EFBFA59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88E27-20F8-04A4-F1AF-A34092E2E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1142F9-62AF-40B0-BAD8-4077A31DC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0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293EEA1-71C0-9BC6-6A37-33B6E1B82096}"/>
              </a:ext>
            </a:extLst>
          </p:cNvPr>
          <p:cNvSpPr/>
          <p:nvPr/>
        </p:nvSpPr>
        <p:spPr>
          <a:xfrm>
            <a:off x="0" y="0"/>
            <a:ext cx="12191695" cy="2794000"/>
          </a:xfrm>
          <a:prstGeom prst="roundRect">
            <a:avLst/>
          </a:prstGeom>
          <a:solidFill>
            <a:srgbClr val="E8F4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E6323D-C0AA-62F1-F515-F300B5AB89D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778000"/>
            <a:ext cx="7620000" cy="431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174BD3-A89A-35CA-B015-3507042F6A6F}"/>
              </a:ext>
            </a:extLst>
          </p:cNvPr>
          <p:cNvSpPr txBox="1"/>
          <p:nvPr/>
        </p:nvSpPr>
        <p:spPr>
          <a:xfrm>
            <a:off x="508000" y="381000"/>
            <a:ext cx="11175695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3600" b="1">
                <a:solidFill>
                  <a:srgbClr val="183050"/>
                </a:solidFill>
                <a:latin typeface="Calibri" panose="020F0502020204030204" pitchFamily="34" charset="0"/>
              </a:rPr>
              <a:t>THE MYSTERY OF FIRE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B47B6D-8DE6-67AB-E160-4DA5C0BC1F0C}"/>
              </a:ext>
            </a:extLst>
          </p:cNvPr>
          <p:cNvSpPr txBox="1"/>
          <p:nvPr/>
        </p:nvSpPr>
        <p:spPr>
          <a:xfrm>
            <a:off x="508000" y="6350000"/>
            <a:ext cx="11175695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b="1">
                <a:solidFill>
                  <a:srgbClr val="FF8C32"/>
                </a:solidFill>
                <a:latin typeface="Calibri" panose="020F0502020204030204" pitchFamily="34" charset="0"/>
              </a:rPr>
              <a:t>What does a flame need to keep burning?</a:t>
            </a:r>
          </a:p>
        </p:txBody>
      </p:sp>
    </p:spTree>
    <p:extLst>
      <p:ext uri="{BB962C8B-B14F-4D97-AF65-F5344CB8AC3E}">
        <p14:creationId xmlns:p14="http://schemas.microsoft.com/office/powerpoint/2010/main" val="654524969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5312CD-898D-D82E-E65A-5245EF721B4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70000"/>
            <a:ext cx="7112000" cy="4826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297631-BC1F-8CB1-F40D-468B6D77806E}"/>
              </a:ext>
            </a:extLst>
          </p:cNvPr>
          <p:cNvSpPr txBox="1"/>
          <p:nvPr/>
        </p:nvSpPr>
        <p:spPr>
          <a:xfrm>
            <a:off x="7874000" y="1778000"/>
            <a:ext cx="4064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>
                <a:solidFill>
                  <a:srgbClr val="183050"/>
                </a:solidFill>
                <a:latin typeface="Calibri" panose="020F0502020204030204" pitchFamily="34" charset="0"/>
              </a:rPr>
              <a:t>AIR IS EVERYWHERE!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14B1D6-2FA8-A027-9D1C-09F732B30B60}"/>
              </a:ext>
            </a:extLst>
          </p:cNvPr>
          <p:cNvSpPr txBox="1"/>
          <p:nvPr/>
        </p:nvSpPr>
        <p:spPr>
          <a:xfrm>
            <a:off x="7874000" y="3048000"/>
            <a:ext cx="406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5A6E8C"/>
                </a:solidFill>
                <a:latin typeface="Calibri" panose="020F0502020204030204" pitchFamily="34" charset="0"/>
              </a:rPr>
              <a:t>You can't see it — but it's there.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AB6913-EE0F-84F4-3C53-18514A0721CF}"/>
              </a:ext>
            </a:extLst>
          </p:cNvPr>
          <p:cNvSpPr txBox="1"/>
          <p:nvPr/>
        </p:nvSpPr>
        <p:spPr>
          <a:xfrm>
            <a:off x="7874000" y="4064000"/>
            <a:ext cx="3556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00B4DC"/>
                </a:solidFill>
                <a:latin typeface="Calibri" panose="020F0502020204030204" pitchFamily="34" charset="0"/>
              </a:rPr>
              <a:t>WHOOSH →</a:t>
            </a:r>
          </a:p>
        </p:txBody>
      </p:sp>
    </p:spTree>
    <p:extLst>
      <p:ext uri="{BB962C8B-B14F-4D97-AF65-F5344CB8AC3E}">
        <p14:creationId xmlns:p14="http://schemas.microsoft.com/office/powerpoint/2010/main" val="1063804083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DB0184-C793-5745-7EAA-F0293F21EEFB}"/>
              </a:ext>
            </a:extLst>
          </p:cNvPr>
          <p:cNvSpPr txBox="1"/>
          <p:nvPr/>
        </p:nvSpPr>
        <p:spPr>
          <a:xfrm>
            <a:off x="508000" y="254000"/>
            <a:ext cx="11175695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183050"/>
                </a:solidFill>
                <a:latin typeface="Calibri" panose="020F0502020204030204" pitchFamily="34" charset="0"/>
              </a:rPr>
              <a:t>WHAT IS BURNING?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809384B-398A-145C-9A30-8FACF0760E4E}"/>
              </a:ext>
            </a:extLst>
          </p:cNvPr>
          <p:cNvSpPr/>
          <p:nvPr/>
        </p:nvSpPr>
        <p:spPr>
          <a:xfrm>
            <a:off x="762000" y="1524000"/>
            <a:ext cx="2032000" cy="889000"/>
          </a:xfrm>
          <a:prstGeom prst="roundRect">
            <a:avLst/>
          </a:prstGeom>
          <a:solidFill>
            <a:srgbClr val="FFB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HEAT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200F934-A605-8BBF-1DDD-044115BE473F}"/>
              </a:ext>
            </a:extLst>
          </p:cNvPr>
          <p:cNvSpPr/>
          <p:nvPr/>
        </p:nvSpPr>
        <p:spPr>
          <a:xfrm>
            <a:off x="3302000" y="1524000"/>
            <a:ext cx="2032000" cy="889000"/>
          </a:xfrm>
          <a:prstGeom prst="roundRect">
            <a:avLst/>
          </a:prstGeom>
          <a:solidFill>
            <a:srgbClr val="D2B4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183050"/>
                </a:solidFill>
              </a:rPr>
              <a:t>FUEL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08BC19B-CB5F-9F37-BD1C-9B2B216616E3}"/>
              </a:ext>
            </a:extLst>
          </p:cNvPr>
          <p:cNvSpPr/>
          <p:nvPr/>
        </p:nvSpPr>
        <p:spPr>
          <a:xfrm>
            <a:off x="5842000" y="1524000"/>
            <a:ext cx="2032000" cy="889000"/>
          </a:xfrm>
          <a:prstGeom prst="roundRect">
            <a:avLst/>
          </a:prstGeom>
          <a:solidFill>
            <a:srgbClr val="00B4D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OXYGEN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34C745-AA70-0E7D-5FD5-A0EF67973C0A}"/>
              </a:ext>
            </a:extLst>
          </p:cNvPr>
          <p:cNvSpPr txBox="1"/>
          <p:nvPr/>
        </p:nvSpPr>
        <p:spPr>
          <a:xfrm>
            <a:off x="5461000" y="2540000"/>
            <a:ext cx="1016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>
                <a:solidFill>
                  <a:srgbClr val="183050"/>
                </a:solidFill>
                <a:latin typeface="Calibri" panose="020F0502020204030204" pitchFamily="34" charset="0"/>
              </a:rPr>
              <a:t>↓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929540F-AFFD-3113-8FB1-15088BD9D353}"/>
              </a:ext>
            </a:extLst>
          </p:cNvPr>
          <p:cNvSpPr/>
          <p:nvPr/>
        </p:nvSpPr>
        <p:spPr>
          <a:xfrm>
            <a:off x="3810000" y="3175000"/>
            <a:ext cx="3556000" cy="889000"/>
          </a:xfrm>
          <a:prstGeom prst="roundRect">
            <a:avLst/>
          </a:prstGeom>
          <a:solidFill>
            <a:srgbClr val="FF8C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COMBUSTION!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A9084C-C92F-F141-1BB3-CD5FEA2269C6}"/>
              </a:ext>
            </a:extLst>
          </p:cNvPr>
          <p:cNvSpPr txBox="1"/>
          <p:nvPr/>
        </p:nvSpPr>
        <p:spPr>
          <a:xfrm>
            <a:off x="5461000" y="4191000"/>
            <a:ext cx="1016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>
                <a:solidFill>
                  <a:srgbClr val="183050"/>
                </a:solidFill>
                <a:latin typeface="Calibri" panose="020F0502020204030204" pitchFamily="34" charset="0"/>
              </a:rPr>
              <a:t>↓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7303C8A-1371-4D99-E9A9-991B3573702B}"/>
              </a:ext>
            </a:extLst>
          </p:cNvPr>
          <p:cNvSpPr/>
          <p:nvPr/>
        </p:nvSpPr>
        <p:spPr>
          <a:xfrm>
            <a:off x="3302000" y="4826000"/>
            <a:ext cx="4572000" cy="889000"/>
          </a:xfrm>
          <a:prstGeom prst="roundRect">
            <a:avLst/>
          </a:prstGeom>
          <a:solidFill>
            <a:srgbClr val="2EB4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HEAT + LIGHT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ACC887-D858-0424-D947-A2B4126069F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270000"/>
            <a:ext cx="3556000" cy="48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866881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/>
      <p:bldP spid="7" grpId="0" animBg="1"/>
      <p:bldP spid="8" grpId="0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7B2284-57E3-AE21-5436-9BC0C0D4A6ED}"/>
              </a:ext>
            </a:extLst>
          </p:cNvPr>
          <p:cNvSpPr txBox="1"/>
          <p:nvPr/>
        </p:nvSpPr>
        <p:spPr>
          <a:xfrm>
            <a:off x="508000" y="254000"/>
            <a:ext cx="11175695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3400" b="1">
                <a:solidFill>
                  <a:srgbClr val="FF8C32"/>
                </a:solidFill>
                <a:latin typeface="Calibri" panose="020F0502020204030204" pitchFamily="34" charset="0"/>
              </a:rPr>
              <a:t>LET'S TEST IT!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298D64-278A-922D-41A0-1AAA34939E3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0" y="1143000"/>
            <a:ext cx="7112000" cy="431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E18EDF-EBFB-15DA-603C-EF387DD4386B}"/>
              </a:ext>
            </a:extLst>
          </p:cNvPr>
          <p:cNvSpPr txBox="1"/>
          <p:nvPr/>
        </p:nvSpPr>
        <p:spPr>
          <a:xfrm>
            <a:off x="508000" y="5715000"/>
            <a:ext cx="11175695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b="1">
                <a:solidFill>
                  <a:srgbClr val="00B4DC"/>
                </a:solidFill>
                <a:latin typeface="Calibri" panose="020F0502020204030204" pitchFamily="34" charset="0"/>
              </a:rPr>
              <a:t>SCIENCE LAB TIME!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452180-3129-2432-4F64-159B020E508E}"/>
              </a:ext>
            </a:extLst>
          </p:cNvPr>
          <p:cNvSpPr txBox="1"/>
          <p:nvPr/>
        </p:nvSpPr>
        <p:spPr>
          <a:xfrm>
            <a:off x="508000" y="6350000"/>
            <a:ext cx="11175695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400">
                <a:solidFill>
                  <a:srgbClr val="5A6E8C"/>
                </a:solidFill>
                <a:latin typeface="Calibri" panose="020F0502020204030204" pitchFamily="34" charset="0"/>
              </a:rPr>
              <a:t>Candle  ·  Jar  ·  Lid  ·  Clay  ·  Board  ·  Lighter (teacher only)</a:t>
            </a:r>
          </a:p>
        </p:txBody>
      </p:sp>
    </p:spTree>
    <p:extLst>
      <p:ext uri="{BB962C8B-B14F-4D97-AF65-F5344CB8AC3E}">
        <p14:creationId xmlns:p14="http://schemas.microsoft.com/office/powerpoint/2010/main" val="930964463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22163A-5A6C-4F40-B7B5-F2D742C93DE9}"/>
              </a:ext>
            </a:extLst>
          </p:cNvPr>
          <p:cNvSpPr txBox="1"/>
          <p:nvPr/>
        </p:nvSpPr>
        <p:spPr>
          <a:xfrm>
            <a:off x="508000" y="152400"/>
            <a:ext cx="11175695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>
                <a:solidFill>
                  <a:srgbClr val="183050"/>
                </a:solidFill>
                <a:latin typeface="Calibri" panose="020F0502020204030204" pitchFamily="34" charset="0"/>
              </a:rPr>
              <a:t>EXPERIMENT SETUP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C166E9-1E23-91B1-BFA0-F40FAC0A75E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762000"/>
            <a:ext cx="7874000" cy="4826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FBC84F5-1C0F-4B35-9FCD-A3A9F057344B}"/>
              </a:ext>
            </a:extLst>
          </p:cNvPr>
          <p:cNvSpPr/>
          <p:nvPr/>
        </p:nvSpPr>
        <p:spPr>
          <a:xfrm>
            <a:off x="8763000" y="1143000"/>
            <a:ext cx="2921000" cy="88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183050"/>
                </a:solidFill>
              </a:rPr>
              <a:t>1. Candle ready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EE24330-BA5C-11BB-9947-FCC4FFDE311B}"/>
              </a:ext>
            </a:extLst>
          </p:cNvPr>
          <p:cNvSpPr/>
          <p:nvPr/>
        </p:nvSpPr>
        <p:spPr>
          <a:xfrm>
            <a:off x="8763000" y="2286000"/>
            <a:ext cx="2921000" cy="88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0C4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0B4DC"/>
                </a:solidFill>
              </a:rPr>
              <a:t>2. Jar moves over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19C10F-C36A-4E6E-BE97-442EAF83B8E4}"/>
              </a:ext>
            </a:extLst>
          </p:cNvPr>
          <p:cNvSpPr/>
          <p:nvPr/>
        </p:nvSpPr>
        <p:spPr>
          <a:xfrm>
            <a:off x="8763000" y="3429000"/>
            <a:ext cx="2921000" cy="88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8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8C32"/>
                </a:solidFill>
              </a:rPr>
              <a:t>3. Air around flame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4C5026-2B3F-16BD-DC0B-DA19DBFF1194}"/>
              </a:ext>
            </a:extLst>
          </p:cNvPr>
          <p:cNvSpPr txBox="1"/>
          <p:nvPr/>
        </p:nvSpPr>
        <p:spPr>
          <a:xfrm>
            <a:off x="508000" y="5842000"/>
            <a:ext cx="11175695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00B4DC"/>
                </a:solidFill>
                <a:latin typeface="Calibri" panose="020F0502020204030204" pitchFamily="34" charset="0"/>
              </a:rPr>
              <a:t>Watch how the jar traps the air around the flame!</a:t>
            </a:r>
          </a:p>
        </p:txBody>
      </p:sp>
    </p:spTree>
    <p:extLst>
      <p:ext uri="{BB962C8B-B14F-4D97-AF65-F5344CB8AC3E}">
        <p14:creationId xmlns:p14="http://schemas.microsoft.com/office/powerpoint/2010/main" val="3535551616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7" grpId="0" animBg="1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F1FD94-D94F-5B7E-546B-17441A5ABE12}"/>
              </a:ext>
            </a:extLst>
          </p:cNvPr>
          <p:cNvSpPr txBox="1"/>
          <p:nvPr/>
        </p:nvSpPr>
        <p:spPr>
          <a:xfrm>
            <a:off x="508000" y="190500"/>
            <a:ext cx="11175695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3000" b="1">
                <a:solidFill>
                  <a:srgbClr val="183050"/>
                </a:solidFill>
                <a:latin typeface="Calibri" panose="020F0502020204030204" pitchFamily="34" charset="0"/>
              </a:rPr>
              <a:t>WHAT DO YOU THINK
WILL HAPPEN?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8E75E4-67B3-03DE-F1EE-CB84DBD78D7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397000"/>
            <a:ext cx="9144000" cy="3810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3117CF8-55AC-69F5-C029-21B1B157497D}"/>
              </a:ext>
            </a:extLst>
          </p:cNvPr>
          <p:cNvSpPr/>
          <p:nvPr/>
        </p:nvSpPr>
        <p:spPr>
          <a:xfrm>
            <a:off x="1016000" y="5588000"/>
            <a:ext cx="3175000" cy="698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8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8C32"/>
                </a:solidFill>
              </a:rPr>
              <a:t>A  STRONG FLAME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F665AF-0F88-6314-285F-821CE84F8C4A}"/>
              </a:ext>
            </a:extLst>
          </p:cNvPr>
          <p:cNvSpPr/>
          <p:nvPr/>
        </p:nvSpPr>
        <p:spPr>
          <a:xfrm>
            <a:off x="4572000" y="5588000"/>
            <a:ext cx="3175000" cy="698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B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B040"/>
                </a:solidFill>
              </a:rPr>
              <a:t>B  SMALLER FLAME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8C17CE0-8DB2-C40C-0CB1-9A5E8867661B}"/>
              </a:ext>
            </a:extLst>
          </p:cNvPr>
          <p:cNvSpPr/>
          <p:nvPr/>
        </p:nvSpPr>
        <p:spPr>
          <a:xfrm>
            <a:off x="8128000" y="5588000"/>
            <a:ext cx="3175000" cy="698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6E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5A6E8C"/>
                </a:solidFill>
              </a:rPr>
              <a:t>C  FLAME OUT</a:t>
            </a:r>
          </a:p>
        </p:txBody>
      </p:sp>
    </p:spTree>
    <p:extLst>
      <p:ext uri="{BB962C8B-B14F-4D97-AF65-F5344CB8AC3E}">
        <p14:creationId xmlns:p14="http://schemas.microsoft.com/office/powerpoint/2010/main" val="947075773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B640F3-424D-6A0B-D2C5-2492AB596561}"/>
              </a:ext>
            </a:extLst>
          </p:cNvPr>
          <p:cNvSpPr txBox="1"/>
          <p:nvPr/>
        </p:nvSpPr>
        <p:spPr>
          <a:xfrm>
            <a:off x="508000" y="228600"/>
            <a:ext cx="11175695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3000" b="1">
                <a:solidFill>
                  <a:srgbClr val="183050"/>
                </a:solidFill>
                <a:latin typeface="Calibri" panose="020F0502020204030204" pitchFamily="34" charset="0"/>
              </a:rPr>
              <a:t>THE CLOSED JAR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77F560-A7B8-C370-CFEA-44B45CCDAE4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016000"/>
            <a:ext cx="8255000" cy="4826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A3FBAD-2D53-8B6F-93EB-30D8C8EAE4B0}"/>
              </a:ext>
            </a:extLst>
          </p:cNvPr>
          <p:cNvSpPr/>
          <p:nvPr/>
        </p:nvSpPr>
        <p:spPr>
          <a:xfrm>
            <a:off x="9906000" y="2794000"/>
            <a:ext cx="1905000" cy="127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00B4DC"/>
                </a:solidFill>
              </a:rPr>
              <a:t>THE AIR
IS TRAPPED
INSIDE</a:t>
            </a:r>
          </a:p>
        </p:txBody>
      </p:sp>
    </p:spTree>
    <p:extLst>
      <p:ext uri="{BB962C8B-B14F-4D97-AF65-F5344CB8AC3E}">
        <p14:creationId xmlns:p14="http://schemas.microsoft.com/office/powerpoint/2010/main" val="3547058079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76CDC9-312E-D368-A8D5-E8283BD31EC0}"/>
              </a:ext>
            </a:extLst>
          </p:cNvPr>
          <p:cNvSpPr txBox="1"/>
          <p:nvPr/>
        </p:nvSpPr>
        <p:spPr>
          <a:xfrm>
            <a:off x="508000" y="190500"/>
            <a:ext cx="11175695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E65A3C"/>
                </a:solidFill>
                <a:latin typeface="Calibri" panose="020F0502020204030204" pitchFamily="34" charset="0"/>
              </a:rPr>
              <a:t>WATCH CAREFULLY!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593E00-D11F-B789-A51D-A09362D38D0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89000"/>
            <a:ext cx="10668000" cy="4572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A4B689-F49C-2D3B-495F-ACACBA00305D}"/>
              </a:ext>
            </a:extLst>
          </p:cNvPr>
          <p:cNvSpPr txBox="1"/>
          <p:nvPr/>
        </p:nvSpPr>
        <p:spPr>
          <a:xfrm>
            <a:off x="508000" y="5842000"/>
            <a:ext cx="11175695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b="1">
                <a:solidFill>
                  <a:srgbClr val="FF8C32"/>
                </a:solidFill>
                <a:latin typeface="Calibri" panose="020F0502020204030204" pitchFamily="34" charset="0"/>
              </a:rPr>
              <a:t>BIG FLAME  →  smaller  →  tiny  →  OUT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12FD0E-FA97-5DBD-96FE-92E3B7DA0E75}"/>
              </a:ext>
            </a:extLst>
          </p:cNvPr>
          <p:cNvSpPr txBox="1"/>
          <p:nvPr/>
        </p:nvSpPr>
        <p:spPr>
          <a:xfrm>
            <a:off x="508000" y="6413500"/>
            <a:ext cx="11175695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00B4DC"/>
                </a:solidFill>
                <a:latin typeface="Calibri" panose="020F0502020204030204" pitchFamily="34" charset="0"/>
              </a:rPr>
              <a:t>Oxygen particles decrease at the same time!</a:t>
            </a:r>
          </a:p>
        </p:txBody>
      </p:sp>
    </p:spTree>
    <p:extLst>
      <p:ext uri="{BB962C8B-B14F-4D97-AF65-F5344CB8AC3E}">
        <p14:creationId xmlns:p14="http://schemas.microsoft.com/office/powerpoint/2010/main" val="2407784985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8620D5-1F02-6420-A4BC-4EF1A2492A40}"/>
              </a:ext>
            </a:extLst>
          </p:cNvPr>
          <p:cNvSpPr txBox="1"/>
          <p:nvPr/>
        </p:nvSpPr>
        <p:spPr>
          <a:xfrm>
            <a:off x="508000" y="190500"/>
            <a:ext cx="11175695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>
                <a:solidFill>
                  <a:srgbClr val="183050"/>
                </a:solidFill>
                <a:latin typeface="Calibri" panose="020F0502020204030204" pitchFamily="34" charset="0"/>
              </a:rPr>
              <a:t>WHY DID THE FLAME GO OUT?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72FC24-DCAA-2ECD-9330-74F6ACF0EF5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016000"/>
            <a:ext cx="6604000" cy="4826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15BE04-27FA-8210-CC41-B88E3F846AB9}"/>
              </a:ext>
            </a:extLst>
          </p:cNvPr>
          <p:cNvSpPr/>
          <p:nvPr/>
        </p:nvSpPr>
        <p:spPr>
          <a:xfrm>
            <a:off x="7493000" y="1270000"/>
            <a:ext cx="4318000" cy="698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0B4DC"/>
                </a:solidFill>
              </a:rPr>
              <a:t>1. Oxygen near the flame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F48B896-3278-A0E0-1D0F-0CE301CCABB7}"/>
              </a:ext>
            </a:extLst>
          </p:cNvPr>
          <p:cNvSpPr/>
          <p:nvPr/>
        </p:nvSpPr>
        <p:spPr>
          <a:xfrm>
            <a:off x="7493000" y="2286000"/>
            <a:ext cx="4318000" cy="698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B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B040"/>
                </a:solidFill>
              </a:rPr>
              <a:t>2. Oxygen gets used up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2A31DF1-BA0E-FF02-96E5-D7711E0814E5}"/>
              </a:ext>
            </a:extLst>
          </p:cNvPr>
          <p:cNvSpPr/>
          <p:nvPr/>
        </p:nvSpPr>
        <p:spPr>
          <a:xfrm>
            <a:off x="7493000" y="3302000"/>
            <a:ext cx="4318000" cy="698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8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8C32"/>
                </a:solidFill>
              </a:rPr>
              <a:t>3. Flame gets weaker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D92FD62-89C5-1FB9-22EB-43F15BCC170A}"/>
              </a:ext>
            </a:extLst>
          </p:cNvPr>
          <p:cNvSpPr/>
          <p:nvPr/>
        </p:nvSpPr>
        <p:spPr>
          <a:xfrm>
            <a:off x="7493000" y="4318000"/>
            <a:ext cx="4318000" cy="698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E65A3C"/>
                </a:solidFill>
              </a:rPr>
              <a:t>4. Flame goes out</a:t>
            </a:r>
          </a:p>
        </p:txBody>
      </p:sp>
    </p:spTree>
    <p:extLst>
      <p:ext uri="{BB962C8B-B14F-4D97-AF65-F5344CB8AC3E}">
        <p14:creationId xmlns:p14="http://schemas.microsoft.com/office/powerpoint/2010/main" val="30230154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09927E-5BDE-F88F-4024-B87FB5C6DE15}"/>
              </a:ext>
            </a:extLst>
          </p:cNvPr>
          <p:cNvSpPr txBox="1"/>
          <p:nvPr/>
        </p:nvSpPr>
        <p:spPr>
          <a:xfrm>
            <a:off x="508000" y="152400"/>
            <a:ext cx="11175695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>
                <a:solidFill>
                  <a:srgbClr val="183050"/>
                </a:solidFill>
                <a:latin typeface="Calibri" panose="020F0502020204030204" pitchFamily="34" charset="0"/>
              </a:rPr>
              <a:t>WHAT IF FRESH AIR CAN ENTER?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A5BB8E-CE08-6152-5466-5852D4BAB8F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889000"/>
            <a:ext cx="7874000" cy="4572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B1290F5-9876-73DE-7AA7-6BA197CA46B5}"/>
              </a:ext>
            </a:extLst>
          </p:cNvPr>
          <p:cNvSpPr/>
          <p:nvPr/>
        </p:nvSpPr>
        <p:spPr>
          <a:xfrm>
            <a:off x="8763000" y="1270000"/>
            <a:ext cx="2921000" cy="88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00B4DC"/>
                </a:solidFill>
              </a:rPr>
              <a:t>Gap at the bottom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F5106B-532D-411B-E939-E8A7BA59BEEF}"/>
              </a:ext>
            </a:extLst>
          </p:cNvPr>
          <p:cNvSpPr/>
          <p:nvPr/>
        </p:nvSpPr>
        <p:spPr>
          <a:xfrm>
            <a:off x="8763000" y="2413000"/>
            <a:ext cx="2921000" cy="88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0C4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40C4E6"/>
                </a:solidFill>
              </a:rPr>
              <a:t>Fresh air can flow in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7851F1E-2D0A-5A70-24F3-44D4A7420CDE}"/>
              </a:ext>
            </a:extLst>
          </p:cNvPr>
          <p:cNvSpPr/>
          <p:nvPr/>
        </p:nvSpPr>
        <p:spPr>
          <a:xfrm>
            <a:off x="8763000" y="3556000"/>
            <a:ext cx="2921000" cy="1016000"/>
          </a:xfrm>
          <a:prstGeom prst="roundRect">
            <a:avLst/>
          </a:prstGeom>
          <a:solidFill>
            <a:srgbClr val="00B4D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</a:rPr>
              <a:t>WHOOSH!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CE8CC2-CEF2-50AF-83C9-79DC077D4886}"/>
              </a:ext>
            </a:extLst>
          </p:cNvPr>
          <p:cNvSpPr txBox="1"/>
          <p:nvPr/>
        </p:nvSpPr>
        <p:spPr>
          <a:xfrm>
            <a:off x="508000" y="5778500"/>
            <a:ext cx="11175695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183050"/>
                </a:solidFill>
                <a:latin typeface="Calibri" panose="020F0502020204030204" pitchFamily="34" charset="0"/>
              </a:rPr>
              <a:t>An opening lets new air reach the flame.</a:t>
            </a:r>
          </a:p>
        </p:txBody>
      </p:sp>
    </p:spTree>
    <p:extLst>
      <p:ext uri="{BB962C8B-B14F-4D97-AF65-F5344CB8AC3E}">
        <p14:creationId xmlns:p14="http://schemas.microsoft.com/office/powerpoint/2010/main" val="403418934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7" grpId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E08C47-65BB-878E-5A35-311908ED5DDB}"/>
              </a:ext>
            </a:extLst>
          </p:cNvPr>
          <p:cNvSpPr txBox="1"/>
          <p:nvPr/>
        </p:nvSpPr>
        <p:spPr>
          <a:xfrm>
            <a:off x="508000" y="152400"/>
            <a:ext cx="11175695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00B4DC"/>
                </a:solidFill>
                <a:latin typeface="Calibri" panose="020F0502020204030204" pitchFamily="34" charset="0"/>
              </a:rPr>
              <a:t>FRESH AIR ENTERS!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AFCD71-D8C1-D5BE-31AE-1B049821A34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889000"/>
            <a:ext cx="8890000" cy="4572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F498794-7609-0BC9-8113-094E3B8B0BD8}"/>
              </a:ext>
            </a:extLst>
          </p:cNvPr>
          <p:cNvSpPr/>
          <p:nvPr/>
        </p:nvSpPr>
        <p:spPr>
          <a:xfrm>
            <a:off x="10160000" y="1524000"/>
            <a:ext cx="1778000" cy="63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00B4DC"/>
                </a:solidFill>
              </a:rPr>
              <a:t>FRESH AIR ↓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D02A7E2-5C35-863E-368A-D1C1D12E91A6}"/>
              </a:ext>
            </a:extLst>
          </p:cNvPr>
          <p:cNvSpPr/>
          <p:nvPr/>
        </p:nvSpPr>
        <p:spPr>
          <a:xfrm>
            <a:off x="10160000" y="2540000"/>
            <a:ext cx="1778000" cy="63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0C4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40C4E6"/>
                </a:solidFill>
              </a:rPr>
              <a:t>OXYGEN →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AC0E2FA-DFAE-F2B4-8162-93BA1803F6E0}"/>
              </a:ext>
            </a:extLst>
          </p:cNvPr>
          <p:cNvSpPr/>
          <p:nvPr/>
        </p:nvSpPr>
        <p:spPr>
          <a:xfrm>
            <a:off x="10160000" y="3556000"/>
            <a:ext cx="1778000" cy="63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8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8C32"/>
                </a:solidFill>
              </a:rPr>
              <a:t>WARM AIR ↑</a:t>
            </a:r>
          </a:p>
        </p:txBody>
      </p:sp>
    </p:spTree>
    <p:extLst>
      <p:ext uri="{BB962C8B-B14F-4D97-AF65-F5344CB8AC3E}">
        <p14:creationId xmlns:p14="http://schemas.microsoft.com/office/powerpoint/2010/main" val="2371089330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EC46F1-8A21-8A56-FFC9-9C2E9258B3DE}"/>
              </a:ext>
            </a:extLst>
          </p:cNvPr>
          <p:cNvSpPr txBox="1"/>
          <p:nvPr/>
        </p:nvSpPr>
        <p:spPr>
          <a:xfrm>
            <a:off x="508000" y="152400"/>
            <a:ext cx="11175695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3400" b="1">
                <a:solidFill>
                  <a:srgbClr val="2EB46E"/>
                </a:solidFill>
                <a:latin typeface="Calibri" panose="020F0502020204030204" pitchFamily="34" charset="0"/>
              </a:rPr>
              <a:t>IT KEEPS BURNING!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ECF149-5656-A0AE-425B-7919C6405AF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825500"/>
            <a:ext cx="7874000" cy="4572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6B8D3B0-6E89-B7CB-162F-B8526141BB75}"/>
              </a:ext>
            </a:extLst>
          </p:cNvPr>
          <p:cNvSpPr/>
          <p:nvPr/>
        </p:nvSpPr>
        <p:spPr>
          <a:xfrm>
            <a:off x="8763000" y="1143000"/>
            <a:ext cx="2921000" cy="825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00B4DC"/>
                </a:solidFill>
              </a:rPr>
              <a:t>Fresh air enters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EDA9D89-58AB-A174-B6DA-46A1F831C8FF}"/>
              </a:ext>
            </a:extLst>
          </p:cNvPr>
          <p:cNvSpPr/>
          <p:nvPr/>
        </p:nvSpPr>
        <p:spPr>
          <a:xfrm>
            <a:off x="8763000" y="2222500"/>
            <a:ext cx="2921000" cy="825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0C4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40C4E6"/>
                </a:solidFill>
              </a:rPr>
              <a:t>Oxygen reaches flame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FC1F87A-2B9E-0E1A-F473-860A5DE7D285}"/>
              </a:ext>
            </a:extLst>
          </p:cNvPr>
          <p:cNvSpPr/>
          <p:nvPr/>
        </p:nvSpPr>
        <p:spPr>
          <a:xfrm>
            <a:off x="8763000" y="3302000"/>
            <a:ext cx="2921000" cy="825500"/>
          </a:xfrm>
          <a:prstGeom prst="roundRect">
            <a:avLst/>
          </a:prstGeom>
          <a:solidFill>
            <a:srgbClr val="2EB4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Flame grows strong!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5A8EE3-4D61-2ADF-3C21-DB169CDE09B3}"/>
              </a:ext>
            </a:extLst>
          </p:cNvPr>
          <p:cNvSpPr txBox="1"/>
          <p:nvPr/>
        </p:nvSpPr>
        <p:spPr>
          <a:xfrm>
            <a:off x="508000" y="5715000"/>
            <a:ext cx="11175695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b="1">
                <a:solidFill>
                  <a:srgbClr val="FF8C32"/>
                </a:solidFill>
                <a:latin typeface="Calibri" panose="020F0502020204030204" pitchFamily="34" charset="0"/>
              </a:rPr>
              <a:t>AHA! Fresh air keeps supplying oxygen.</a:t>
            </a:r>
          </a:p>
        </p:txBody>
      </p:sp>
    </p:spTree>
    <p:extLst>
      <p:ext uri="{BB962C8B-B14F-4D97-AF65-F5344CB8AC3E}">
        <p14:creationId xmlns:p14="http://schemas.microsoft.com/office/powerpoint/2010/main" val="1409821389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7" grpId="0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3B6BA0-17CA-BDAF-D55E-D0C1AD58A5C6}"/>
              </a:ext>
            </a:extLst>
          </p:cNvPr>
          <p:cNvSpPr txBox="1"/>
          <p:nvPr/>
        </p:nvSpPr>
        <p:spPr>
          <a:xfrm>
            <a:off x="508000" y="190500"/>
            <a:ext cx="11175695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183050"/>
                </a:solidFill>
                <a:latin typeface="Calibri" panose="020F0502020204030204" pitchFamily="34" charset="0"/>
              </a:rPr>
              <a:t>CLOSED  vs  OPEN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46F4BC-01D3-4252-099B-9FE707DAFEC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89000"/>
            <a:ext cx="10668000" cy="4572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88C389-F6E8-B0C5-2A3E-3D57E681ECB3}"/>
              </a:ext>
            </a:extLst>
          </p:cNvPr>
          <p:cNvSpPr txBox="1"/>
          <p:nvPr/>
        </p:nvSpPr>
        <p:spPr>
          <a:xfrm>
            <a:off x="1016000" y="5715000"/>
            <a:ext cx="4445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E65A3C"/>
                </a:solidFill>
                <a:latin typeface="Calibri" panose="020F0502020204030204" pitchFamily="34" charset="0"/>
              </a:rPr>
              <a:t>Air runs out → OUT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0F5D21-FE27-5CFF-0407-C15D4CC32E47}"/>
              </a:ext>
            </a:extLst>
          </p:cNvPr>
          <p:cNvSpPr txBox="1"/>
          <p:nvPr/>
        </p:nvSpPr>
        <p:spPr>
          <a:xfrm>
            <a:off x="6604000" y="5715000"/>
            <a:ext cx="4445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2EB46E"/>
                </a:solidFill>
                <a:latin typeface="Calibri" panose="020F0502020204030204" pitchFamily="34" charset="0"/>
              </a:rPr>
              <a:t>Air renewed → BURNS</a:t>
            </a:r>
          </a:p>
        </p:txBody>
      </p:sp>
    </p:spTree>
    <p:extLst>
      <p:ext uri="{BB962C8B-B14F-4D97-AF65-F5344CB8AC3E}">
        <p14:creationId xmlns:p14="http://schemas.microsoft.com/office/powerpoint/2010/main" val="1230191538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847858-B003-C723-550A-E6392B9C442E}"/>
              </a:ext>
            </a:extLst>
          </p:cNvPr>
          <p:cNvSpPr txBox="1"/>
          <p:nvPr/>
        </p:nvSpPr>
        <p:spPr>
          <a:xfrm>
            <a:off x="508000" y="190500"/>
            <a:ext cx="11175695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>
                <a:solidFill>
                  <a:srgbClr val="183050"/>
                </a:solidFill>
                <a:latin typeface="Calibri" panose="020F0502020204030204" pitchFamily="34" charset="0"/>
              </a:rPr>
              <a:t>WHY DOES THIS HAPPEN?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A7D2CD1-172A-50E0-6EC7-0752C01D598E}"/>
              </a:ext>
            </a:extLst>
          </p:cNvPr>
          <p:cNvSpPr/>
          <p:nvPr/>
        </p:nvSpPr>
        <p:spPr>
          <a:xfrm>
            <a:off x="762000" y="1143000"/>
            <a:ext cx="1778000" cy="762000"/>
          </a:xfrm>
          <a:prstGeom prst="roundRect">
            <a:avLst/>
          </a:prstGeom>
          <a:solidFill>
            <a:srgbClr val="FFB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HEAT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AE12F9-E0F7-9E79-0A78-07D716099CD0}"/>
              </a:ext>
            </a:extLst>
          </p:cNvPr>
          <p:cNvSpPr/>
          <p:nvPr/>
        </p:nvSpPr>
        <p:spPr>
          <a:xfrm>
            <a:off x="2794000" y="1143000"/>
            <a:ext cx="1778000" cy="762000"/>
          </a:xfrm>
          <a:prstGeom prst="roundRect">
            <a:avLst/>
          </a:prstGeom>
          <a:solidFill>
            <a:srgbClr val="D2B4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183050"/>
                </a:solidFill>
              </a:rPr>
              <a:t>FUEL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BCF7038-7106-14D7-27F4-36ED5FD0BA20}"/>
              </a:ext>
            </a:extLst>
          </p:cNvPr>
          <p:cNvSpPr/>
          <p:nvPr/>
        </p:nvSpPr>
        <p:spPr>
          <a:xfrm>
            <a:off x="4826000" y="1143000"/>
            <a:ext cx="1778000" cy="762000"/>
          </a:xfrm>
          <a:prstGeom prst="roundRect">
            <a:avLst/>
          </a:prstGeom>
          <a:solidFill>
            <a:srgbClr val="00B4D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OXYGEN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ED118E-7B2E-8BA3-3920-10D3FE3EAA98}"/>
              </a:ext>
            </a:extLst>
          </p:cNvPr>
          <p:cNvSpPr txBox="1"/>
          <p:nvPr/>
        </p:nvSpPr>
        <p:spPr>
          <a:xfrm>
            <a:off x="2222500" y="1270000"/>
            <a:ext cx="508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400" b="1">
                <a:solidFill>
                  <a:srgbClr val="183050"/>
                </a:solidFill>
                <a:latin typeface="Calibri" panose="020F0502020204030204" pitchFamily="34" charset="0"/>
              </a:rPr>
              <a:t>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7C0C5C-1807-4A04-DAE2-2710855EB542}"/>
              </a:ext>
            </a:extLst>
          </p:cNvPr>
          <p:cNvSpPr txBox="1"/>
          <p:nvPr/>
        </p:nvSpPr>
        <p:spPr>
          <a:xfrm>
            <a:off x="4254500" y="1270000"/>
            <a:ext cx="508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400" b="1">
                <a:solidFill>
                  <a:srgbClr val="183050"/>
                </a:solidFill>
                <a:latin typeface="Calibri" panose="020F0502020204030204" pitchFamily="34" charset="0"/>
              </a:rPr>
              <a:t>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B65FC8-0D49-178D-A789-A76A33161F59}"/>
              </a:ext>
            </a:extLst>
          </p:cNvPr>
          <p:cNvSpPr txBox="1"/>
          <p:nvPr/>
        </p:nvSpPr>
        <p:spPr>
          <a:xfrm>
            <a:off x="2540000" y="2159000"/>
            <a:ext cx="381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b="1">
                <a:solidFill>
                  <a:srgbClr val="FF8C32"/>
                </a:solidFill>
                <a:latin typeface="Calibri" panose="020F0502020204030204" pitchFamily="34" charset="0"/>
              </a:rPr>
              <a:t>↓  COMBUSTION  ↓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ECE35D-4E35-3710-9108-25D85FCDFBBB}"/>
              </a:ext>
            </a:extLst>
          </p:cNvPr>
          <p:cNvSpPr/>
          <p:nvPr/>
        </p:nvSpPr>
        <p:spPr>
          <a:xfrm>
            <a:off x="2286000" y="2921000"/>
            <a:ext cx="4318000" cy="762000"/>
          </a:xfrm>
          <a:prstGeom prst="roundRect">
            <a:avLst/>
          </a:prstGeom>
          <a:solidFill>
            <a:srgbClr val="2EB4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HEAT + LIGHT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0DE660-92F8-53C7-00EB-575A0FA35F7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016000"/>
            <a:ext cx="4826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456512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/>
      <p:bldP spid="7" grpId="0"/>
      <p:bldP spid="8" grpId="0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F7A95B-07C4-2C6D-9177-B329AE1ECE0E}"/>
              </a:ext>
            </a:extLst>
          </p:cNvPr>
          <p:cNvSpPr txBox="1"/>
          <p:nvPr/>
        </p:nvSpPr>
        <p:spPr>
          <a:xfrm>
            <a:off x="508000" y="152400"/>
            <a:ext cx="11175695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3000" b="1">
                <a:solidFill>
                  <a:srgbClr val="183050"/>
                </a:solidFill>
                <a:latin typeface="Calibri" panose="020F0502020204030204" pitchFamily="34" charset="0"/>
              </a:rPr>
              <a:t>AIR HELPS FIRE KEEP BURNING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3799D3-C2A4-53C2-55CF-9B5C64CED6C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825500"/>
            <a:ext cx="8890000" cy="4826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1422224-06B8-4B5A-992D-86A15209E458}"/>
              </a:ext>
            </a:extLst>
          </p:cNvPr>
          <p:cNvSpPr/>
          <p:nvPr/>
        </p:nvSpPr>
        <p:spPr>
          <a:xfrm>
            <a:off x="9652000" y="2032000"/>
            <a:ext cx="2159000" cy="203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0B4DC"/>
                </a:solidFill>
              </a:rPr>
              <a:t>FRESH AIR
KEEPS THE
FLAME
ALIVE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2C5D50-27ED-9986-E3D2-C7A92AA8B4DC}"/>
              </a:ext>
            </a:extLst>
          </p:cNvPr>
          <p:cNvSpPr txBox="1"/>
          <p:nvPr/>
        </p:nvSpPr>
        <p:spPr>
          <a:xfrm>
            <a:off x="508000" y="5905500"/>
            <a:ext cx="11175695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183050"/>
                </a:solidFill>
                <a:latin typeface="Calibri" panose="020F0502020204030204" pitchFamily="34" charset="0"/>
              </a:rPr>
              <a:t>Fresh air surrounds the flame — and keeps it burning.</a:t>
            </a:r>
          </a:p>
        </p:txBody>
      </p:sp>
    </p:spTree>
    <p:extLst>
      <p:ext uri="{BB962C8B-B14F-4D97-AF65-F5344CB8AC3E}">
        <p14:creationId xmlns:p14="http://schemas.microsoft.com/office/powerpoint/2010/main" val="1649740785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952D63-EDA0-E166-8AE3-504F3D233C2A}"/>
              </a:ext>
            </a:extLst>
          </p:cNvPr>
          <p:cNvSpPr txBox="1"/>
          <p:nvPr/>
        </p:nvSpPr>
        <p:spPr>
          <a:xfrm>
            <a:off x="508000" y="190500"/>
            <a:ext cx="11175695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8C32"/>
                </a:solidFill>
                <a:latin typeface="Calibri" panose="020F0502020204030204" pitchFamily="34" charset="0"/>
              </a:rPr>
              <a:t>REAL LIFE!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4F4589-8B03-9517-D798-2864F017A00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89000"/>
            <a:ext cx="10668000" cy="4572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1096BD-8442-0A68-82A1-371175962A5C}"/>
              </a:ext>
            </a:extLst>
          </p:cNvPr>
          <p:cNvSpPr txBox="1"/>
          <p:nvPr/>
        </p:nvSpPr>
        <p:spPr>
          <a:xfrm>
            <a:off x="508000" y="5842000"/>
            <a:ext cx="11175695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00B4DC"/>
                </a:solidFill>
                <a:latin typeface="Calibri" panose="020F0502020204030204" pitchFamily="34" charset="0"/>
              </a:rPr>
              <a:t>Candle · Fireplace · Stove · Engine — each needs air!</a:t>
            </a:r>
          </a:p>
        </p:txBody>
      </p:sp>
    </p:spTree>
    <p:extLst>
      <p:ext uri="{BB962C8B-B14F-4D97-AF65-F5344CB8AC3E}">
        <p14:creationId xmlns:p14="http://schemas.microsoft.com/office/powerpoint/2010/main" val="2702668511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A7FFD0-2DA2-CA7A-2658-C883157FC66F}"/>
              </a:ext>
            </a:extLst>
          </p:cNvPr>
          <p:cNvSpPr txBox="1"/>
          <p:nvPr/>
        </p:nvSpPr>
        <p:spPr>
          <a:xfrm>
            <a:off x="508000" y="127000"/>
            <a:ext cx="11175695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800" b="1">
                <a:solidFill>
                  <a:srgbClr val="E65A3C"/>
                </a:solidFill>
                <a:latin typeface="Calibri" panose="020F0502020204030204" pitchFamily="34" charset="0"/>
              </a:rPr>
              <a:t>SCIENCE CHALLENGE!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1C4F6D-45A6-CD70-CAD8-315D2E300DC6}"/>
              </a:ext>
            </a:extLst>
          </p:cNvPr>
          <p:cNvSpPr txBox="1"/>
          <p:nvPr/>
        </p:nvSpPr>
        <p:spPr>
          <a:xfrm>
            <a:off x="508000" y="609600"/>
            <a:ext cx="11175695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183050"/>
                </a:solidFill>
                <a:latin typeface="Calibri" panose="020F0502020204030204" pitchFamily="34" charset="0"/>
              </a:rPr>
              <a:t>WHICH ONE WILL KEEP BURNING?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D5EAC2-4676-A693-9467-8C2ECC89244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8128000" cy="4064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A1C6B9-05F7-0479-E9AC-B9E007BA1672}"/>
              </a:ext>
            </a:extLst>
          </p:cNvPr>
          <p:cNvSpPr/>
          <p:nvPr/>
        </p:nvSpPr>
        <p:spPr>
          <a:xfrm>
            <a:off x="8890000" y="1397000"/>
            <a:ext cx="2794000" cy="88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E65A3C"/>
                </a:solidFill>
              </a:rPr>
              <a:t>A  Closed jar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9CE2F8D-09AB-5E81-AB3E-489A03995A3E}"/>
              </a:ext>
            </a:extLst>
          </p:cNvPr>
          <p:cNvSpPr/>
          <p:nvPr/>
        </p:nvSpPr>
        <p:spPr>
          <a:xfrm>
            <a:off x="8890000" y="2540000"/>
            <a:ext cx="2794000" cy="88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B4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2EB46E"/>
                </a:solidFill>
              </a:rPr>
              <a:t>B  Open air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A33A4A-0B32-0A71-DF6C-BD72FBA1B6B2}"/>
              </a:ext>
            </a:extLst>
          </p:cNvPr>
          <p:cNvSpPr/>
          <p:nvPr/>
        </p:nvSpPr>
        <p:spPr>
          <a:xfrm>
            <a:off x="1524000" y="5461000"/>
            <a:ext cx="9144000" cy="698500"/>
          </a:xfrm>
          <a:prstGeom prst="roundRect">
            <a:avLst/>
          </a:prstGeom>
          <a:solidFill>
            <a:srgbClr val="2EB4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</a:rPr>
              <a:t>Answer: B — fresh air keeps coming in!</a:t>
            </a:r>
          </a:p>
        </p:txBody>
      </p:sp>
    </p:spTree>
    <p:extLst>
      <p:ext uri="{BB962C8B-B14F-4D97-AF65-F5344CB8AC3E}">
        <p14:creationId xmlns:p14="http://schemas.microsoft.com/office/powerpoint/2010/main" val="96560891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 animBg="1"/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7A13C3-769D-A1D0-C52C-DECFCB8B6488}"/>
              </a:ext>
            </a:extLst>
          </p:cNvPr>
          <p:cNvSpPr txBox="1"/>
          <p:nvPr/>
        </p:nvSpPr>
        <p:spPr>
          <a:xfrm>
            <a:off x="508000" y="190500"/>
            <a:ext cx="11175695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183050"/>
                </a:solidFill>
                <a:latin typeface="Calibri" panose="020F0502020204030204" pitchFamily="34" charset="0"/>
              </a:rPr>
              <a:t>REMEMBER!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F03BC6-2E80-6133-5BE4-D0C13843612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0" y="889000"/>
            <a:ext cx="5080000" cy="3175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A3B85F6-86C6-406A-8AEE-9C557A3D90CC}"/>
              </a:ext>
            </a:extLst>
          </p:cNvPr>
          <p:cNvSpPr/>
          <p:nvPr/>
        </p:nvSpPr>
        <p:spPr>
          <a:xfrm>
            <a:off x="1524000" y="4445000"/>
            <a:ext cx="9144000" cy="571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183050"/>
                </a:solidFill>
              </a:rPr>
              <a:t>1.  BURNING NEEDS OXYGEN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06E88A9-DCB6-311A-8496-A78E8F9BDAFF}"/>
              </a:ext>
            </a:extLst>
          </p:cNvPr>
          <p:cNvSpPr/>
          <p:nvPr/>
        </p:nvSpPr>
        <p:spPr>
          <a:xfrm>
            <a:off x="1524000" y="5207000"/>
            <a:ext cx="9144000" cy="571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B4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2EB46E"/>
                </a:solidFill>
              </a:rPr>
              <a:t>2.  FRESH AIR MUST BE SUPPLIED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1EF5D9F-5B77-B153-C168-77A765403128}"/>
              </a:ext>
            </a:extLst>
          </p:cNvPr>
          <p:cNvSpPr/>
          <p:nvPr/>
        </p:nvSpPr>
        <p:spPr>
          <a:xfrm>
            <a:off x="1524000" y="5969000"/>
            <a:ext cx="9144000" cy="571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8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8C32"/>
                </a:solidFill>
              </a:rPr>
              <a:t>3.  WITHOUT FRESH AIR, THE FLAME GOES OUT</a:t>
            </a:r>
          </a:p>
        </p:txBody>
      </p:sp>
    </p:spTree>
    <p:extLst>
      <p:ext uri="{BB962C8B-B14F-4D97-AF65-F5344CB8AC3E}">
        <p14:creationId xmlns:p14="http://schemas.microsoft.com/office/powerpoint/2010/main" val="52294147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1063</Words>
  <Application>Microsoft Office PowerPoint</Application>
  <PresentationFormat>Custom</PresentationFormat>
  <Paragraphs>110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Hussein Ahmed</dc:creator>
  <cp:lastModifiedBy>Hussein Ahmed</cp:lastModifiedBy>
  <cp:revision>1</cp:revision>
  <dcterms:created xsi:type="dcterms:W3CDTF">2026-09-13T23:48:29Z</dcterms:created>
  <dcterms:modified xsi:type="dcterms:W3CDTF">2026-09-13T23:48:29Z</dcterms:modified>
</cp:coreProperties>
</file>