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0CE123-AD7A-4DB6-B4AC-551327449FBD}" type="datetimeFigureOut">
              <a:rPr lang="en-US" smtClean="0"/>
              <a:t>9/14/2026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B67EAF-D87C-4F73-85DC-2015B174CC27}" type="slidenum">
              <a:rPr lang="en-US" smtClean="0"/>
              <a:t>‹#›</a:t>
            </a:fld>
            <a:endParaRPr lang="en-US"/>
          </a:p>
        </p:txBody>
      </p:sp>
    </p:spTree>
    <p:extLst>
      <p:ext uri="{BB962C8B-B14F-4D97-AF65-F5344CB8AC3E}">
        <p14:creationId xmlns:p14="http://schemas.microsoft.com/office/powerpoint/2010/main" val="1809985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Welcome students. Dim lights if possible. Show the title without answering yet.
SCIENTIFIC POINT
Tonight we investigate the role of air in burning.
SUGGESTED STUDENT QUESTION
What do you already think a flame needs to keep burning?
EXPECTED ANSWER
Fuel, heat, air/oxygen — accept all ideas for now.
TEACHING TIP
Protect the mystery; do not reveal conclusions yet.</a:t>
            </a:r>
          </a:p>
        </p:txBody>
      </p:sp>
      <p:sp>
        <p:nvSpPr>
          <p:cNvPr id="4" name="Slide Number Placeholder 3"/>
          <p:cNvSpPr>
            <a:spLocks noGrp="1"/>
          </p:cNvSpPr>
          <p:nvPr>
            <p:ph type="sldNum" sz="quarter" idx="5"/>
          </p:nvPr>
        </p:nvSpPr>
        <p:spPr/>
        <p:txBody>
          <a:bodyPr/>
          <a:lstStyle/>
          <a:p>
            <a:fld id="{99B67EAF-D87C-4F73-85DC-2015B174CC27}" type="slidenum">
              <a:rPr lang="en-US" smtClean="0"/>
              <a:t>1</a:t>
            </a:fld>
            <a:endParaRPr lang="en-US"/>
          </a:p>
        </p:txBody>
      </p:sp>
    </p:spTree>
    <p:extLst>
      <p:ext uri="{BB962C8B-B14F-4D97-AF65-F5344CB8AC3E}">
        <p14:creationId xmlns:p14="http://schemas.microsoft.com/office/powerpoint/2010/main" val="3063845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Let students watch the flame image quietly.
SCIENTIFIC POINT
Air is invisible but may still matter for fire.
SUGGESTED STUDENT QUESTION
Can something we cannot see still affect fire?
EXPECTED ANSWER
Yes — air can affect fire even though we cannot see it.
TEACHING TIP
Invite predictions without judging correctness.</a:t>
            </a:r>
          </a:p>
        </p:txBody>
      </p:sp>
      <p:sp>
        <p:nvSpPr>
          <p:cNvPr id="4" name="Slide Number Placeholder 3"/>
          <p:cNvSpPr>
            <a:spLocks noGrp="1"/>
          </p:cNvSpPr>
          <p:nvPr>
            <p:ph type="sldNum" sz="quarter" idx="5"/>
          </p:nvPr>
        </p:nvSpPr>
        <p:spPr/>
        <p:txBody>
          <a:bodyPr/>
          <a:lstStyle/>
          <a:p>
            <a:fld id="{99B67EAF-D87C-4F73-85DC-2015B174CC27}" type="slidenum">
              <a:rPr lang="en-US" smtClean="0"/>
              <a:t>2</a:t>
            </a:fld>
            <a:endParaRPr lang="en-US"/>
          </a:p>
        </p:txBody>
      </p:sp>
    </p:spTree>
    <p:extLst>
      <p:ext uri="{BB962C8B-B14F-4D97-AF65-F5344CB8AC3E}">
        <p14:creationId xmlns:p14="http://schemas.microsoft.com/office/powerpoint/2010/main" val="1435837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Reveal the right image after discussion.
SCIENTIFIC POINT
Cyan particles visualize air — not literal colored air.
SUGGESTED STUDENT QUESTION
If air is invisible, how can we study it?
EXPECTED ANSWER
By observing effects when air is trapped or renewed.
TEACHING TIP
Emphasize visualization vs. literal colored air.</a:t>
            </a:r>
          </a:p>
        </p:txBody>
      </p:sp>
      <p:sp>
        <p:nvSpPr>
          <p:cNvPr id="4" name="Slide Number Placeholder 3"/>
          <p:cNvSpPr>
            <a:spLocks noGrp="1"/>
          </p:cNvSpPr>
          <p:nvPr>
            <p:ph type="sldNum" sz="quarter" idx="5"/>
          </p:nvPr>
        </p:nvSpPr>
        <p:spPr/>
        <p:txBody>
          <a:bodyPr/>
          <a:lstStyle/>
          <a:p>
            <a:fld id="{99B67EAF-D87C-4F73-85DC-2015B174CC27}" type="slidenum">
              <a:rPr lang="en-US" smtClean="0"/>
              <a:t>3</a:t>
            </a:fld>
            <a:endParaRPr lang="en-US"/>
          </a:p>
        </p:txBody>
      </p:sp>
    </p:spTree>
    <p:extLst>
      <p:ext uri="{BB962C8B-B14F-4D97-AF65-F5344CB8AC3E}">
        <p14:creationId xmlns:p14="http://schemas.microsoft.com/office/powerpoint/2010/main" val="146372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Transition from wonder to investigation.
SCIENTIFIC POINT
Experiments help us test ideas about invisible air.
SUGGESTED STUDENT QUESTION
What equipment might help us trap or release air around a flame?
EXPECTED ANSWER
Jar, lid, clay, candle — ways to control openings.
TEACHING TIP
Preview safety: teacher lights the candle.</a:t>
            </a:r>
          </a:p>
        </p:txBody>
      </p:sp>
      <p:sp>
        <p:nvSpPr>
          <p:cNvPr id="4" name="Slide Number Placeholder 3"/>
          <p:cNvSpPr>
            <a:spLocks noGrp="1"/>
          </p:cNvSpPr>
          <p:nvPr>
            <p:ph type="sldNum" sz="quarter" idx="5"/>
          </p:nvPr>
        </p:nvSpPr>
        <p:spPr/>
        <p:txBody>
          <a:bodyPr/>
          <a:lstStyle/>
          <a:p>
            <a:fld id="{99B67EAF-D87C-4F73-85DC-2015B174CC27}" type="slidenum">
              <a:rPr lang="en-US" smtClean="0"/>
              <a:t>4</a:t>
            </a:fld>
            <a:endParaRPr lang="en-US"/>
          </a:p>
        </p:txBody>
      </p:sp>
    </p:spTree>
    <p:extLst>
      <p:ext uri="{BB962C8B-B14F-4D97-AF65-F5344CB8AC3E}">
        <p14:creationId xmlns:p14="http://schemas.microsoft.com/office/powerpoint/2010/main" val="1269429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Assemble materials visibly. Assign observation roles.
SCIENTIFIC POINT
The jar is bottomless so we can control top and bottom openings.
SUGGESTED STUDENT QUESTION
Why must only the teacher use the lighter?
EXPECTED ANSWER
Fire safety — adults handle ignition.
TEACHING TIP
Keep clay ready for making bottom gaps later.</a:t>
            </a:r>
          </a:p>
        </p:txBody>
      </p:sp>
      <p:sp>
        <p:nvSpPr>
          <p:cNvPr id="4" name="Slide Number Placeholder 3"/>
          <p:cNvSpPr>
            <a:spLocks noGrp="1"/>
          </p:cNvSpPr>
          <p:nvPr>
            <p:ph type="sldNum" sz="quarter" idx="5"/>
          </p:nvPr>
        </p:nvSpPr>
        <p:spPr/>
        <p:txBody>
          <a:bodyPr/>
          <a:lstStyle/>
          <a:p>
            <a:fld id="{99B67EAF-D87C-4F73-85DC-2015B174CC27}" type="slidenum">
              <a:rPr lang="en-US" smtClean="0"/>
              <a:t>5</a:t>
            </a:fld>
            <a:endParaRPr lang="en-US"/>
          </a:p>
        </p:txBody>
      </p:sp>
    </p:spTree>
    <p:extLst>
      <p:ext uri="{BB962C8B-B14F-4D97-AF65-F5344CB8AC3E}">
        <p14:creationId xmlns:p14="http://schemas.microsoft.com/office/powerpoint/2010/main" val="3942523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Poll the room. Record votes without revealing the answer.
SCIENTIFIC POINT
We are about to trap air with the candle.
SUGGESTED STUDENT QUESTION
Which choice matches a gradual change?
EXPECTED ANSWER
B suggests gradual weakening.
TEACHING TIP
Do not confirm yet — discovery comes after observation.</a:t>
            </a:r>
          </a:p>
        </p:txBody>
      </p:sp>
      <p:sp>
        <p:nvSpPr>
          <p:cNvPr id="4" name="Slide Number Placeholder 3"/>
          <p:cNvSpPr>
            <a:spLocks noGrp="1"/>
          </p:cNvSpPr>
          <p:nvPr>
            <p:ph type="sldNum" sz="quarter" idx="5"/>
          </p:nvPr>
        </p:nvSpPr>
        <p:spPr/>
        <p:txBody>
          <a:bodyPr/>
          <a:lstStyle/>
          <a:p>
            <a:fld id="{99B67EAF-D87C-4F73-85DC-2015B174CC27}" type="slidenum">
              <a:rPr lang="en-US" smtClean="0"/>
              <a:t>6</a:t>
            </a:fld>
            <a:endParaRPr lang="en-US"/>
          </a:p>
        </p:txBody>
      </p:sp>
    </p:spTree>
    <p:extLst>
      <p:ext uri="{BB962C8B-B14F-4D97-AF65-F5344CB8AC3E}">
        <p14:creationId xmlns:p14="http://schemas.microsoft.com/office/powerpoint/2010/main" val="1043865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Demonstrate sealing carefully.
SCIENTIFIC POINT
In a closed jar, air cannot be renewed from outside.
SUGGESTED STUDENT QUESTION
What do you notice first — the flame or the air?
EXPECTED ANSWER
Flame may look normal at first, then weaken.
TEACHING TIP
Ask students to time how long until change is visible.</a:t>
            </a:r>
          </a:p>
        </p:txBody>
      </p:sp>
      <p:sp>
        <p:nvSpPr>
          <p:cNvPr id="4" name="Slide Number Placeholder 3"/>
          <p:cNvSpPr>
            <a:spLocks noGrp="1"/>
          </p:cNvSpPr>
          <p:nvPr>
            <p:ph type="sldNum" sz="quarter" idx="5"/>
          </p:nvPr>
        </p:nvSpPr>
        <p:spPr/>
        <p:txBody>
          <a:bodyPr/>
          <a:lstStyle/>
          <a:p>
            <a:fld id="{99B67EAF-D87C-4F73-85DC-2015B174CC27}" type="slidenum">
              <a:rPr lang="en-US" smtClean="0"/>
              <a:t>7</a:t>
            </a:fld>
            <a:endParaRPr lang="en-US"/>
          </a:p>
        </p:txBody>
      </p:sp>
    </p:spTree>
    <p:extLst>
      <p:ext uri="{BB962C8B-B14F-4D97-AF65-F5344CB8AC3E}">
        <p14:creationId xmlns:p14="http://schemas.microsoft.com/office/powerpoint/2010/main" val="1046832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Walk the strip: full → used → almost gone → out.
SCIENTIFIC POINT
Available air decreases; flame strength falls with it.
SUGGESTED STUDENT QUESTION
Did the flame die instantly or gradually?
EXPECTED ANSWER
Gradually — then it went out.
TEACHING TIP
Connect back to student predictions kindly.</a:t>
            </a:r>
          </a:p>
        </p:txBody>
      </p:sp>
      <p:sp>
        <p:nvSpPr>
          <p:cNvPr id="4" name="Slide Number Placeholder 3"/>
          <p:cNvSpPr>
            <a:spLocks noGrp="1"/>
          </p:cNvSpPr>
          <p:nvPr>
            <p:ph type="sldNum" sz="quarter" idx="5"/>
          </p:nvPr>
        </p:nvSpPr>
        <p:spPr/>
        <p:txBody>
          <a:bodyPr/>
          <a:lstStyle/>
          <a:p>
            <a:fld id="{99B67EAF-D87C-4F73-85DC-2015B174CC27}" type="slidenum">
              <a:rPr lang="en-US" smtClean="0"/>
              <a:t>8</a:t>
            </a:fld>
            <a:endParaRPr lang="en-US"/>
          </a:p>
        </p:txBody>
      </p:sp>
    </p:spTree>
    <p:extLst>
      <p:ext uri="{BB962C8B-B14F-4D97-AF65-F5344CB8AC3E}">
        <p14:creationId xmlns:p14="http://schemas.microsoft.com/office/powerpoint/2010/main" val="12649082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Walk left to right through the four frames.
SCIENTIFIC POINT
Closed system → air used up → burning stops.
SUGGESTED STUDENT QUESTION
Why can't the candle keep burning forever under the lid?
EXPECTED ANSWER
Fresh air cannot enter to replace used air.
TEACHING TIP
Avoid claiming exact oxygen percentages for Grade 6.</a:t>
            </a:r>
          </a:p>
        </p:txBody>
      </p:sp>
      <p:sp>
        <p:nvSpPr>
          <p:cNvPr id="4" name="Slide Number Placeholder 3"/>
          <p:cNvSpPr>
            <a:spLocks noGrp="1"/>
          </p:cNvSpPr>
          <p:nvPr>
            <p:ph type="sldNum" sz="quarter" idx="5"/>
          </p:nvPr>
        </p:nvSpPr>
        <p:spPr/>
        <p:txBody>
          <a:bodyPr/>
          <a:lstStyle/>
          <a:p>
            <a:fld id="{99B67EAF-D87C-4F73-85DC-2015B174CC27}" type="slidenum">
              <a:rPr lang="en-US" smtClean="0"/>
              <a:t>9</a:t>
            </a:fld>
            <a:endParaRPr lang="en-US"/>
          </a:p>
        </p:txBody>
      </p:sp>
    </p:spTree>
    <p:extLst>
      <p:ext uri="{BB962C8B-B14F-4D97-AF65-F5344CB8AC3E}">
        <p14:creationId xmlns:p14="http://schemas.microsoft.com/office/powerpoint/2010/main" val="3237109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Trace cyan arrows in, warm arrows out.
SCIENTIFIC POINT
Continuous renewal of air allows burning to continue.
SUGGESTED STUDENT QUESTION
Which way does warm air tend to move?
EXPECTED ANSWER
Upward — out the top opening.
TEACHING TIP
Introduce renew / replace gently.</a:t>
            </a:r>
          </a:p>
        </p:txBody>
      </p:sp>
      <p:sp>
        <p:nvSpPr>
          <p:cNvPr id="4" name="Slide Number Placeholder 3"/>
          <p:cNvSpPr>
            <a:spLocks noGrp="1"/>
          </p:cNvSpPr>
          <p:nvPr>
            <p:ph type="sldNum" sz="quarter" idx="5"/>
          </p:nvPr>
        </p:nvSpPr>
        <p:spPr/>
        <p:txBody>
          <a:bodyPr/>
          <a:lstStyle/>
          <a:p>
            <a:fld id="{99B67EAF-D87C-4F73-85DC-2015B174CC27}" type="slidenum">
              <a:rPr lang="en-US" smtClean="0"/>
              <a:t>10</a:t>
            </a:fld>
            <a:endParaRPr lang="en-US"/>
          </a:p>
        </p:txBody>
      </p:sp>
    </p:spTree>
    <p:extLst>
      <p:ext uri="{BB962C8B-B14F-4D97-AF65-F5344CB8AC3E}">
        <p14:creationId xmlns:p14="http://schemas.microsoft.com/office/powerpoint/2010/main" val="1133299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Prevent the misconception that one opening is enough.
SCIENTIFIC POINT
Without a top exit, air cannot circulate well enough.
SUGGESTED STUDENT QUESTION
Why might it last a little longer than fully sealed?
EXPECTED ANSWER
A little air can enter — but not enough continuous renewal.
TEACHING TIP
Keep language Grade 6: renew, openings, continue burning.</a:t>
            </a:r>
          </a:p>
        </p:txBody>
      </p:sp>
      <p:sp>
        <p:nvSpPr>
          <p:cNvPr id="4" name="Slide Number Placeholder 3"/>
          <p:cNvSpPr>
            <a:spLocks noGrp="1"/>
          </p:cNvSpPr>
          <p:nvPr>
            <p:ph type="sldNum" sz="quarter" idx="5"/>
          </p:nvPr>
        </p:nvSpPr>
        <p:spPr/>
        <p:txBody>
          <a:bodyPr/>
          <a:lstStyle/>
          <a:p>
            <a:fld id="{99B67EAF-D87C-4F73-85DC-2015B174CC27}" type="slidenum">
              <a:rPr lang="en-US" smtClean="0"/>
              <a:t>11</a:t>
            </a:fld>
            <a:endParaRPr lang="en-US"/>
          </a:p>
        </p:txBody>
      </p:sp>
    </p:spTree>
    <p:extLst>
      <p:ext uri="{BB962C8B-B14F-4D97-AF65-F5344CB8AC3E}">
        <p14:creationId xmlns:p14="http://schemas.microsoft.com/office/powerpoint/2010/main" val="6016371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Have students explain the difference to a partner.
SCIENTIFIC POINT
Both top and bottom openings matter for renewal in this setup.
SUGGESTED STUDENT QUESTION
Which side would you use to keep a flame alive longer?
EXPECTED ANSWER
The airflow side.
TEACHING TIP
Celebrate the aha — this is the core discovery.</a:t>
            </a:r>
          </a:p>
        </p:txBody>
      </p:sp>
      <p:sp>
        <p:nvSpPr>
          <p:cNvPr id="4" name="Slide Number Placeholder 3"/>
          <p:cNvSpPr>
            <a:spLocks noGrp="1"/>
          </p:cNvSpPr>
          <p:nvPr>
            <p:ph type="sldNum" sz="quarter" idx="5"/>
          </p:nvPr>
        </p:nvSpPr>
        <p:spPr/>
        <p:txBody>
          <a:bodyPr/>
          <a:lstStyle/>
          <a:p>
            <a:fld id="{99B67EAF-D87C-4F73-85DC-2015B174CC27}" type="slidenum">
              <a:rPr lang="en-US" smtClean="0"/>
              <a:t>12</a:t>
            </a:fld>
            <a:endParaRPr lang="en-US"/>
          </a:p>
        </p:txBody>
      </p:sp>
    </p:spTree>
    <p:extLst>
      <p:ext uri="{BB962C8B-B14F-4D97-AF65-F5344CB8AC3E}">
        <p14:creationId xmlns:p14="http://schemas.microsoft.com/office/powerpoint/2010/main" val="15990172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Ungroup/edit these shapes live with students if useful.
SCIENTIFIC POINT
Visual model of chimney-style airflow.
SUGGESTED STUDENT QUESTION
What do the cyan arrows mean? The warm arrow?
EXPECTED ANSWER
Fresh air entering; warm air leaving.
TEACHING TIP
Keep editable — do not flatten this slide to a picture.</a:t>
            </a:r>
          </a:p>
        </p:txBody>
      </p:sp>
      <p:sp>
        <p:nvSpPr>
          <p:cNvPr id="4" name="Slide Number Placeholder 3"/>
          <p:cNvSpPr>
            <a:spLocks noGrp="1"/>
          </p:cNvSpPr>
          <p:nvPr>
            <p:ph type="sldNum" sz="quarter" idx="5"/>
          </p:nvPr>
        </p:nvSpPr>
        <p:spPr/>
        <p:txBody>
          <a:bodyPr/>
          <a:lstStyle/>
          <a:p>
            <a:fld id="{99B67EAF-D87C-4F73-85DC-2015B174CC27}" type="slidenum">
              <a:rPr lang="en-US" smtClean="0"/>
              <a:t>13</a:t>
            </a:fld>
            <a:endParaRPr lang="en-US"/>
          </a:p>
        </p:txBody>
      </p:sp>
    </p:spTree>
    <p:extLst>
      <p:ext uri="{BB962C8B-B14F-4D97-AF65-F5344CB8AC3E}">
        <p14:creationId xmlns:p14="http://schemas.microsoft.com/office/powerpoint/2010/main" val="24326763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Read the definition aloud together.
SCIENTIFIC POINT
Combustion: oxygen + substance → heat + light.
SUGGESTED STUDENT QUESTION
Is oxygen the only thing needed?
EXPECTED ANSWER
No — also a substance (fuel) and conditions for the reaction (heat).
TEACHING TIP
Keep the official definition wording close to the source lesson.</a:t>
            </a:r>
          </a:p>
        </p:txBody>
      </p:sp>
      <p:sp>
        <p:nvSpPr>
          <p:cNvPr id="4" name="Slide Number Placeholder 3"/>
          <p:cNvSpPr>
            <a:spLocks noGrp="1"/>
          </p:cNvSpPr>
          <p:nvPr>
            <p:ph type="sldNum" sz="quarter" idx="5"/>
          </p:nvPr>
        </p:nvSpPr>
        <p:spPr/>
        <p:txBody>
          <a:bodyPr/>
          <a:lstStyle/>
          <a:p>
            <a:fld id="{99B67EAF-D87C-4F73-85DC-2015B174CC27}" type="slidenum">
              <a:rPr lang="en-US" smtClean="0"/>
              <a:t>14</a:t>
            </a:fld>
            <a:endParaRPr lang="en-US"/>
          </a:p>
        </p:txBody>
      </p:sp>
    </p:spTree>
    <p:extLst>
      <p:ext uri="{BB962C8B-B14F-4D97-AF65-F5344CB8AC3E}">
        <p14:creationId xmlns:p14="http://schemas.microsoft.com/office/powerpoint/2010/main" val="17574656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Ask for local examples (campfire, kitchen, heater).
SCIENTIFIC POINT
Real systems are designed so air can renew.
SUGGESTED STUDENT QUESTION
Why do fireplaces have chimneys?
EXPECTED ANSWER
To let warm air out so fresh air can enter.
TEACHING TIP
Keep connections concrete for Grade 6.</a:t>
            </a:r>
          </a:p>
        </p:txBody>
      </p:sp>
      <p:sp>
        <p:nvSpPr>
          <p:cNvPr id="4" name="Slide Number Placeholder 3"/>
          <p:cNvSpPr>
            <a:spLocks noGrp="1"/>
          </p:cNvSpPr>
          <p:nvPr>
            <p:ph type="sldNum" sz="quarter" idx="5"/>
          </p:nvPr>
        </p:nvSpPr>
        <p:spPr/>
        <p:txBody>
          <a:bodyPr/>
          <a:lstStyle/>
          <a:p>
            <a:fld id="{99B67EAF-D87C-4F73-85DC-2015B174CC27}" type="slidenum">
              <a:rPr lang="en-US" smtClean="0"/>
              <a:t>15</a:t>
            </a:fld>
            <a:endParaRPr lang="en-US"/>
          </a:p>
        </p:txBody>
      </p:sp>
    </p:spTree>
    <p:extLst>
      <p:ext uri="{BB962C8B-B14F-4D97-AF65-F5344CB8AC3E}">
        <p14:creationId xmlns:p14="http://schemas.microsoft.com/office/powerpoint/2010/main" val="8969286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Hide/reveal the answer when presenting live.
SCIENTIFIC POINT
Correct: both openings (bottom + top).
SUGGESTED STUDENT QUESTION
Why isn't B good enough?
EXPECTED ANSWER
Bottom-only gap still cannot fully renew air with the lid on.
TEACHING TIP
Use as formative check before conclusions.</a:t>
            </a:r>
          </a:p>
        </p:txBody>
      </p:sp>
      <p:sp>
        <p:nvSpPr>
          <p:cNvPr id="4" name="Slide Number Placeholder 3"/>
          <p:cNvSpPr>
            <a:spLocks noGrp="1"/>
          </p:cNvSpPr>
          <p:nvPr>
            <p:ph type="sldNum" sz="quarter" idx="5"/>
          </p:nvPr>
        </p:nvSpPr>
        <p:spPr/>
        <p:txBody>
          <a:bodyPr/>
          <a:lstStyle/>
          <a:p>
            <a:fld id="{99B67EAF-D87C-4F73-85DC-2015B174CC27}" type="slidenum">
              <a:rPr lang="en-US" smtClean="0"/>
              <a:t>16</a:t>
            </a:fld>
            <a:endParaRPr lang="en-US"/>
          </a:p>
        </p:txBody>
      </p:sp>
    </p:spTree>
    <p:extLst>
      <p:ext uri="{BB962C8B-B14F-4D97-AF65-F5344CB8AC3E}">
        <p14:creationId xmlns:p14="http://schemas.microsoft.com/office/powerpoint/2010/main" val="26965978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Read each conclusion slowly. Ask students to restate in their own words.
SCIENTIFIC POINT
These three statements are the authoritative lesson takeaways.
SUGGESTED STUDENT QUESTION
Can you give one sentence that captures all three?
EXPECTED ANSWER
Burning needs fresh air renewed; without renewal, fire stops.
TEACHING TIP
Post these on the board for the rest of the week.</a:t>
            </a:r>
          </a:p>
        </p:txBody>
      </p:sp>
      <p:sp>
        <p:nvSpPr>
          <p:cNvPr id="4" name="Slide Number Placeholder 3"/>
          <p:cNvSpPr>
            <a:spLocks noGrp="1"/>
          </p:cNvSpPr>
          <p:nvPr>
            <p:ph type="sldNum" sz="quarter" idx="5"/>
          </p:nvPr>
        </p:nvSpPr>
        <p:spPr/>
        <p:txBody>
          <a:bodyPr/>
          <a:lstStyle/>
          <a:p>
            <a:fld id="{99B67EAF-D87C-4F73-85DC-2015B174CC27}" type="slidenum">
              <a:rPr lang="en-US" smtClean="0"/>
              <a:t>17</a:t>
            </a:fld>
            <a:endParaRPr lang="en-US"/>
          </a:p>
        </p:txBody>
      </p:sp>
    </p:spTree>
    <p:extLst>
      <p:ext uri="{BB962C8B-B14F-4D97-AF65-F5344CB8AC3E}">
        <p14:creationId xmlns:p14="http://schemas.microsoft.com/office/powerpoint/2010/main" val="5004919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Close by returning to the opening question — now students can answer it.
SCIENTIFIC POINT
Air (with oxygen) is required for continued burning; renewal matters.
SUGGESTED STUDENT QUESTION
What does a flame need to keep burning?
EXPECTED ANSWER
Fuel, heat, and a continuous supply of fresh air (oxygen).
TEACHING TIP
Optional: replay the HTML experience as a station rotation.</a:t>
            </a:r>
          </a:p>
        </p:txBody>
      </p:sp>
      <p:sp>
        <p:nvSpPr>
          <p:cNvPr id="4" name="Slide Number Placeholder 3"/>
          <p:cNvSpPr>
            <a:spLocks noGrp="1"/>
          </p:cNvSpPr>
          <p:nvPr>
            <p:ph type="sldNum" sz="quarter" idx="5"/>
          </p:nvPr>
        </p:nvSpPr>
        <p:spPr/>
        <p:txBody>
          <a:bodyPr/>
          <a:lstStyle/>
          <a:p>
            <a:fld id="{99B67EAF-D87C-4F73-85DC-2015B174CC27}" type="slidenum">
              <a:rPr lang="en-US" smtClean="0"/>
              <a:t>18</a:t>
            </a:fld>
            <a:endParaRPr lang="en-US"/>
          </a:p>
        </p:txBody>
      </p:sp>
    </p:spTree>
    <p:extLst>
      <p:ext uri="{BB962C8B-B14F-4D97-AF65-F5344CB8AC3E}">
        <p14:creationId xmlns:p14="http://schemas.microsoft.com/office/powerpoint/2010/main" val="793725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2C1E7-5CDB-DBB8-DE09-6A5C8E9439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15FBB9-0BF4-25FE-C1F3-BA3EF7B8A7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4E334D-3CDF-9F27-7D69-B913791EDADA}"/>
              </a:ext>
            </a:extLst>
          </p:cNvPr>
          <p:cNvSpPr>
            <a:spLocks noGrp="1"/>
          </p:cNvSpPr>
          <p:nvPr>
            <p:ph type="dt" sz="half" idx="10"/>
          </p:nvPr>
        </p:nvSpPr>
        <p:spPr/>
        <p:txBody>
          <a:bodyPr/>
          <a:lstStyle/>
          <a:p>
            <a:fld id="{F40BA8E7-8F3B-4C48-AFC2-D3089D08CB0A}" type="datetimeFigureOut">
              <a:rPr lang="en-US" smtClean="0"/>
              <a:t>9/14/2026</a:t>
            </a:fld>
            <a:endParaRPr lang="en-US"/>
          </a:p>
        </p:txBody>
      </p:sp>
      <p:sp>
        <p:nvSpPr>
          <p:cNvPr id="5" name="Footer Placeholder 4">
            <a:extLst>
              <a:ext uri="{FF2B5EF4-FFF2-40B4-BE49-F238E27FC236}">
                <a16:creationId xmlns:a16="http://schemas.microsoft.com/office/drawing/2014/main" id="{268DEB6B-C662-11A5-4A68-67EAC241F0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1AE6E3-2B3A-7991-8809-9303831297DF}"/>
              </a:ext>
            </a:extLst>
          </p:cNvPr>
          <p:cNvSpPr>
            <a:spLocks noGrp="1"/>
          </p:cNvSpPr>
          <p:nvPr>
            <p:ph type="sldNum" sz="quarter" idx="12"/>
          </p:nvPr>
        </p:nvSpPr>
        <p:spPr/>
        <p:txBody>
          <a:bodyPr/>
          <a:lstStyle/>
          <a:p>
            <a:fld id="{70905D0F-E0A4-40BF-BB40-AFFE1040AE3A}" type="slidenum">
              <a:rPr lang="en-US" smtClean="0"/>
              <a:t>‹#›</a:t>
            </a:fld>
            <a:endParaRPr lang="en-US"/>
          </a:p>
        </p:txBody>
      </p:sp>
    </p:spTree>
    <p:extLst>
      <p:ext uri="{BB962C8B-B14F-4D97-AF65-F5344CB8AC3E}">
        <p14:creationId xmlns:p14="http://schemas.microsoft.com/office/powerpoint/2010/main" val="3607095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22E9B-EC03-9933-7DF6-1BD53F8E52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C042B0-6B2A-D71B-2EFC-682AD71804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FD04FE-352C-F915-76F8-6FDA06363FF4}"/>
              </a:ext>
            </a:extLst>
          </p:cNvPr>
          <p:cNvSpPr>
            <a:spLocks noGrp="1"/>
          </p:cNvSpPr>
          <p:nvPr>
            <p:ph type="dt" sz="half" idx="10"/>
          </p:nvPr>
        </p:nvSpPr>
        <p:spPr/>
        <p:txBody>
          <a:bodyPr/>
          <a:lstStyle/>
          <a:p>
            <a:fld id="{F40BA8E7-8F3B-4C48-AFC2-D3089D08CB0A}" type="datetimeFigureOut">
              <a:rPr lang="en-US" smtClean="0"/>
              <a:t>9/14/2026</a:t>
            </a:fld>
            <a:endParaRPr lang="en-US"/>
          </a:p>
        </p:txBody>
      </p:sp>
      <p:sp>
        <p:nvSpPr>
          <p:cNvPr id="5" name="Footer Placeholder 4">
            <a:extLst>
              <a:ext uri="{FF2B5EF4-FFF2-40B4-BE49-F238E27FC236}">
                <a16:creationId xmlns:a16="http://schemas.microsoft.com/office/drawing/2014/main" id="{7645DF6E-EFA5-196A-46CD-B61A27F152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A10799-25C6-B718-C00C-A609F450276C}"/>
              </a:ext>
            </a:extLst>
          </p:cNvPr>
          <p:cNvSpPr>
            <a:spLocks noGrp="1"/>
          </p:cNvSpPr>
          <p:nvPr>
            <p:ph type="sldNum" sz="quarter" idx="12"/>
          </p:nvPr>
        </p:nvSpPr>
        <p:spPr/>
        <p:txBody>
          <a:bodyPr/>
          <a:lstStyle/>
          <a:p>
            <a:fld id="{70905D0F-E0A4-40BF-BB40-AFFE1040AE3A}" type="slidenum">
              <a:rPr lang="en-US" smtClean="0"/>
              <a:t>‹#›</a:t>
            </a:fld>
            <a:endParaRPr lang="en-US"/>
          </a:p>
        </p:txBody>
      </p:sp>
    </p:spTree>
    <p:extLst>
      <p:ext uri="{BB962C8B-B14F-4D97-AF65-F5344CB8AC3E}">
        <p14:creationId xmlns:p14="http://schemas.microsoft.com/office/powerpoint/2010/main" val="1372038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ECDDB-4E89-981E-6412-13356D0F15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184C7D-2E33-E207-670F-A4DAD527E8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DA80EB-42B2-E4B7-C22B-FA1D888C0508}"/>
              </a:ext>
            </a:extLst>
          </p:cNvPr>
          <p:cNvSpPr>
            <a:spLocks noGrp="1"/>
          </p:cNvSpPr>
          <p:nvPr>
            <p:ph type="dt" sz="half" idx="10"/>
          </p:nvPr>
        </p:nvSpPr>
        <p:spPr/>
        <p:txBody>
          <a:bodyPr/>
          <a:lstStyle/>
          <a:p>
            <a:fld id="{F40BA8E7-8F3B-4C48-AFC2-D3089D08CB0A}" type="datetimeFigureOut">
              <a:rPr lang="en-US" smtClean="0"/>
              <a:t>9/14/2026</a:t>
            </a:fld>
            <a:endParaRPr lang="en-US"/>
          </a:p>
        </p:txBody>
      </p:sp>
      <p:sp>
        <p:nvSpPr>
          <p:cNvPr id="5" name="Footer Placeholder 4">
            <a:extLst>
              <a:ext uri="{FF2B5EF4-FFF2-40B4-BE49-F238E27FC236}">
                <a16:creationId xmlns:a16="http://schemas.microsoft.com/office/drawing/2014/main" id="{FA4F2CBA-B2F4-DCA6-6A74-4362D868B0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AF65EA-8ECE-CAC6-ED45-9945A77A9010}"/>
              </a:ext>
            </a:extLst>
          </p:cNvPr>
          <p:cNvSpPr>
            <a:spLocks noGrp="1"/>
          </p:cNvSpPr>
          <p:nvPr>
            <p:ph type="sldNum" sz="quarter" idx="12"/>
          </p:nvPr>
        </p:nvSpPr>
        <p:spPr/>
        <p:txBody>
          <a:bodyPr/>
          <a:lstStyle/>
          <a:p>
            <a:fld id="{70905D0F-E0A4-40BF-BB40-AFFE1040AE3A}" type="slidenum">
              <a:rPr lang="en-US" smtClean="0"/>
              <a:t>‹#›</a:t>
            </a:fld>
            <a:endParaRPr lang="en-US"/>
          </a:p>
        </p:txBody>
      </p:sp>
    </p:spTree>
    <p:extLst>
      <p:ext uri="{BB962C8B-B14F-4D97-AF65-F5344CB8AC3E}">
        <p14:creationId xmlns:p14="http://schemas.microsoft.com/office/powerpoint/2010/main" val="2410216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9B671-3C72-0BB3-AA32-ADE126B348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BB3C54-ECF5-6CC8-0275-AB9819596E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3A9A5F-B50F-74D7-6764-2D7196C09B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7FA0E7-AF5F-02AF-147D-6440E91D4410}"/>
              </a:ext>
            </a:extLst>
          </p:cNvPr>
          <p:cNvSpPr>
            <a:spLocks noGrp="1"/>
          </p:cNvSpPr>
          <p:nvPr>
            <p:ph type="dt" sz="half" idx="10"/>
          </p:nvPr>
        </p:nvSpPr>
        <p:spPr/>
        <p:txBody>
          <a:bodyPr/>
          <a:lstStyle/>
          <a:p>
            <a:fld id="{F40BA8E7-8F3B-4C48-AFC2-D3089D08CB0A}" type="datetimeFigureOut">
              <a:rPr lang="en-US" smtClean="0"/>
              <a:t>9/14/2026</a:t>
            </a:fld>
            <a:endParaRPr lang="en-US"/>
          </a:p>
        </p:txBody>
      </p:sp>
      <p:sp>
        <p:nvSpPr>
          <p:cNvPr id="6" name="Footer Placeholder 5">
            <a:extLst>
              <a:ext uri="{FF2B5EF4-FFF2-40B4-BE49-F238E27FC236}">
                <a16:creationId xmlns:a16="http://schemas.microsoft.com/office/drawing/2014/main" id="{B2EE51CC-DCD2-2E87-B6D0-3B5EB9FE3D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6EB5E9-8E71-734D-7CB0-F33BA34F0354}"/>
              </a:ext>
            </a:extLst>
          </p:cNvPr>
          <p:cNvSpPr>
            <a:spLocks noGrp="1"/>
          </p:cNvSpPr>
          <p:nvPr>
            <p:ph type="sldNum" sz="quarter" idx="12"/>
          </p:nvPr>
        </p:nvSpPr>
        <p:spPr/>
        <p:txBody>
          <a:bodyPr/>
          <a:lstStyle/>
          <a:p>
            <a:fld id="{70905D0F-E0A4-40BF-BB40-AFFE1040AE3A}" type="slidenum">
              <a:rPr lang="en-US" smtClean="0"/>
              <a:t>‹#›</a:t>
            </a:fld>
            <a:endParaRPr lang="en-US"/>
          </a:p>
        </p:txBody>
      </p:sp>
    </p:spTree>
    <p:extLst>
      <p:ext uri="{BB962C8B-B14F-4D97-AF65-F5344CB8AC3E}">
        <p14:creationId xmlns:p14="http://schemas.microsoft.com/office/powerpoint/2010/main" val="4030874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539CD-868A-C82B-C576-53438628E1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B31D89-FC5F-CDC3-AC1C-3B2777571D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EA3653-4C88-2B7F-FD31-9D46A500F7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51DCD4-B4FF-4C83-0D00-D2FC24FDDF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0DD87D-3D16-6E4D-609D-2F8AA620A1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64F1C7-DAB5-5EC0-E90B-D2466393B9C4}"/>
              </a:ext>
            </a:extLst>
          </p:cNvPr>
          <p:cNvSpPr>
            <a:spLocks noGrp="1"/>
          </p:cNvSpPr>
          <p:nvPr>
            <p:ph type="dt" sz="half" idx="10"/>
          </p:nvPr>
        </p:nvSpPr>
        <p:spPr/>
        <p:txBody>
          <a:bodyPr/>
          <a:lstStyle/>
          <a:p>
            <a:fld id="{F40BA8E7-8F3B-4C48-AFC2-D3089D08CB0A}" type="datetimeFigureOut">
              <a:rPr lang="en-US" smtClean="0"/>
              <a:t>9/14/2026</a:t>
            </a:fld>
            <a:endParaRPr lang="en-US"/>
          </a:p>
        </p:txBody>
      </p:sp>
      <p:sp>
        <p:nvSpPr>
          <p:cNvPr id="8" name="Footer Placeholder 7">
            <a:extLst>
              <a:ext uri="{FF2B5EF4-FFF2-40B4-BE49-F238E27FC236}">
                <a16:creationId xmlns:a16="http://schemas.microsoft.com/office/drawing/2014/main" id="{B33E4B45-39CC-AAA7-737C-886F29DBC6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DB8B23-4FDB-A991-65A2-A6A0353304F1}"/>
              </a:ext>
            </a:extLst>
          </p:cNvPr>
          <p:cNvSpPr>
            <a:spLocks noGrp="1"/>
          </p:cNvSpPr>
          <p:nvPr>
            <p:ph type="sldNum" sz="quarter" idx="12"/>
          </p:nvPr>
        </p:nvSpPr>
        <p:spPr/>
        <p:txBody>
          <a:bodyPr/>
          <a:lstStyle/>
          <a:p>
            <a:fld id="{70905D0F-E0A4-40BF-BB40-AFFE1040AE3A}" type="slidenum">
              <a:rPr lang="en-US" smtClean="0"/>
              <a:t>‹#›</a:t>
            </a:fld>
            <a:endParaRPr lang="en-US"/>
          </a:p>
        </p:txBody>
      </p:sp>
    </p:spTree>
    <p:extLst>
      <p:ext uri="{BB962C8B-B14F-4D97-AF65-F5344CB8AC3E}">
        <p14:creationId xmlns:p14="http://schemas.microsoft.com/office/powerpoint/2010/main" val="2939393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E2E44-D41A-DFC7-A28A-768B85C821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497C3C-4595-80F4-7816-4D1706D52851}"/>
              </a:ext>
            </a:extLst>
          </p:cNvPr>
          <p:cNvSpPr>
            <a:spLocks noGrp="1"/>
          </p:cNvSpPr>
          <p:nvPr>
            <p:ph type="dt" sz="half" idx="10"/>
          </p:nvPr>
        </p:nvSpPr>
        <p:spPr/>
        <p:txBody>
          <a:bodyPr/>
          <a:lstStyle/>
          <a:p>
            <a:fld id="{F40BA8E7-8F3B-4C48-AFC2-D3089D08CB0A}" type="datetimeFigureOut">
              <a:rPr lang="en-US" smtClean="0"/>
              <a:t>9/14/2026</a:t>
            </a:fld>
            <a:endParaRPr lang="en-US"/>
          </a:p>
        </p:txBody>
      </p:sp>
      <p:sp>
        <p:nvSpPr>
          <p:cNvPr id="4" name="Footer Placeholder 3">
            <a:extLst>
              <a:ext uri="{FF2B5EF4-FFF2-40B4-BE49-F238E27FC236}">
                <a16:creationId xmlns:a16="http://schemas.microsoft.com/office/drawing/2014/main" id="{A3275725-A1E2-2D23-BFDE-AE5DB5C369C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3EB5FF-592F-9DBB-3DC9-E4967A8EDAD8}"/>
              </a:ext>
            </a:extLst>
          </p:cNvPr>
          <p:cNvSpPr>
            <a:spLocks noGrp="1"/>
          </p:cNvSpPr>
          <p:nvPr>
            <p:ph type="sldNum" sz="quarter" idx="12"/>
          </p:nvPr>
        </p:nvSpPr>
        <p:spPr/>
        <p:txBody>
          <a:bodyPr/>
          <a:lstStyle/>
          <a:p>
            <a:fld id="{70905D0F-E0A4-40BF-BB40-AFFE1040AE3A}" type="slidenum">
              <a:rPr lang="en-US" smtClean="0"/>
              <a:t>‹#›</a:t>
            </a:fld>
            <a:endParaRPr lang="en-US"/>
          </a:p>
        </p:txBody>
      </p:sp>
    </p:spTree>
    <p:extLst>
      <p:ext uri="{BB962C8B-B14F-4D97-AF65-F5344CB8AC3E}">
        <p14:creationId xmlns:p14="http://schemas.microsoft.com/office/powerpoint/2010/main" val="4012137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D8CA1D-0E0A-2334-32F7-B64D0172B95A}"/>
              </a:ext>
            </a:extLst>
          </p:cNvPr>
          <p:cNvSpPr>
            <a:spLocks noGrp="1"/>
          </p:cNvSpPr>
          <p:nvPr>
            <p:ph type="dt" sz="half" idx="10"/>
          </p:nvPr>
        </p:nvSpPr>
        <p:spPr/>
        <p:txBody>
          <a:bodyPr/>
          <a:lstStyle/>
          <a:p>
            <a:fld id="{F40BA8E7-8F3B-4C48-AFC2-D3089D08CB0A}" type="datetimeFigureOut">
              <a:rPr lang="en-US" smtClean="0"/>
              <a:t>9/14/2026</a:t>
            </a:fld>
            <a:endParaRPr lang="en-US"/>
          </a:p>
        </p:txBody>
      </p:sp>
      <p:sp>
        <p:nvSpPr>
          <p:cNvPr id="3" name="Footer Placeholder 2">
            <a:extLst>
              <a:ext uri="{FF2B5EF4-FFF2-40B4-BE49-F238E27FC236}">
                <a16:creationId xmlns:a16="http://schemas.microsoft.com/office/drawing/2014/main" id="{23864244-E050-77E7-19EF-78BBA85BA4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AC7C6B-F8F7-7E1A-6D81-C6B6105ABF73}"/>
              </a:ext>
            </a:extLst>
          </p:cNvPr>
          <p:cNvSpPr>
            <a:spLocks noGrp="1"/>
          </p:cNvSpPr>
          <p:nvPr>
            <p:ph type="sldNum" sz="quarter" idx="12"/>
          </p:nvPr>
        </p:nvSpPr>
        <p:spPr/>
        <p:txBody>
          <a:bodyPr/>
          <a:lstStyle/>
          <a:p>
            <a:fld id="{70905D0F-E0A4-40BF-BB40-AFFE1040AE3A}" type="slidenum">
              <a:rPr lang="en-US" smtClean="0"/>
              <a:t>‹#›</a:t>
            </a:fld>
            <a:endParaRPr lang="en-US"/>
          </a:p>
        </p:txBody>
      </p:sp>
    </p:spTree>
    <p:extLst>
      <p:ext uri="{BB962C8B-B14F-4D97-AF65-F5344CB8AC3E}">
        <p14:creationId xmlns:p14="http://schemas.microsoft.com/office/powerpoint/2010/main" val="1908137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A2D30-B178-D5B6-4B87-56F8852CD1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6F4B1-C50D-3788-0429-F637AB82C5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64608B-1C0F-2E47-A22E-D8397F88FF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E597A8-BEA2-EF64-8EB0-3A4F81235078}"/>
              </a:ext>
            </a:extLst>
          </p:cNvPr>
          <p:cNvSpPr>
            <a:spLocks noGrp="1"/>
          </p:cNvSpPr>
          <p:nvPr>
            <p:ph type="dt" sz="half" idx="10"/>
          </p:nvPr>
        </p:nvSpPr>
        <p:spPr/>
        <p:txBody>
          <a:bodyPr/>
          <a:lstStyle/>
          <a:p>
            <a:fld id="{F40BA8E7-8F3B-4C48-AFC2-D3089D08CB0A}" type="datetimeFigureOut">
              <a:rPr lang="en-US" smtClean="0"/>
              <a:t>9/14/2026</a:t>
            </a:fld>
            <a:endParaRPr lang="en-US"/>
          </a:p>
        </p:txBody>
      </p:sp>
      <p:sp>
        <p:nvSpPr>
          <p:cNvPr id="6" name="Footer Placeholder 5">
            <a:extLst>
              <a:ext uri="{FF2B5EF4-FFF2-40B4-BE49-F238E27FC236}">
                <a16:creationId xmlns:a16="http://schemas.microsoft.com/office/drawing/2014/main" id="{BB7903CE-7A69-84DF-B3D8-9F25E0D352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05C1FA-608B-4B0C-3589-3224DDF99441}"/>
              </a:ext>
            </a:extLst>
          </p:cNvPr>
          <p:cNvSpPr>
            <a:spLocks noGrp="1"/>
          </p:cNvSpPr>
          <p:nvPr>
            <p:ph type="sldNum" sz="quarter" idx="12"/>
          </p:nvPr>
        </p:nvSpPr>
        <p:spPr/>
        <p:txBody>
          <a:bodyPr/>
          <a:lstStyle/>
          <a:p>
            <a:fld id="{70905D0F-E0A4-40BF-BB40-AFFE1040AE3A}" type="slidenum">
              <a:rPr lang="en-US" smtClean="0"/>
              <a:t>‹#›</a:t>
            </a:fld>
            <a:endParaRPr lang="en-US"/>
          </a:p>
        </p:txBody>
      </p:sp>
    </p:spTree>
    <p:extLst>
      <p:ext uri="{BB962C8B-B14F-4D97-AF65-F5344CB8AC3E}">
        <p14:creationId xmlns:p14="http://schemas.microsoft.com/office/powerpoint/2010/main" val="4021114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DB4C7-CF98-9974-B0F7-B484D67281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BA55DC-1A94-0F63-39D0-1BE4D9A2E3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978DB8-FF16-14FA-5412-9D3A3FA778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403D92-5010-8020-BA1F-5BE7281737D1}"/>
              </a:ext>
            </a:extLst>
          </p:cNvPr>
          <p:cNvSpPr>
            <a:spLocks noGrp="1"/>
          </p:cNvSpPr>
          <p:nvPr>
            <p:ph type="dt" sz="half" idx="10"/>
          </p:nvPr>
        </p:nvSpPr>
        <p:spPr/>
        <p:txBody>
          <a:bodyPr/>
          <a:lstStyle/>
          <a:p>
            <a:fld id="{F40BA8E7-8F3B-4C48-AFC2-D3089D08CB0A}" type="datetimeFigureOut">
              <a:rPr lang="en-US" smtClean="0"/>
              <a:t>9/14/2026</a:t>
            </a:fld>
            <a:endParaRPr lang="en-US"/>
          </a:p>
        </p:txBody>
      </p:sp>
      <p:sp>
        <p:nvSpPr>
          <p:cNvPr id="6" name="Footer Placeholder 5">
            <a:extLst>
              <a:ext uri="{FF2B5EF4-FFF2-40B4-BE49-F238E27FC236}">
                <a16:creationId xmlns:a16="http://schemas.microsoft.com/office/drawing/2014/main" id="{76A2F8B1-E6EF-3005-AA5B-8280898144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29DC31-C5CD-AC7E-223A-F7D0D779FD46}"/>
              </a:ext>
            </a:extLst>
          </p:cNvPr>
          <p:cNvSpPr>
            <a:spLocks noGrp="1"/>
          </p:cNvSpPr>
          <p:nvPr>
            <p:ph type="sldNum" sz="quarter" idx="12"/>
          </p:nvPr>
        </p:nvSpPr>
        <p:spPr/>
        <p:txBody>
          <a:bodyPr/>
          <a:lstStyle/>
          <a:p>
            <a:fld id="{70905D0F-E0A4-40BF-BB40-AFFE1040AE3A}" type="slidenum">
              <a:rPr lang="en-US" smtClean="0"/>
              <a:t>‹#›</a:t>
            </a:fld>
            <a:endParaRPr lang="en-US"/>
          </a:p>
        </p:txBody>
      </p:sp>
    </p:spTree>
    <p:extLst>
      <p:ext uri="{BB962C8B-B14F-4D97-AF65-F5344CB8AC3E}">
        <p14:creationId xmlns:p14="http://schemas.microsoft.com/office/powerpoint/2010/main" val="1473837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4A895-BD12-4AF9-99EF-F96C97C8E6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019532-23BC-56E9-8CBE-881D4343BA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79997F-2E56-3FEA-5406-E681F76DF789}"/>
              </a:ext>
            </a:extLst>
          </p:cNvPr>
          <p:cNvSpPr>
            <a:spLocks noGrp="1"/>
          </p:cNvSpPr>
          <p:nvPr>
            <p:ph type="dt" sz="half" idx="10"/>
          </p:nvPr>
        </p:nvSpPr>
        <p:spPr/>
        <p:txBody>
          <a:bodyPr/>
          <a:lstStyle/>
          <a:p>
            <a:fld id="{F40BA8E7-8F3B-4C48-AFC2-D3089D08CB0A}" type="datetimeFigureOut">
              <a:rPr lang="en-US" smtClean="0"/>
              <a:t>9/14/2026</a:t>
            </a:fld>
            <a:endParaRPr lang="en-US"/>
          </a:p>
        </p:txBody>
      </p:sp>
      <p:sp>
        <p:nvSpPr>
          <p:cNvPr id="5" name="Footer Placeholder 4">
            <a:extLst>
              <a:ext uri="{FF2B5EF4-FFF2-40B4-BE49-F238E27FC236}">
                <a16:creationId xmlns:a16="http://schemas.microsoft.com/office/drawing/2014/main" id="{6556B5F4-3F30-F7AB-756D-6E4B743730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2B3363-11CD-8161-D8E6-D364BB37E257}"/>
              </a:ext>
            </a:extLst>
          </p:cNvPr>
          <p:cNvSpPr>
            <a:spLocks noGrp="1"/>
          </p:cNvSpPr>
          <p:nvPr>
            <p:ph type="sldNum" sz="quarter" idx="12"/>
          </p:nvPr>
        </p:nvSpPr>
        <p:spPr/>
        <p:txBody>
          <a:bodyPr/>
          <a:lstStyle/>
          <a:p>
            <a:fld id="{70905D0F-E0A4-40BF-BB40-AFFE1040AE3A}" type="slidenum">
              <a:rPr lang="en-US" smtClean="0"/>
              <a:t>‹#›</a:t>
            </a:fld>
            <a:endParaRPr lang="en-US"/>
          </a:p>
        </p:txBody>
      </p:sp>
    </p:spTree>
    <p:extLst>
      <p:ext uri="{BB962C8B-B14F-4D97-AF65-F5344CB8AC3E}">
        <p14:creationId xmlns:p14="http://schemas.microsoft.com/office/powerpoint/2010/main" val="3508367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C61DA2-0F49-4FB8-808C-8C5D36416E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F49793C-F82A-6E31-E356-EE320A5A0F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E0489C-F67B-2BC3-97D2-6A3915B21C96}"/>
              </a:ext>
            </a:extLst>
          </p:cNvPr>
          <p:cNvSpPr>
            <a:spLocks noGrp="1"/>
          </p:cNvSpPr>
          <p:nvPr>
            <p:ph type="dt" sz="half" idx="10"/>
          </p:nvPr>
        </p:nvSpPr>
        <p:spPr/>
        <p:txBody>
          <a:bodyPr/>
          <a:lstStyle/>
          <a:p>
            <a:fld id="{F40BA8E7-8F3B-4C48-AFC2-D3089D08CB0A}" type="datetimeFigureOut">
              <a:rPr lang="en-US" smtClean="0"/>
              <a:t>9/14/2026</a:t>
            </a:fld>
            <a:endParaRPr lang="en-US"/>
          </a:p>
        </p:txBody>
      </p:sp>
      <p:sp>
        <p:nvSpPr>
          <p:cNvPr id="5" name="Footer Placeholder 4">
            <a:extLst>
              <a:ext uri="{FF2B5EF4-FFF2-40B4-BE49-F238E27FC236}">
                <a16:creationId xmlns:a16="http://schemas.microsoft.com/office/drawing/2014/main" id="{B2F71C58-AE02-1AEF-A475-08F0DFD37A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D6C408-F43F-DA54-0431-495114AE8029}"/>
              </a:ext>
            </a:extLst>
          </p:cNvPr>
          <p:cNvSpPr>
            <a:spLocks noGrp="1"/>
          </p:cNvSpPr>
          <p:nvPr>
            <p:ph type="sldNum" sz="quarter" idx="12"/>
          </p:nvPr>
        </p:nvSpPr>
        <p:spPr/>
        <p:txBody>
          <a:bodyPr/>
          <a:lstStyle/>
          <a:p>
            <a:fld id="{70905D0F-E0A4-40BF-BB40-AFFE1040AE3A}" type="slidenum">
              <a:rPr lang="en-US" smtClean="0"/>
              <a:t>‹#›</a:t>
            </a:fld>
            <a:endParaRPr lang="en-US"/>
          </a:p>
        </p:txBody>
      </p:sp>
    </p:spTree>
    <p:extLst>
      <p:ext uri="{BB962C8B-B14F-4D97-AF65-F5344CB8AC3E}">
        <p14:creationId xmlns:p14="http://schemas.microsoft.com/office/powerpoint/2010/main" val="3018460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ADA581-7B02-FA5A-E552-38C53D8BB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27B48DB-EBA2-1278-9B63-68FF07E8CA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6AC7B7-79FD-735C-0695-3B20040B1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0BA8E7-8F3B-4C48-AFC2-D3089D08CB0A}" type="datetimeFigureOut">
              <a:rPr lang="en-US" smtClean="0"/>
              <a:t>9/14/2026</a:t>
            </a:fld>
            <a:endParaRPr lang="en-US"/>
          </a:p>
        </p:txBody>
      </p:sp>
      <p:sp>
        <p:nvSpPr>
          <p:cNvPr id="5" name="Footer Placeholder 4">
            <a:extLst>
              <a:ext uri="{FF2B5EF4-FFF2-40B4-BE49-F238E27FC236}">
                <a16:creationId xmlns:a16="http://schemas.microsoft.com/office/drawing/2014/main" id="{4C7FB301-8C3C-9213-986B-61B7102E02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5F70F3B-E6FF-2BFD-D731-EAAF7232C6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905D0F-E0A4-40BF-BB40-AFFE1040AE3A}" type="slidenum">
              <a:rPr lang="en-US" smtClean="0"/>
              <a:t>‹#›</a:t>
            </a:fld>
            <a:endParaRPr lang="en-US"/>
          </a:p>
        </p:txBody>
      </p:sp>
    </p:spTree>
    <p:extLst>
      <p:ext uri="{BB962C8B-B14F-4D97-AF65-F5344CB8AC3E}">
        <p14:creationId xmlns:p14="http://schemas.microsoft.com/office/powerpoint/2010/main" val="31971010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9FD059-B399-14A2-F707-A9E9FC7DB144}"/>
              </a:ext>
            </a:extLst>
          </p:cNvPr>
          <p:cNvSpPr txBox="1"/>
          <p:nvPr/>
        </p:nvSpPr>
        <p:spPr>
          <a:xfrm>
            <a:off x="508000" y="228600"/>
            <a:ext cx="11175695" cy="276999"/>
          </a:xfrm>
          <a:prstGeom prst="rect">
            <a:avLst/>
          </a:prstGeom>
          <a:noFill/>
        </p:spPr>
        <p:txBody>
          <a:bodyPr vert="horz" wrap="square" rtlCol="0">
            <a:spAutoFit/>
          </a:bodyPr>
          <a:lstStyle/>
          <a:p>
            <a:pPr algn="ctr"/>
            <a:r>
              <a:rPr lang="fr-FR" sz="1200" b="1">
                <a:solidFill>
                  <a:srgbClr val="5EC8FF"/>
                </a:solidFill>
                <a:latin typeface="Calibri" panose="020F0502020204030204" pitchFamily="34" charset="0"/>
              </a:rPr>
              <a:t>INTERACTIVE SCIENCE EXPERIENCE  ·  GRADE 6</a:t>
            </a:r>
            <a:endParaRPr lang="en-US" sz="1200" b="1">
              <a:solidFill>
                <a:srgbClr val="5EC8FF"/>
              </a:solidFill>
              <a:latin typeface="Calibri" panose="020F0502020204030204" pitchFamily="34" charset="0"/>
            </a:endParaRPr>
          </a:p>
        </p:txBody>
      </p:sp>
      <p:sp>
        <p:nvSpPr>
          <p:cNvPr id="3" name="TextBox 2">
            <a:extLst>
              <a:ext uri="{FF2B5EF4-FFF2-40B4-BE49-F238E27FC236}">
                <a16:creationId xmlns:a16="http://schemas.microsoft.com/office/drawing/2014/main" id="{46CB380D-1AFA-B62F-007C-D5E0BA06EC33}"/>
              </a:ext>
            </a:extLst>
          </p:cNvPr>
          <p:cNvSpPr txBox="1"/>
          <p:nvPr/>
        </p:nvSpPr>
        <p:spPr>
          <a:xfrm>
            <a:off x="508000" y="889000"/>
            <a:ext cx="11175695" cy="707886"/>
          </a:xfrm>
          <a:prstGeom prst="rect">
            <a:avLst/>
          </a:prstGeom>
          <a:noFill/>
        </p:spPr>
        <p:txBody>
          <a:bodyPr vert="horz" wrap="square" rtlCol="0">
            <a:spAutoFit/>
          </a:bodyPr>
          <a:lstStyle/>
          <a:p>
            <a:pPr algn="ctr"/>
            <a:r>
              <a:rPr lang="en-US" sz="4000" b="1">
                <a:solidFill>
                  <a:srgbClr val="F2F5FA"/>
                </a:solidFill>
                <a:latin typeface="Calibri" panose="020F0502020204030204" pitchFamily="34" charset="0"/>
              </a:rPr>
              <a:t>The Mystery of Fire</a:t>
            </a:r>
          </a:p>
        </p:txBody>
      </p:sp>
      <p:sp>
        <p:nvSpPr>
          <p:cNvPr id="4" name="TextBox 3">
            <a:extLst>
              <a:ext uri="{FF2B5EF4-FFF2-40B4-BE49-F238E27FC236}">
                <a16:creationId xmlns:a16="http://schemas.microsoft.com/office/drawing/2014/main" id="{9B5FAAD6-AD70-1CFE-F025-86882FC4F250}"/>
              </a:ext>
            </a:extLst>
          </p:cNvPr>
          <p:cNvSpPr txBox="1"/>
          <p:nvPr/>
        </p:nvSpPr>
        <p:spPr>
          <a:xfrm>
            <a:off x="1016000" y="1778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What does a flame need to keep burning?</a:t>
            </a:r>
          </a:p>
        </p:txBody>
      </p:sp>
      <p:sp>
        <p:nvSpPr>
          <p:cNvPr id="5" name="TextBox 4">
            <a:extLst>
              <a:ext uri="{FF2B5EF4-FFF2-40B4-BE49-F238E27FC236}">
                <a16:creationId xmlns:a16="http://schemas.microsoft.com/office/drawing/2014/main" id="{A0EED785-6AC6-494D-08EF-C51889C8885B}"/>
              </a:ext>
            </a:extLst>
          </p:cNvPr>
          <p:cNvSpPr txBox="1"/>
          <p:nvPr/>
        </p:nvSpPr>
        <p:spPr>
          <a:xfrm>
            <a:off x="508000" y="2413000"/>
            <a:ext cx="11175695" cy="338554"/>
          </a:xfrm>
          <a:prstGeom prst="rect">
            <a:avLst/>
          </a:prstGeom>
          <a:noFill/>
        </p:spPr>
        <p:txBody>
          <a:bodyPr vert="horz" wrap="square" rtlCol="0">
            <a:spAutoFit/>
          </a:bodyPr>
          <a:lstStyle/>
          <a:p>
            <a:pPr algn="ctr"/>
            <a:r>
              <a:rPr lang="en-US" sz="1600" b="1">
                <a:solidFill>
                  <a:srgbClr val="FF8A3D"/>
                </a:solidFill>
                <a:latin typeface="Calibri" panose="020F0502020204030204" pitchFamily="34" charset="0"/>
              </a:rPr>
              <a:t>The Role of Air in Burning Things</a:t>
            </a:r>
          </a:p>
        </p:txBody>
      </p:sp>
      <p:pic>
        <p:nvPicPr>
          <p:cNvPr id="7" name="Picture 6">
            <a:extLst>
              <a:ext uri="{FF2B5EF4-FFF2-40B4-BE49-F238E27FC236}">
                <a16:creationId xmlns:a16="http://schemas.microsoft.com/office/drawing/2014/main" id="{BBFF33EB-79C7-6625-ADED-A5A8C69532C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286000" y="2921000"/>
            <a:ext cx="7620000" cy="3556000"/>
          </a:xfrm>
          <a:prstGeom prst="rect">
            <a:avLst/>
          </a:prstGeom>
        </p:spPr>
      </p:pic>
    </p:spTree>
    <p:extLst>
      <p:ext uri="{BB962C8B-B14F-4D97-AF65-F5344CB8AC3E}">
        <p14:creationId xmlns:p14="http://schemas.microsoft.com/office/powerpoint/2010/main" val="264320871"/>
      </p:ext>
    </p:extLst>
  </p:cSld>
  <p:clrMapOvr>
    <a:masterClrMapping/>
  </p:clrMapOvr>
  <p:transition spd="med">
    <p:cut/>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DEA0F0-1E4C-0742-4860-9E8614D8FFEB}"/>
              </a:ext>
            </a:extLst>
          </p:cNvPr>
          <p:cNvSpPr txBox="1"/>
          <p:nvPr/>
        </p:nvSpPr>
        <p:spPr>
          <a:xfrm>
            <a:off x="508000" y="228600"/>
            <a:ext cx="11175695" cy="276999"/>
          </a:xfrm>
          <a:prstGeom prst="rect">
            <a:avLst/>
          </a:prstGeom>
          <a:noFill/>
        </p:spPr>
        <p:txBody>
          <a:bodyPr vert="horz" wrap="square" rtlCol="0">
            <a:spAutoFit/>
          </a:bodyPr>
          <a:lstStyle/>
          <a:p>
            <a:pPr algn="ctr"/>
            <a:r>
              <a:rPr lang="en-US" sz="1200" b="1">
                <a:solidFill>
                  <a:srgbClr val="5EC8FF"/>
                </a:solidFill>
                <a:latin typeface="Calibri" panose="020F0502020204030204" pitchFamily="34" charset="0"/>
              </a:rPr>
              <a:t>CHAPTER 01  ·  THE MYSTERY</a:t>
            </a:r>
          </a:p>
        </p:txBody>
      </p:sp>
      <p:sp>
        <p:nvSpPr>
          <p:cNvPr id="3" name="TextBox 2">
            <a:extLst>
              <a:ext uri="{FF2B5EF4-FFF2-40B4-BE49-F238E27FC236}">
                <a16:creationId xmlns:a16="http://schemas.microsoft.com/office/drawing/2014/main" id="{61D989B7-8E55-DDC1-A1C8-91DB41852657}"/>
              </a:ext>
            </a:extLst>
          </p:cNvPr>
          <p:cNvSpPr txBox="1"/>
          <p:nvPr/>
        </p:nvSpPr>
        <p:spPr>
          <a:xfrm>
            <a:off x="508000" y="635000"/>
            <a:ext cx="11175695" cy="584775"/>
          </a:xfrm>
          <a:prstGeom prst="rect">
            <a:avLst/>
          </a:prstGeom>
          <a:noFill/>
        </p:spPr>
        <p:txBody>
          <a:bodyPr vert="horz" wrap="square" rtlCol="0">
            <a:spAutoFit/>
          </a:bodyPr>
          <a:lstStyle/>
          <a:p>
            <a:pPr algn="ctr"/>
            <a:r>
              <a:rPr lang="en-US" sz="3200" b="1">
                <a:solidFill>
                  <a:srgbClr val="F2F5FA"/>
                </a:solidFill>
                <a:latin typeface="Calibri" panose="020F0502020204030204" pitchFamily="34" charset="0"/>
              </a:rPr>
              <a:t>What does a flame need to keep burning?</a:t>
            </a:r>
          </a:p>
        </p:txBody>
      </p:sp>
      <p:sp>
        <p:nvSpPr>
          <p:cNvPr id="4" name="TextBox 3">
            <a:extLst>
              <a:ext uri="{FF2B5EF4-FFF2-40B4-BE49-F238E27FC236}">
                <a16:creationId xmlns:a16="http://schemas.microsoft.com/office/drawing/2014/main" id="{0A0E2331-0D9F-BA1B-35E5-02CED8E7C059}"/>
              </a:ext>
            </a:extLst>
          </p:cNvPr>
          <p:cNvSpPr txBox="1"/>
          <p:nvPr/>
        </p:nvSpPr>
        <p:spPr>
          <a:xfrm>
            <a:off x="1016000" y="1397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Air is all around us — invisible, but powerful.</a:t>
            </a:r>
          </a:p>
        </p:txBody>
      </p:sp>
      <p:pic>
        <p:nvPicPr>
          <p:cNvPr id="6" name="Picture 5">
            <a:extLst>
              <a:ext uri="{FF2B5EF4-FFF2-40B4-BE49-F238E27FC236}">
                <a16:creationId xmlns:a16="http://schemas.microsoft.com/office/drawing/2014/main" id="{97565599-06A5-F2DF-7558-ADF19785991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778000" y="2159000"/>
            <a:ext cx="8636000" cy="4318000"/>
          </a:xfrm>
          <a:prstGeom prst="rect">
            <a:avLst/>
          </a:prstGeom>
        </p:spPr>
      </p:pic>
    </p:spTree>
    <p:extLst>
      <p:ext uri="{BB962C8B-B14F-4D97-AF65-F5344CB8AC3E}">
        <p14:creationId xmlns:p14="http://schemas.microsoft.com/office/powerpoint/2010/main" val="2587651127"/>
      </p:ext>
    </p:extLst>
  </p:cSld>
  <p:clrMapOvr>
    <a:masterClrMapping/>
  </p:clrMapOvr>
  <p:transition spd="med">
    <p:cut/>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53F46C-F9D1-8155-399C-57A0DE1114DF}"/>
              </a:ext>
            </a:extLst>
          </p:cNvPr>
          <p:cNvSpPr txBox="1"/>
          <p:nvPr/>
        </p:nvSpPr>
        <p:spPr>
          <a:xfrm>
            <a:off x="508000" y="228600"/>
            <a:ext cx="11175695" cy="276999"/>
          </a:xfrm>
          <a:prstGeom prst="rect">
            <a:avLst/>
          </a:prstGeom>
          <a:noFill/>
        </p:spPr>
        <p:txBody>
          <a:bodyPr vert="horz" wrap="square" rtlCol="0">
            <a:spAutoFit/>
          </a:bodyPr>
          <a:lstStyle/>
          <a:p>
            <a:pPr algn="ctr"/>
            <a:r>
              <a:rPr lang="en-US" sz="1200" b="1">
                <a:solidFill>
                  <a:srgbClr val="5EC8FF"/>
                </a:solidFill>
                <a:latin typeface="Calibri" panose="020F0502020204030204" pitchFamily="34" charset="0"/>
              </a:rPr>
              <a:t>CHAPTER 02  ·  INVISIBLE AIR</a:t>
            </a:r>
          </a:p>
        </p:txBody>
      </p:sp>
      <p:sp>
        <p:nvSpPr>
          <p:cNvPr id="3" name="TextBox 2">
            <a:extLst>
              <a:ext uri="{FF2B5EF4-FFF2-40B4-BE49-F238E27FC236}">
                <a16:creationId xmlns:a16="http://schemas.microsoft.com/office/drawing/2014/main" id="{22239BD4-D7C9-6F0D-B2AB-CFCBC2DB0D55}"/>
              </a:ext>
            </a:extLst>
          </p:cNvPr>
          <p:cNvSpPr txBox="1"/>
          <p:nvPr/>
        </p:nvSpPr>
        <p:spPr>
          <a:xfrm>
            <a:off x="508000" y="635000"/>
            <a:ext cx="11175695" cy="584775"/>
          </a:xfrm>
          <a:prstGeom prst="rect">
            <a:avLst/>
          </a:prstGeom>
          <a:noFill/>
        </p:spPr>
        <p:txBody>
          <a:bodyPr vert="horz" wrap="square" rtlCol="0">
            <a:spAutoFit/>
          </a:bodyPr>
          <a:lstStyle/>
          <a:p>
            <a:pPr algn="ctr"/>
            <a:r>
              <a:rPr lang="en-US" sz="3200" b="1">
                <a:solidFill>
                  <a:srgbClr val="F2F5FA"/>
                </a:solidFill>
                <a:latin typeface="Calibri" panose="020F0502020204030204" pitchFamily="34" charset="0"/>
              </a:rPr>
              <a:t>Air is everywhere.</a:t>
            </a:r>
          </a:p>
        </p:txBody>
      </p:sp>
      <p:sp>
        <p:nvSpPr>
          <p:cNvPr id="4" name="TextBox 3">
            <a:extLst>
              <a:ext uri="{FF2B5EF4-FFF2-40B4-BE49-F238E27FC236}">
                <a16:creationId xmlns:a16="http://schemas.microsoft.com/office/drawing/2014/main" id="{959CD2E0-8C4B-1650-34E7-B9A270551EDA}"/>
              </a:ext>
            </a:extLst>
          </p:cNvPr>
          <p:cNvSpPr txBox="1"/>
          <p:nvPr/>
        </p:nvSpPr>
        <p:spPr>
          <a:xfrm>
            <a:off x="1016000" y="1397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You cannot see it. But can something invisible affect a flame?</a:t>
            </a:r>
          </a:p>
        </p:txBody>
      </p:sp>
      <p:pic>
        <p:nvPicPr>
          <p:cNvPr id="6" name="Picture 5">
            <a:extLst>
              <a:ext uri="{FF2B5EF4-FFF2-40B4-BE49-F238E27FC236}">
                <a16:creationId xmlns:a16="http://schemas.microsoft.com/office/drawing/2014/main" id="{8D080914-4AC1-6A1A-0C49-5B3247D7FF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59000"/>
            <a:ext cx="5461000" cy="3810000"/>
          </a:xfrm>
          <a:prstGeom prst="rect">
            <a:avLst/>
          </a:prstGeom>
        </p:spPr>
      </p:pic>
      <p:pic>
        <p:nvPicPr>
          <p:cNvPr id="8" name="Picture 7">
            <a:extLst>
              <a:ext uri="{FF2B5EF4-FFF2-40B4-BE49-F238E27FC236}">
                <a16:creationId xmlns:a16="http://schemas.microsoft.com/office/drawing/2014/main" id="{558D0E17-6223-B705-D94E-35C6169BBAB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223000" y="2159000"/>
            <a:ext cx="5461000" cy="3810000"/>
          </a:xfrm>
          <a:prstGeom prst="rect">
            <a:avLst/>
          </a:prstGeom>
        </p:spPr>
      </p:pic>
      <p:sp>
        <p:nvSpPr>
          <p:cNvPr id="9" name="TextBox 8">
            <a:extLst>
              <a:ext uri="{FF2B5EF4-FFF2-40B4-BE49-F238E27FC236}">
                <a16:creationId xmlns:a16="http://schemas.microsoft.com/office/drawing/2014/main" id="{674FC016-5050-CC84-4AAC-9E8685413C28}"/>
              </a:ext>
            </a:extLst>
          </p:cNvPr>
          <p:cNvSpPr txBox="1"/>
          <p:nvPr/>
        </p:nvSpPr>
        <p:spPr>
          <a:xfrm>
            <a:off x="508000" y="6096000"/>
            <a:ext cx="5461000" cy="276999"/>
          </a:xfrm>
          <a:prstGeom prst="rect">
            <a:avLst/>
          </a:prstGeom>
          <a:noFill/>
        </p:spPr>
        <p:txBody>
          <a:bodyPr vert="horz" wrap="square" rtlCol="0">
            <a:spAutoFit/>
          </a:bodyPr>
          <a:lstStyle/>
          <a:p>
            <a:pPr algn="ctr"/>
            <a:r>
              <a:rPr lang="en-US" sz="1200">
                <a:solidFill>
                  <a:srgbClr val="9AA6B8"/>
                </a:solidFill>
                <a:latin typeface="Calibri" panose="020F0502020204030204" pitchFamily="34" charset="0"/>
              </a:rPr>
              <a:t>Before</a:t>
            </a:r>
          </a:p>
        </p:txBody>
      </p:sp>
      <p:sp>
        <p:nvSpPr>
          <p:cNvPr id="10" name="TextBox 9">
            <a:extLst>
              <a:ext uri="{FF2B5EF4-FFF2-40B4-BE49-F238E27FC236}">
                <a16:creationId xmlns:a16="http://schemas.microsoft.com/office/drawing/2014/main" id="{FAE8BF38-25ED-06FC-A986-C50A57B1CE01}"/>
              </a:ext>
            </a:extLst>
          </p:cNvPr>
          <p:cNvSpPr txBox="1"/>
          <p:nvPr/>
        </p:nvSpPr>
        <p:spPr>
          <a:xfrm>
            <a:off x="6223000" y="6096000"/>
            <a:ext cx="5461000" cy="276999"/>
          </a:xfrm>
          <a:prstGeom prst="rect">
            <a:avLst/>
          </a:prstGeom>
          <a:noFill/>
        </p:spPr>
        <p:txBody>
          <a:bodyPr vert="horz" wrap="square" rtlCol="0">
            <a:spAutoFit/>
          </a:bodyPr>
          <a:lstStyle/>
          <a:p>
            <a:pPr algn="ctr"/>
            <a:r>
              <a:rPr lang="en-US" sz="1200">
                <a:solidFill>
                  <a:srgbClr val="9EFFF0"/>
                </a:solidFill>
                <a:latin typeface="Calibri" panose="020F0502020204030204" pitchFamily="34" charset="0"/>
              </a:rPr>
              <a:t>Revealed</a:t>
            </a:r>
          </a:p>
        </p:txBody>
      </p:sp>
    </p:spTree>
    <p:extLst>
      <p:ext uri="{BB962C8B-B14F-4D97-AF65-F5344CB8AC3E}">
        <p14:creationId xmlns:p14="http://schemas.microsoft.com/office/powerpoint/2010/main" val="3048829991"/>
      </p:ext>
    </p:extLst>
  </p:cSld>
  <p:clrMapOvr>
    <a:masterClrMapping/>
  </p:clrMapOvr>
  <p:transition spd="med">
    <p:cut/>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2B787A-046B-A09D-9255-65536F8CB6B9}"/>
              </a:ext>
            </a:extLst>
          </p:cNvPr>
          <p:cNvSpPr txBox="1"/>
          <p:nvPr/>
        </p:nvSpPr>
        <p:spPr>
          <a:xfrm>
            <a:off x="508000" y="228600"/>
            <a:ext cx="11175695" cy="276999"/>
          </a:xfrm>
          <a:prstGeom prst="rect">
            <a:avLst/>
          </a:prstGeom>
          <a:noFill/>
        </p:spPr>
        <p:txBody>
          <a:bodyPr vert="horz" wrap="square" rtlCol="0">
            <a:spAutoFit/>
          </a:bodyPr>
          <a:lstStyle/>
          <a:p>
            <a:pPr algn="ctr"/>
            <a:r>
              <a:rPr lang="en-US" sz="1200" b="1">
                <a:solidFill>
                  <a:srgbClr val="5EC8FF"/>
                </a:solidFill>
                <a:latin typeface="Calibri" panose="020F0502020204030204" pitchFamily="34" charset="0"/>
              </a:rPr>
              <a:t>FOCUS QUESTION</a:t>
            </a:r>
          </a:p>
        </p:txBody>
      </p:sp>
      <p:sp>
        <p:nvSpPr>
          <p:cNvPr id="3" name="TextBox 2">
            <a:extLst>
              <a:ext uri="{FF2B5EF4-FFF2-40B4-BE49-F238E27FC236}">
                <a16:creationId xmlns:a16="http://schemas.microsoft.com/office/drawing/2014/main" id="{D15B7324-954B-BDB0-D665-A85E2D4BD548}"/>
              </a:ext>
            </a:extLst>
          </p:cNvPr>
          <p:cNvSpPr txBox="1"/>
          <p:nvPr/>
        </p:nvSpPr>
        <p:spPr>
          <a:xfrm>
            <a:off x="508000" y="635000"/>
            <a:ext cx="11175695" cy="646331"/>
          </a:xfrm>
          <a:prstGeom prst="rect">
            <a:avLst/>
          </a:prstGeom>
          <a:noFill/>
        </p:spPr>
        <p:txBody>
          <a:bodyPr vert="horz" wrap="square" rtlCol="0">
            <a:spAutoFit/>
          </a:bodyPr>
          <a:lstStyle/>
          <a:p>
            <a:pPr algn="ctr"/>
            <a:r>
              <a:rPr lang="en-US" sz="3600" b="1">
                <a:solidFill>
                  <a:srgbClr val="F2F5FA"/>
                </a:solidFill>
                <a:latin typeface="Calibri" panose="020F0502020204030204" pitchFamily="34" charset="0"/>
              </a:rPr>
              <a:t>Can air affect fire?</a:t>
            </a:r>
          </a:p>
        </p:txBody>
      </p:sp>
      <p:sp>
        <p:nvSpPr>
          <p:cNvPr id="4" name="TextBox 3">
            <a:extLst>
              <a:ext uri="{FF2B5EF4-FFF2-40B4-BE49-F238E27FC236}">
                <a16:creationId xmlns:a16="http://schemas.microsoft.com/office/drawing/2014/main" id="{ABCE6117-4A6E-26D3-115B-C204F033C0D5}"/>
              </a:ext>
            </a:extLst>
          </p:cNvPr>
          <p:cNvSpPr txBox="1"/>
          <p:nvPr/>
        </p:nvSpPr>
        <p:spPr>
          <a:xfrm>
            <a:off x="1016000" y="1397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Let's test it with a careful classroom experiment.</a:t>
            </a:r>
          </a:p>
        </p:txBody>
      </p:sp>
      <p:pic>
        <p:nvPicPr>
          <p:cNvPr id="6" name="Picture 5">
            <a:extLst>
              <a:ext uri="{FF2B5EF4-FFF2-40B4-BE49-F238E27FC236}">
                <a16:creationId xmlns:a16="http://schemas.microsoft.com/office/drawing/2014/main" id="{41F10BF0-5A21-ED05-B6F0-6463FBA367C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794000" y="2286000"/>
            <a:ext cx="6604000" cy="3810000"/>
          </a:xfrm>
          <a:prstGeom prst="rect">
            <a:avLst/>
          </a:prstGeom>
        </p:spPr>
      </p:pic>
    </p:spTree>
    <p:extLst>
      <p:ext uri="{BB962C8B-B14F-4D97-AF65-F5344CB8AC3E}">
        <p14:creationId xmlns:p14="http://schemas.microsoft.com/office/powerpoint/2010/main" val="2152784259"/>
      </p:ext>
    </p:extLst>
  </p:cSld>
  <p:clrMapOvr>
    <a:masterClrMapping/>
  </p:clrMapOvr>
  <p:transition spd="med">
    <p:cut/>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733CBB-3E9D-963B-FD8A-C2BB73D0D37F}"/>
              </a:ext>
            </a:extLst>
          </p:cNvPr>
          <p:cNvSpPr txBox="1"/>
          <p:nvPr/>
        </p:nvSpPr>
        <p:spPr>
          <a:xfrm>
            <a:off x="508000" y="228600"/>
            <a:ext cx="11175695" cy="276999"/>
          </a:xfrm>
          <a:prstGeom prst="rect">
            <a:avLst/>
          </a:prstGeom>
          <a:noFill/>
        </p:spPr>
        <p:txBody>
          <a:bodyPr vert="horz" wrap="square" rtlCol="0">
            <a:spAutoFit/>
          </a:bodyPr>
          <a:lstStyle/>
          <a:p>
            <a:pPr algn="ctr"/>
            <a:r>
              <a:rPr lang="en-US" sz="1200" b="1">
                <a:solidFill>
                  <a:srgbClr val="5EC8FF"/>
                </a:solidFill>
                <a:latin typeface="Calibri" panose="020F0502020204030204" pitchFamily="34" charset="0"/>
              </a:rPr>
              <a:t>CHAPTER 03  ·  EXPERIMENT</a:t>
            </a:r>
          </a:p>
        </p:txBody>
      </p:sp>
      <p:sp>
        <p:nvSpPr>
          <p:cNvPr id="3" name="TextBox 2">
            <a:extLst>
              <a:ext uri="{FF2B5EF4-FFF2-40B4-BE49-F238E27FC236}">
                <a16:creationId xmlns:a16="http://schemas.microsoft.com/office/drawing/2014/main" id="{63074B83-72D0-E186-0DDF-748251FD2D0E}"/>
              </a:ext>
            </a:extLst>
          </p:cNvPr>
          <p:cNvSpPr txBox="1"/>
          <p:nvPr/>
        </p:nvSpPr>
        <p:spPr>
          <a:xfrm>
            <a:off x="508000" y="635000"/>
            <a:ext cx="11175695" cy="584775"/>
          </a:xfrm>
          <a:prstGeom prst="rect">
            <a:avLst/>
          </a:prstGeom>
          <a:noFill/>
        </p:spPr>
        <p:txBody>
          <a:bodyPr vert="horz" wrap="square" rtlCol="0">
            <a:spAutoFit/>
          </a:bodyPr>
          <a:lstStyle/>
          <a:p>
            <a:pPr algn="ctr"/>
            <a:r>
              <a:rPr lang="en-US" sz="3200" b="1">
                <a:solidFill>
                  <a:srgbClr val="F2F5FA"/>
                </a:solidFill>
                <a:latin typeface="Calibri" panose="020F0502020204030204" pitchFamily="34" charset="0"/>
              </a:rPr>
              <a:t>Build the investigation.</a:t>
            </a:r>
          </a:p>
        </p:txBody>
      </p:sp>
      <p:sp>
        <p:nvSpPr>
          <p:cNvPr id="4" name="TextBox 3">
            <a:extLst>
              <a:ext uri="{FF2B5EF4-FFF2-40B4-BE49-F238E27FC236}">
                <a16:creationId xmlns:a16="http://schemas.microsoft.com/office/drawing/2014/main" id="{2F8ED822-92D0-A288-2308-9D7C9268A7C7}"/>
              </a:ext>
            </a:extLst>
          </p:cNvPr>
          <p:cNvSpPr txBox="1"/>
          <p:nvPr/>
        </p:nvSpPr>
        <p:spPr>
          <a:xfrm>
            <a:off x="1016000" y="1397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Board · Clay · Candle · Bottomless glass jar · Metal lid · Lighter (teacher only)</a:t>
            </a:r>
          </a:p>
        </p:txBody>
      </p:sp>
      <p:pic>
        <p:nvPicPr>
          <p:cNvPr id="6" name="Picture 5">
            <a:extLst>
              <a:ext uri="{FF2B5EF4-FFF2-40B4-BE49-F238E27FC236}">
                <a16:creationId xmlns:a16="http://schemas.microsoft.com/office/drawing/2014/main" id="{08D37863-EA57-94C8-1537-9095710E554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62000" y="2032000"/>
            <a:ext cx="10668000" cy="3810000"/>
          </a:xfrm>
          <a:prstGeom prst="rect">
            <a:avLst/>
          </a:prstGeom>
        </p:spPr>
      </p:pic>
      <p:sp>
        <p:nvSpPr>
          <p:cNvPr id="7" name="Rectangle: Rounded Corners 6">
            <a:extLst>
              <a:ext uri="{FF2B5EF4-FFF2-40B4-BE49-F238E27FC236}">
                <a16:creationId xmlns:a16="http://schemas.microsoft.com/office/drawing/2014/main" id="{49D0EF6B-3C3D-5354-060A-E03BBF732EDE}"/>
              </a:ext>
            </a:extLst>
          </p:cNvPr>
          <p:cNvSpPr/>
          <p:nvPr/>
        </p:nvSpPr>
        <p:spPr>
          <a:xfrm>
            <a:off x="1524000" y="6096000"/>
            <a:ext cx="9144000" cy="457200"/>
          </a:xfrm>
          <a:prstGeom prst="roundRect">
            <a:avLst/>
          </a:prstGeom>
          <a:solidFill>
            <a:srgbClr val="2A1214"/>
          </a:solidFill>
          <a:ln w="19050">
            <a:solidFill>
              <a:srgbClr val="E24A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a:solidFill>
                  <a:srgbClr val="FFC2BC"/>
                </a:solidFill>
              </a:rPr>
              <a:t>Caution: Only the teacher should use the lighter to light the candle.</a:t>
            </a:r>
          </a:p>
        </p:txBody>
      </p:sp>
    </p:spTree>
    <p:extLst>
      <p:ext uri="{BB962C8B-B14F-4D97-AF65-F5344CB8AC3E}">
        <p14:creationId xmlns:p14="http://schemas.microsoft.com/office/powerpoint/2010/main" val="3075300586"/>
      </p:ext>
    </p:extLst>
  </p:cSld>
  <p:clrMapOvr>
    <a:masterClrMapping/>
  </p:clrMapOvr>
  <p:transition spd="med">
    <p:cut/>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2D05A9-A74B-9B8D-C74C-A60305A5ECD5}"/>
              </a:ext>
            </a:extLst>
          </p:cNvPr>
          <p:cNvSpPr txBox="1"/>
          <p:nvPr/>
        </p:nvSpPr>
        <p:spPr>
          <a:xfrm>
            <a:off x="508000" y="228600"/>
            <a:ext cx="11175695" cy="276999"/>
          </a:xfrm>
          <a:prstGeom prst="rect">
            <a:avLst/>
          </a:prstGeom>
          <a:noFill/>
        </p:spPr>
        <p:txBody>
          <a:bodyPr vert="horz" wrap="square" rtlCol="0">
            <a:spAutoFit/>
          </a:bodyPr>
          <a:lstStyle/>
          <a:p>
            <a:pPr algn="ctr"/>
            <a:r>
              <a:rPr lang="en-US" sz="1200" b="1">
                <a:solidFill>
                  <a:srgbClr val="5EC8FF"/>
                </a:solidFill>
                <a:latin typeface="Calibri" panose="020F0502020204030204" pitchFamily="34" charset="0"/>
              </a:rPr>
              <a:t>CHAPTER 04  ·  PREDICT</a:t>
            </a:r>
          </a:p>
        </p:txBody>
      </p:sp>
      <p:sp>
        <p:nvSpPr>
          <p:cNvPr id="3" name="TextBox 2">
            <a:extLst>
              <a:ext uri="{FF2B5EF4-FFF2-40B4-BE49-F238E27FC236}">
                <a16:creationId xmlns:a16="http://schemas.microsoft.com/office/drawing/2014/main" id="{0A40EC8A-2EE1-CC50-E143-98681AED82DF}"/>
              </a:ext>
            </a:extLst>
          </p:cNvPr>
          <p:cNvSpPr txBox="1"/>
          <p:nvPr/>
        </p:nvSpPr>
        <p:spPr>
          <a:xfrm>
            <a:off x="508000" y="635000"/>
            <a:ext cx="11175695" cy="584775"/>
          </a:xfrm>
          <a:prstGeom prst="rect">
            <a:avLst/>
          </a:prstGeom>
          <a:noFill/>
        </p:spPr>
        <p:txBody>
          <a:bodyPr vert="horz" wrap="square" rtlCol="0">
            <a:spAutoFit/>
          </a:bodyPr>
          <a:lstStyle/>
          <a:p>
            <a:pPr algn="ctr"/>
            <a:r>
              <a:rPr lang="en-US" sz="3200" b="1">
                <a:solidFill>
                  <a:srgbClr val="F2F5FA"/>
                </a:solidFill>
                <a:latin typeface="Calibri" panose="020F0502020204030204" pitchFamily="34" charset="0"/>
              </a:rPr>
              <a:t>What do you think will happen?</a:t>
            </a:r>
          </a:p>
        </p:txBody>
      </p:sp>
      <p:sp>
        <p:nvSpPr>
          <p:cNvPr id="4" name="TextBox 3">
            <a:extLst>
              <a:ext uri="{FF2B5EF4-FFF2-40B4-BE49-F238E27FC236}">
                <a16:creationId xmlns:a16="http://schemas.microsoft.com/office/drawing/2014/main" id="{4BAA7A6C-64F6-F17F-B59B-F2D2024208D0}"/>
              </a:ext>
            </a:extLst>
          </p:cNvPr>
          <p:cNvSpPr txBox="1"/>
          <p:nvPr/>
        </p:nvSpPr>
        <p:spPr>
          <a:xfrm>
            <a:off x="1016000" y="1397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If we seal the jar with a metal lid…</a:t>
            </a:r>
          </a:p>
        </p:txBody>
      </p:sp>
      <p:sp>
        <p:nvSpPr>
          <p:cNvPr id="5" name="Oval 4">
            <a:extLst>
              <a:ext uri="{FF2B5EF4-FFF2-40B4-BE49-F238E27FC236}">
                <a16:creationId xmlns:a16="http://schemas.microsoft.com/office/drawing/2014/main" id="{B8317218-A532-2AF9-CE48-11A3B2AFE13B}"/>
              </a:ext>
            </a:extLst>
          </p:cNvPr>
          <p:cNvSpPr/>
          <p:nvPr/>
        </p:nvSpPr>
        <p:spPr>
          <a:xfrm>
            <a:off x="1270000" y="2286000"/>
            <a:ext cx="457200" cy="457200"/>
          </a:xfrm>
          <a:prstGeom prst="ellipse">
            <a:avLst/>
          </a:prstGeom>
          <a:solidFill>
            <a:srgbClr val="5EC8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070B14"/>
                </a:solidFill>
              </a:rPr>
              <a:t>A</a:t>
            </a:r>
          </a:p>
        </p:txBody>
      </p:sp>
      <p:sp>
        <p:nvSpPr>
          <p:cNvPr id="6" name="Rectangle: Rounded Corners 5">
            <a:extLst>
              <a:ext uri="{FF2B5EF4-FFF2-40B4-BE49-F238E27FC236}">
                <a16:creationId xmlns:a16="http://schemas.microsoft.com/office/drawing/2014/main" id="{A63C5404-06DD-DAA7-2080-5315613ACEDB}"/>
              </a:ext>
            </a:extLst>
          </p:cNvPr>
          <p:cNvSpPr/>
          <p:nvPr/>
        </p:nvSpPr>
        <p:spPr>
          <a:xfrm>
            <a:off x="1905000" y="2286000"/>
            <a:ext cx="8382000" cy="508000"/>
          </a:xfrm>
          <a:prstGeom prst="roundRect">
            <a:avLst/>
          </a:prstGeom>
          <a:solidFill>
            <a:srgbClr val="101828"/>
          </a:solidFill>
          <a:ln w="19050">
            <a:solidFill>
              <a:srgbClr val="5EC8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a:solidFill>
                  <a:srgbClr val="F2F5FA"/>
                </a:solidFill>
                <a:latin typeface="Calibri" panose="020F0502020204030204" pitchFamily="34" charset="0"/>
              </a:rPr>
              <a:t>  The flame keeps burning the same.</a:t>
            </a:r>
          </a:p>
        </p:txBody>
      </p:sp>
      <p:sp>
        <p:nvSpPr>
          <p:cNvPr id="7" name="Oval 6">
            <a:extLst>
              <a:ext uri="{FF2B5EF4-FFF2-40B4-BE49-F238E27FC236}">
                <a16:creationId xmlns:a16="http://schemas.microsoft.com/office/drawing/2014/main" id="{88BB8D6D-B26B-BFB1-74DC-D69F0952706A}"/>
              </a:ext>
            </a:extLst>
          </p:cNvPr>
          <p:cNvSpPr/>
          <p:nvPr/>
        </p:nvSpPr>
        <p:spPr>
          <a:xfrm>
            <a:off x="1270000" y="3048000"/>
            <a:ext cx="457200" cy="457200"/>
          </a:xfrm>
          <a:prstGeom prst="ellipse">
            <a:avLst/>
          </a:prstGeom>
          <a:solidFill>
            <a:srgbClr val="FF8A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070B14"/>
                </a:solidFill>
              </a:rPr>
              <a:t>B</a:t>
            </a:r>
          </a:p>
        </p:txBody>
      </p:sp>
      <p:sp>
        <p:nvSpPr>
          <p:cNvPr id="8" name="Rectangle: Rounded Corners 7">
            <a:extLst>
              <a:ext uri="{FF2B5EF4-FFF2-40B4-BE49-F238E27FC236}">
                <a16:creationId xmlns:a16="http://schemas.microsoft.com/office/drawing/2014/main" id="{5324925E-B96D-9347-6587-04CA114D6169}"/>
              </a:ext>
            </a:extLst>
          </p:cNvPr>
          <p:cNvSpPr/>
          <p:nvPr/>
        </p:nvSpPr>
        <p:spPr>
          <a:xfrm>
            <a:off x="1905000" y="3048000"/>
            <a:ext cx="8382000" cy="508000"/>
          </a:xfrm>
          <a:prstGeom prst="roundRect">
            <a:avLst/>
          </a:prstGeom>
          <a:solidFill>
            <a:srgbClr val="101828"/>
          </a:solidFill>
          <a:ln w="19050">
            <a:solidFill>
              <a:srgbClr val="FF8A3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a:solidFill>
                  <a:srgbClr val="F2F5FA"/>
                </a:solidFill>
                <a:latin typeface="Calibri" panose="020F0502020204030204" pitchFamily="34" charset="0"/>
              </a:rPr>
              <a:t>  The flame becomes weaker, then may go out.</a:t>
            </a:r>
          </a:p>
        </p:txBody>
      </p:sp>
      <p:sp>
        <p:nvSpPr>
          <p:cNvPr id="9" name="Oval 8">
            <a:extLst>
              <a:ext uri="{FF2B5EF4-FFF2-40B4-BE49-F238E27FC236}">
                <a16:creationId xmlns:a16="http://schemas.microsoft.com/office/drawing/2014/main" id="{C8DA8C8E-9702-F86B-A89E-3D471CA9D8BF}"/>
              </a:ext>
            </a:extLst>
          </p:cNvPr>
          <p:cNvSpPr/>
          <p:nvPr/>
        </p:nvSpPr>
        <p:spPr>
          <a:xfrm>
            <a:off x="1270000" y="3810000"/>
            <a:ext cx="457200" cy="457200"/>
          </a:xfrm>
          <a:prstGeom prst="ellipse">
            <a:avLst/>
          </a:prstGeom>
          <a:solidFill>
            <a:srgbClr val="5EC8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070B14"/>
                </a:solidFill>
              </a:rPr>
              <a:t>C</a:t>
            </a:r>
          </a:p>
        </p:txBody>
      </p:sp>
      <p:sp>
        <p:nvSpPr>
          <p:cNvPr id="10" name="Rectangle: Rounded Corners 9">
            <a:extLst>
              <a:ext uri="{FF2B5EF4-FFF2-40B4-BE49-F238E27FC236}">
                <a16:creationId xmlns:a16="http://schemas.microsoft.com/office/drawing/2014/main" id="{FF26761D-BD0F-B55F-A341-805D4F590804}"/>
              </a:ext>
            </a:extLst>
          </p:cNvPr>
          <p:cNvSpPr/>
          <p:nvPr/>
        </p:nvSpPr>
        <p:spPr>
          <a:xfrm>
            <a:off x="1905000" y="3810000"/>
            <a:ext cx="8382000" cy="508000"/>
          </a:xfrm>
          <a:prstGeom prst="roundRect">
            <a:avLst/>
          </a:prstGeom>
          <a:solidFill>
            <a:srgbClr val="101828"/>
          </a:solidFill>
          <a:ln w="19050">
            <a:solidFill>
              <a:srgbClr val="5EC8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a:solidFill>
                  <a:srgbClr val="F2F5FA"/>
                </a:solidFill>
                <a:latin typeface="Calibri" panose="020F0502020204030204" pitchFamily="34" charset="0"/>
              </a:rPr>
              <a:t>  The flame goes out right away.</a:t>
            </a:r>
          </a:p>
        </p:txBody>
      </p:sp>
      <p:sp>
        <p:nvSpPr>
          <p:cNvPr id="11" name="TextBox 10">
            <a:extLst>
              <a:ext uri="{FF2B5EF4-FFF2-40B4-BE49-F238E27FC236}">
                <a16:creationId xmlns:a16="http://schemas.microsoft.com/office/drawing/2014/main" id="{8AC6A1C3-6260-F8F3-471C-7BDC3C13A638}"/>
              </a:ext>
            </a:extLst>
          </p:cNvPr>
          <p:cNvSpPr txBox="1"/>
          <p:nvPr/>
        </p:nvSpPr>
        <p:spPr>
          <a:xfrm>
            <a:off x="508000" y="4826000"/>
            <a:ext cx="11175695" cy="307777"/>
          </a:xfrm>
          <a:prstGeom prst="rect">
            <a:avLst/>
          </a:prstGeom>
          <a:noFill/>
        </p:spPr>
        <p:txBody>
          <a:bodyPr vert="horz" wrap="square" rtlCol="0">
            <a:spAutoFit/>
          </a:bodyPr>
          <a:lstStyle/>
          <a:p>
            <a:pPr algn="ctr"/>
            <a:r>
              <a:rPr lang="en-US" sz="1400">
                <a:solidFill>
                  <a:srgbClr val="9AA6B8"/>
                </a:solidFill>
                <a:latin typeface="Calibri" panose="020F0502020204030204" pitchFamily="34" charset="0"/>
              </a:rPr>
              <a:t>Vote as a class — then continue to test.</a:t>
            </a:r>
          </a:p>
        </p:txBody>
      </p:sp>
    </p:spTree>
    <p:extLst>
      <p:ext uri="{BB962C8B-B14F-4D97-AF65-F5344CB8AC3E}">
        <p14:creationId xmlns:p14="http://schemas.microsoft.com/office/powerpoint/2010/main" val="2887942431"/>
      </p:ext>
    </p:extLst>
  </p:cSld>
  <p:clrMapOvr>
    <a:masterClrMapping/>
  </p:clrMapOvr>
  <p:transition spd="med">
    <p:cut/>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9237A8-5276-97EE-D10D-59A82F63DBBB}"/>
              </a:ext>
            </a:extLst>
          </p:cNvPr>
          <p:cNvSpPr txBox="1"/>
          <p:nvPr/>
        </p:nvSpPr>
        <p:spPr>
          <a:xfrm>
            <a:off x="508000" y="228600"/>
            <a:ext cx="11175695" cy="276999"/>
          </a:xfrm>
          <a:prstGeom prst="rect">
            <a:avLst/>
          </a:prstGeom>
          <a:noFill/>
        </p:spPr>
        <p:txBody>
          <a:bodyPr vert="horz" wrap="square" rtlCol="0">
            <a:spAutoFit/>
          </a:bodyPr>
          <a:lstStyle/>
          <a:p>
            <a:pPr algn="ctr"/>
            <a:r>
              <a:rPr lang="en-US" sz="1200" b="1">
                <a:solidFill>
                  <a:srgbClr val="5EC8FF"/>
                </a:solidFill>
                <a:latin typeface="Calibri" panose="020F0502020204030204" pitchFamily="34" charset="0"/>
              </a:rPr>
              <a:t>CHAPTER 05  ·  THE CLOSED JAR</a:t>
            </a:r>
          </a:p>
        </p:txBody>
      </p:sp>
      <p:sp>
        <p:nvSpPr>
          <p:cNvPr id="3" name="TextBox 2">
            <a:extLst>
              <a:ext uri="{FF2B5EF4-FFF2-40B4-BE49-F238E27FC236}">
                <a16:creationId xmlns:a16="http://schemas.microsoft.com/office/drawing/2014/main" id="{46E985E1-858C-B8C4-00B1-1A5E5737B1FA}"/>
              </a:ext>
            </a:extLst>
          </p:cNvPr>
          <p:cNvSpPr txBox="1"/>
          <p:nvPr/>
        </p:nvSpPr>
        <p:spPr>
          <a:xfrm>
            <a:off x="508000" y="635000"/>
            <a:ext cx="11175695" cy="584775"/>
          </a:xfrm>
          <a:prstGeom prst="rect">
            <a:avLst/>
          </a:prstGeom>
          <a:noFill/>
        </p:spPr>
        <p:txBody>
          <a:bodyPr vert="horz" wrap="square" rtlCol="0">
            <a:spAutoFit/>
          </a:bodyPr>
          <a:lstStyle/>
          <a:p>
            <a:pPr algn="ctr"/>
            <a:r>
              <a:rPr lang="en-US" sz="3200" b="1">
                <a:solidFill>
                  <a:srgbClr val="F2F5FA"/>
                </a:solidFill>
                <a:latin typeface="Calibri" panose="020F0502020204030204" pitchFamily="34" charset="0"/>
              </a:rPr>
              <a:t>Trap the air.</a:t>
            </a:r>
          </a:p>
        </p:txBody>
      </p:sp>
      <p:sp>
        <p:nvSpPr>
          <p:cNvPr id="4" name="TextBox 3">
            <a:extLst>
              <a:ext uri="{FF2B5EF4-FFF2-40B4-BE49-F238E27FC236}">
                <a16:creationId xmlns:a16="http://schemas.microsoft.com/office/drawing/2014/main" id="{2DA4D070-05D5-458C-53BD-25FA5D135656}"/>
              </a:ext>
            </a:extLst>
          </p:cNvPr>
          <p:cNvSpPr txBox="1"/>
          <p:nvPr/>
        </p:nvSpPr>
        <p:spPr>
          <a:xfrm>
            <a:off x="1016000" y="1397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Place the metal lid. Watch the air inside — and the flame.</a:t>
            </a:r>
          </a:p>
        </p:txBody>
      </p:sp>
      <p:pic>
        <p:nvPicPr>
          <p:cNvPr id="6" name="Picture 5">
            <a:extLst>
              <a:ext uri="{FF2B5EF4-FFF2-40B4-BE49-F238E27FC236}">
                <a16:creationId xmlns:a16="http://schemas.microsoft.com/office/drawing/2014/main" id="{8C32CECD-DD8C-1E88-41E7-FD120432213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70000" y="2032000"/>
            <a:ext cx="9652000" cy="4318000"/>
          </a:xfrm>
          <a:prstGeom prst="rect">
            <a:avLst/>
          </a:prstGeom>
        </p:spPr>
      </p:pic>
    </p:spTree>
    <p:extLst>
      <p:ext uri="{BB962C8B-B14F-4D97-AF65-F5344CB8AC3E}">
        <p14:creationId xmlns:p14="http://schemas.microsoft.com/office/powerpoint/2010/main" val="1626652895"/>
      </p:ext>
    </p:extLst>
  </p:cSld>
  <p:clrMapOvr>
    <a:masterClrMapping/>
  </p:clrMapOvr>
  <p:transition spd="med">
    <p:cut/>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33F50-E0BE-837E-9801-992EF1C6C2B7}"/>
              </a:ext>
            </a:extLst>
          </p:cNvPr>
          <p:cNvSpPr txBox="1"/>
          <p:nvPr/>
        </p:nvSpPr>
        <p:spPr>
          <a:xfrm>
            <a:off x="508000" y="228600"/>
            <a:ext cx="11175695" cy="276999"/>
          </a:xfrm>
          <a:prstGeom prst="rect">
            <a:avLst/>
          </a:prstGeom>
          <a:noFill/>
        </p:spPr>
        <p:txBody>
          <a:bodyPr vert="horz" wrap="square" rtlCol="0">
            <a:spAutoFit/>
          </a:bodyPr>
          <a:lstStyle/>
          <a:p>
            <a:pPr algn="ctr"/>
            <a:r>
              <a:rPr lang="en-US" sz="1200" b="1">
                <a:solidFill>
                  <a:srgbClr val="5EC8FF"/>
                </a:solidFill>
                <a:latin typeface="Calibri" panose="020F0502020204030204" pitchFamily="34" charset="0"/>
              </a:rPr>
              <a:t>CHAPTER 06  ·  OBSERVATION</a:t>
            </a:r>
          </a:p>
        </p:txBody>
      </p:sp>
      <p:sp>
        <p:nvSpPr>
          <p:cNvPr id="3" name="TextBox 2">
            <a:extLst>
              <a:ext uri="{FF2B5EF4-FFF2-40B4-BE49-F238E27FC236}">
                <a16:creationId xmlns:a16="http://schemas.microsoft.com/office/drawing/2014/main" id="{592CF257-CC66-AFAD-A78C-B43FECD1B371}"/>
              </a:ext>
            </a:extLst>
          </p:cNvPr>
          <p:cNvSpPr txBox="1"/>
          <p:nvPr/>
        </p:nvSpPr>
        <p:spPr>
          <a:xfrm>
            <a:off x="508000" y="635000"/>
            <a:ext cx="11175695" cy="584775"/>
          </a:xfrm>
          <a:prstGeom prst="rect">
            <a:avLst/>
          </a:prstGeom>
          <a:noFill/>
        </p:spPr>
        <p:txBody>
          <a:bodyPr vert="horz" wrap="square" rtlCol="0">
            <a:spAutoFit/>
          </a:bodyPr>
          <a:lstStyle/>
          <a:p>
            <a:pPr algn="ctr"/>
            <a:r>
              <a:rPr lang="en-US" sz="3200" b="1">
                <a:solidFill>
                  <a:srgbClr val="F2F5FA"/>
                </a:solidFill>
                <a:latin typeface="Calibri" panose="020F0502020204030204" pitchFamily="34" charset="0"/>
              </a:rPr>
              <a:t>The flame goes out.</a:t>
            </a:r>
          </a:p>
        </p:txBody>
      </p:sp>
      <p:sp>
        <p:nvSpPr>
          <p:cNvPr id="4" name="TextBox 3">
            <a:extLst>
              <a:ext uri="{FF2B5EF4-FFF2-40B4-BE49-F238E27FC236}">
                <a16:creationId xmlns:a16="http://schemas.microsoft.com/office/drawing/2014/main" id="{8271CE30-2FE2-2726-0C68-E4D3C2F9DF6D}"/>
              </a:ext>
            </a:extLst>
          </p:cNvPr>
          <p:cNvSpPr txBox="1"/>
          <p:nvPr/>
        </p:nvSpPr>
        <p:spPr>
          <a:xfrm>
            <a:off x="1016000" y="1397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The flame gradually weakens… then the candle goes out after a short time.</a:t>
            </a:r>
          </a:p>
        </p:txBody>
      </p:sp>
      <p:pic>
        <p:nvPicPr>
          <p:cNvPr id="6" name="Picture 5">
            <a:extLst>
              <a:ext uri="{FF2B5EF4-FFF2-40B4-BE49-F238E27FC236}">
                <a16:creationId xmlns:a16="http://schemas.microsoft.com/office/drawing/2014/main" id="{08DFE8D1-254E-ECD6-F0C7-4CF78311582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59000"/>
            <a:ext cx="11176000" cy="3556000"/>
          </a:xfrm>
          <a:prstGeom prst="rect">
            <a:avLst/>
          </a:prstGeom>
        </p:spPr>
      </p:pic>
      <p:sp>
        <p:nvSpPr>
          <p:cNvPr id="7" name="TextBox 6">
            <a:extLst>
              <a:ext uri="{FF2B5EF4-FFF2-40B4-BE49-F238E27FC236}">
                <a16:creationId xmlns:a16="http://schemas.microsoft.com/office/drawing/2014/main" id="{BEF0F1E1-F030-F75B-45DB-BDE99177F0E4}"/>
              </a:ext>
            </a:extLst>
          </p:cNvPr>
          <p:cNvSpPr txBox="1"/>
          <p:nvPr/>
        </p:nvSpPr>
        <p:spPr>
          <a:xfrm>
            <a:off x="508000" y="5969000"/>
            <a:ext cx="11175695" cy="323165"/>
          </a:xfrm>
          <a:prstGeom prst="rect">
            <a:avLst/>
          </a:prstGeom>
          <a:noFill/>
        </p:spPr>
        <p:txBody>
          <a:bodyPr vert="horz" wrap="square" rtlCol="0">
            <a:spAutoFit/>
          </a:bodyPr>
          <a:lstStyle/>
          <a:p>
            <a:pPr algn="ctr"/>
            <a:r>
              <a:rPr lang="en-US" sz="1500" b="1">
                <a:solidFill>
                  <a:srgbClr val="9EFFF0"/>
                </a:solidFill>
                <a:latin typeface="Calibri" panose="020F0502020204030204" pitchFamily="34" charset="0"/>
              </a:rPr>
              <a:t>Prediction check: B matches the observation best.</a:t>
            </a:r>
          </a:p>
        </p:txBody>
      </p:sp>
    </p:spTree>
    <p:extLst>
      <p:ext uri="{BB962C8B-B14F-4D97-AF65-F5344CB8AC3E}">
        <p14:creationId xmlns:p14="http://schemas.microsoft.com/office/powerpoint/2010/main" val="3306945210"/>
      </p:ext>
    </p:extLst>
  </p:cSld>
  <p:clrMapOvr>
    <a:masterClrMapping/>
  </p:clrMapOvr>
  <p:transition spd="med">
    <p:cut/>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D7B5E-A785-928B-3E4B-61423FB1C8ED}"/>
              </a:ext>
            </a:extLst>
          </p:cNvPr>
          <p:cNvSpPr txBox="1"/>
          <p:nvPr/>
        </p:nvSpPr>
        <p:spPr>
          <a:xfrm>
            <a:off x="508000" y="228600"/>
            <a:ext cx="11175695" cy="276999"/>
          </a:xfrm>
          <a:prstGeom prst="rect">
            <a:avLst/>
          </a:prstGeom>
          <a:noFill/>
        </p:spPr>
        <p:txBody>
          <a:bodyPr vert="horz" wrap="square" rtlCol="0">
            <a:spAutoFit/>
          </a:bodyPr>
          <a:lstStyle/>
          <a:p>
            <a:pPr algn="ctr"/>
            <a:r>
              <a:rPr lang="en-US" sz="1200" b="1">
                <a:solidFill>
                  <a:srgbClr val="5EC8FF"/>
                </a:solidFill>
                <a:latin typeface="Calibri" panose="020F0502020204030204" pitchFamily="34" charset="0"/>
              </a:rPr>
              <a:t>CHAPTER 07  ·  WHY?</a:t>
            </a:r>
          </a:p>
        </p:txBody>
      </p:sp>
      <p:sp>
        <p:nvSpPr>
          <p:cNvPr id="3" name="TextBox 2">
            <a:extLst>
              <a:ext uri="{FF2B5EF4-FFF2-40B4-BE49-F238E27FC236}">
                <a16:creationId xmlns:a16="http://schemas.microsoft.com/office/drawing/2014/main" id="{612A4856-59E6-56AD-169B-7F7AA6791833}"/>
              </a:ext>
            </a:extLst>
          </p:cNvPr>
          <p:cNvSpPr txBox="1"/>
          <p:nvPr/>
        </p:nvSpPr>
        <p:spPr>
          <a:xfrm>
            <a:off x="508000" y="635000"/>
            <a:ext cx="11175695" cy="584775"/>
          </a:xfrm>
          <a:prstGeom prst="rect">
            <a:avLst/>
          </a:prstGeom>
          <a:noFill/>
        </p:spPr>
        <p:txBody>
          <a:bodyPr vert="horz" wrap="square" rtlCol="0">
            <a:spAutoFit/>
          </a:bodyPr>
          <a:lstStyle/>
          <a:p>
            <a:pPr algn="ctr"/>
            <a:r>
              <a:rPr lang="en-US" sz="3200" b="1">
                <a:solidFill>
                  <a:srgbClr val="F2F5FA"/>
                </a:solidFill>
                <a:latin typeface="Calibri" panose="020F0502020204030204" pitchFamily="34" charset="0"/>
              </a:rPr>
              <a:t>The air inside was used up.</a:t>
            </a:r>
          </a:p>
        </p:txBody>
      </p:sp>
      <p:sp>
        <p:nvSpPr>
          <p:cNvPr id="4" name="TextBox 3">
            <a:extLst>
              <a:ext uri="{FF2B5EF4-FFF2-40B4-BE49-F238E27FC236}">
                <a16:creationId xmlns:a16="http://schemas.microsoft.com/office/drawing/2014/main" id="{2A39AD95-D6BB-A061-49C1-07267E3E1BAD}"/>
              </a:ext>
            </a:extLst>
          </p:cNvPr>
          <p:cNvSpPr txBox="1"/>
          <p:nvPr/>
        </p:nvSpPr>
        <p:spPr>
          <a:xfrm>
            <a:off x="1016000" y="1397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In a closed jar, the air is used up. Once it runs out, the candle goes out.</a:t>
            </a:r>
          </a:p>
        </p:txBody>
      </p:sp>
      <p:pic>
        <p:nvPicPr>
          <p:cNvPr id="6" name="Picture 5">
            <a:extLst>
              <a:ext uri="{FF2B5EF4-FFF2-40B4-BE49-F238E27FC236}">
                <a16:creationId xmlns:a16="http://schemas.microsoft.com/office/drawing/2014/main" id="{EC81312D-B0ED-3203-2467-6AEFE03CDAD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54000" y="2159000"/>
            <a:ext cx="2794000" cy="3556000"/>
          </a:xfrm>
          <a:prstGeom prst="rect">
            <a:avLst/>
          </a:prstGeom>
        </p:spPr>
      </p:pic>
      <p:pic>
        <p:nvPicPr>
          <p:cNvPr id="8" name="Picture 7">
            <a:extLst>
              <a:ext uri="{FF2B5EF4-FFF2-40B4-BE49-F238E27FC236}">
                <a16:creationId xmlns:a16="http://schemas.microsoft.com/office/drawing/2014/main" id="{97858AA2-1D3A-5E27-9A7C-A328E42C791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238500" y="2159000"/>
            <a:ext cx="2794000" cy="3556000"/>
          </a:xfrm>
          <a:prstGeom prst="rect">
            <a:avLst/>
          </a:prstGeom>
        </p:spPr>
      </p:pic>
      <p:pic>
        <p:nvPicPr>
          <p:cNvPr id="10" name="Picture 9">
            <a:extLst>
              <a:ext uri="{FF2B5EF4-FFF2-40B4-BE49-F238E27FC236}">
                <a16:creationId xmlns:a16="http://schemas.microsoft.com/office/drawing/2014/main" id="{9CF44F2C-C39F-74BD-1D0E-1A8BD5FFBC2F}"/>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223000" y="2159000"/>
            <a:ext cx="2794000" cy="3556000"/>
          </a:xfrm>
          <a:prstGeom prst="rect">
            <a:avLst/>
          </a:prstGeom>
        </p:spPr>
      </p:pic>
      <p:pic>
        <p:nvPicPr>
          <p:cNvPr id="12" name="Picture 11">
            <a:extLst>
              <a:ext uri="{FF2B5EF4-FFF2-40B4-BE49-F238E27FC236}">
                <a16:creationId xmlns:a16="http://schemas.microsoft.com/office/drawing/2014/main" id="{B207C3A9-EA5A-CE4E-4F80-ADEB4A4C83BE}"/>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9207500" y="2159000"/>
            <a:ext cx="2794000" cy="3556000"/>
          </a:xfrm>
          <a:prstGeom prst="rect">
            <a:avLst/>
          </a:prstGeom>
        </p:spPr>
      </p:pic>
    </p:spTree>
    <p:extLst>
      <p:ext uri="{BB962C8B-B14F-4D97-AF65-F5344CB8AC3E}">
        <p14:creationId xmlns:p14="http://schemas.microsoft.com/office/powerpoint/2010/main" val="1991422870"/>
      </p:ext>
    </p:extLst>
  </p:cSld>
  <p:clrMapOvr>
    <a:masterClrMapping/>
  </p:clrMapOvr>
  <p:transition spd="med">
    <p:cut/>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C05C2E-5C3D-FDA9-FBF1-FC5729652CB0}"/>
              </a:ext>
            </a:extLst>
          </p:cNvPr>
          <p:cNvSpPr txBox="1"/>
          <p:nvPr/>
        </p:nvSpPr>
        <p:spPr>
          <a:xfrm>
            <a:off x="508000" y="228600"/>
            <a:ext cx="11175695" cy="276999"/>
          </a:xfrm>
          <a:prstGeom prst="rect">
            <a:avLst/>
          </a:prstGeom>
          <a:noFill/>
        </p:spPr>
        <p:txBody>
          <a:bodyPr vert="horz" wrap="square" rtlCol="0">
            <a:spAutoFit/>
          </a:bodyPr>
          <a:lstStyle/>
          <a:p>
            <a:pPr algn="ctr"/>
            <a:r>
              <a:rPr lang="en-US" sz="1200" b="1">
                <a:solidFill>
                  <a:srgbClr val="5EC8FF"/>
                </a:solidFill>
                <a:latin typeface="Calibri" panose="020F0502020204030204" pitchFamily="34" charset="0"/>
              </a:rPr>
              <a:t>CHAPTER 08  ·  FRESH AIR</a:t>
            </a:r>
          </a:p>
        </p:txBody>
      </p:sp>
      <p:sp>
        <p:nvSpPr>
          <p:cNvPr id="3" name="TextBox 2">
            <a:extLst>
              <a:ext uri="{FF2B5EF4-FFF2-40B4-BE49-F238E27FC236}">
                <a16:creationId xmlns:a16="http://schemas.microsoft.com/office/drawing/2014/main" id="{16A6730E-EA18-408A-1EC2-7C4DD0ED02ED}"/>
              </a:ext>
            </a:extLst>
          </p:cNvPr>
          <p:cNvSpPr txBox="1"/>
          <p:nvPr/>
        </p:nvSpPr>
        <p:spPr>
          <a:xfrm>
            <a:off x="508000" y="635000"/>
            <a:ext cx="11175695" cy="584775"/>
          </a:xfrm>
          <a:prstGeom prst="rect">
            <a:avLst/>
          </a:prstGeom>
          <a:noFill/>
        </p:spPr>
        <p:txBody>
          <a:bodyPr vert="horz" wrap="square" rtlCol="0">
            <a:spAutoFit/>
          </a:bodyPr>
          <a:lstStyle/>
          <a:p>
            <a:pPr algn="ctr"/>
            <a:r>
              <a:rPr lang="en-US" sz="3200" b="1">
                <a:solidFill>
                  <a:srgbClr val="F2F5FA"/>
                </a:solidFill>
                <a:latin typeface="Calibri" panose="020F0502020204030204" pitchFamily="34" charset="0"/>
              </a:rPr>
              <a:t>Fresh air in. Warm air out.</a:t>
            </a:r>
          </a:p>
        </p:txBody>
      </p:sp>
      <p:sp>
        <p:nvSpPr>
          <p:cNvPr id="4" name="TextBox 3">
            <a:extLst>
              <a:ext uri="{FF2B5EF4-FFF2-40B4-BE49-F238E27FC236}">
                <a16:creationId xmlns:a16="http://schemas.microsoft.com/office/drawing/2014/main" id="{C7A500D7-9092-7B04-70AC-18A5556721C6}"/>
              </a:ext>
            </a:extLst>
          </p:cNvPr>
          <p:cNvSpPr txBox="1"/>
          <p:nvPr/>
        </p:nvSpPr>
        <p:spPr>
          <a:xfrm>
            <a:off x="1016000" y="1397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Gap at the bottom + opening at the top → air is constantly renewed.</a:t>
            </a:r>
          </a:p>
        </p:txBody>
      </p:sp>
      <p:pic>
        <p:nvPicPr>
          <p:cNvPr id="6" name="Picture 5">
            <a:extLst>
              <a:ext uri="{FF2B5EF4-FFF2-40B4-BE49-F238E27FC236}">
                <a16:creationId xmlns:a16="http://schemas.microsoft.com/office/drawing/2014/main" id="{8E2394C9-DC39-7931-F9A6-B47F742F2F4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16000" y="1968500"/>
            <a:ext cx="10160000" cy="4445000"/>
          </a:xfrm>
          <a:prstGeom prst="rect">
            <a:avLst/>
          </a:prstGeom>
        </p:spPr>
      </p:pic>
    </p:spTree>
    <p:extLst>
      <p:ext uri="{BB962C8B-B14F-4D97-AF65-F5344CB8AC3E}">
        <p14:creationId xmlns:p14="http://schemas.microsoft.com/office/powerpoint/2010/main" val="3641458836"/>
      </p:ext>
    </p:extLst>
  </p:cSld>
  <p:clrMapOvr>
    <a:masterClrMapping/>
  </p:clrMapOvr>
  <p:transition spd="med">
    <p:cut/>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5CF469-93E0-152A-4FEB-07AB4BC6C866}"/>
              </a:ext>
            </a:extLst>
          </p:cNvPr>
          <p:cNvSpPr txBox="1"/>
          <p:nvPr/>
        </p:nvSpPr>
        <p:spPr>
          <a:xfrm>
            <a:off x="508000" y="228600"/>
            <a:ext cx="11175695" cy="276999"/>
          </a:xfrm>
          <a:prstGeom prst="rect">
            <a:avLst/>
          </a:prstGeom>
          <a:noFill/>
        </p:spPr>
        <p:txBody>
          <a:bodyPr vert="horz" wrap="square" rtlCol="0">
            <a:spAutoFit/>
          </a:bodyPr>
          <a:lstStyle/>
          <a:p>
            <a:pPr algn="ctr"/>
            <a:r>
              <a:rPr lang="en-US" sz="1200" b="1">
                <a:solidFill>
                  <a:srgbClr val="5EC8FF"/>
                </a:solidFill>
                <a:latin typeface="Calibri" panose="020F0502020204030204" pitchFamily="34" charset="0"/>
              </a:rPr>
              <a:t>EXPERIMENT NUANCE</a:t>
            </a:r>
          </a:p>
        </p:txBody>
      </p:sp>
      <p:sp>
        <p:nvSpPr>
          <p:cNvPr id="3" name="TextBox 2">
            <a:extLst>
              <a:ext uri="{FF2B5EF4-FFF2-40B4-BE49-F238E27FC236}">
                <a16:creationId xmlns:a16="http://schemas.microsoft.com/office/drawing/2014/main" id="{0C136361-185A-A332-2600-2696FA5EE305}"/>
              </a:ext>
            </a:extLst>
          </p:cNvPr>
          <p:cNvSpPr txBox="1"/>
          <p:nvPr/>
        </p:nvSpPr>
        <p:spPr>
          <a:xfrm>
            <a:off x="508000" y="635000"/>
            <a:ext cx="11175695" cy="584775"/>
          </a:xfrm>
          <a:prstGeom prst="rect">
            <a:avLst/>
          </a:prstGeom>
          <a:noFill/>
        </p:spPr>
        <p:txBody>
          <a:bodyPr vert="horz" wrap="square" rtlCol="0">
            <a:spAutoFit/>
          </a:bodyPr>
          <a:lstStyle/>
          <a:p>
            <a:pPr algn="ctr"/>
            <a:r>
              <a:rPr lang="en-US" sz="3200" b="1">
                <a:solidFill>
                  <a:srgbClr val="F2F5FA"/>
                </a:solidFill>
                <a:latin typeface="Calibri" panose="020F0502020204030204" pitchFamily="34" charset="0"/>
              </a:rPr>
              <a:t>Bottom gap alone is not enough.</a:t>
            </a:r>
          </a:p>
        </p:txBody>
      </p:sp>
      <p:sp>
        <p:nvSpPr>
          <p:cNvPr id="4" name="TextBox 3">
            <a:extLst>
              <a:ext uri="{FF2B5EF4-FFF2-40B4-BE49-F238E27FC236}">
                <a16:creationId xmlns:a16="http://schemas.microsoft.com/office/drawing/2014/main" id="{50C3335C-3B94-0689-25E3-2E3E0F2CC491}"/>
              </a:ext>
            </a:extLst>
          </p:cNvPr>
          <p:cNvSpPr txBox="1"/>
          <p:nvPr/>
        </p:nvSpPr>
        <p:spPr>
          <a:xfrm>
            <a:off x="1016000" y="1397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Lid on + small bottom gap → flame goes out after a slightly longer time.</a:t>
            </a:r>
          </a:p>
        </p:txBody>
      </p:sp>
      <p:pic>
        <p:nvPicPr>
          <p:cNvPr id="6" name="Picture 5">
            <a:extLst>
              <a:ext uri="{FF2B5EF4-FFF2-40B4-BE49-F238E27FC236}">
                <a16:creationId xmlns:a16="http://schemas.microsoft.com/office/drawing/2014/main" id="{040480D3-8499-8F15-0721-BF3EE8E6AB8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16000" y="1968500"/>
            <a:ext cx="10160000" cy="4445000"/>
          </a:xfrm>
          <a:prstGeom prst="rect">
            <a:avLst/>
          </a:prstGeom>
        </p:spPr>
      </p:pic>
    </p:spTree>
    <p:extLst>
      <p:ext uri="{BB962C8B-B14F-4D97-AF65-F5344CB8AC3E}">
        <p14:creationId xmlns:p14="http://schemas.microsoft.com/office/powerpoint/2010/main" val="3475664163"/>
      </p:ext>
    </p:extLst>
  </p:cSld>
  <p:clrMapOvr>
    <a:masterClrMapping/>
  </p:clrMapOvr>
  <p:transition spd="med">
    <p:cut/>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2F0B7B-ECFC-FAA9-6DEA-DA2AA9E5B88B}"/>
              </a:ext>
            </a:extLst>
          </p:cNvPr>
          <p:cNvSpPr txBox="1"/>
          <p:nvPr/>
        </p:nvSpPr>
        <p:spPr>
          <a:xfrm>
            <a:off x="508000" y="228600"/>
            <a:ext cx="11175695" cy="276999"/>
          </a:xfrm>
          <a:prstGeom prst="rect">
            <a:avLst/>
          </a:prstGeom>
          <a:noFill/>
        </p:spPr>
        <p:txBody>
          <a:bodyPr vert="horz" wrap="square" rtlCol="0">
            <a:spAutoFit/>
          </a:bodyPr>
          <a:lstStyle/>
          <a:p>
            <a:pPr algn="ctr"/>
            <a:r>
              <a:rPr lang="en-US" sz="1200" b="1">
                <a:solidFill>
                  <a:srgbClr val="5EC8FF"/>
                </a:solidFill>
                <a:latin typeface="Calibri" panose="020F0502020204030204" pitchFamily="34" charset="0"/>
              </a:rPr>
              <a:t>CHAPTER 09  ·  THE AHA MOMENT</a:t>
            </a:r>
          </a:p>
        </p:txBody>
      </p:sp>
      <p:sp>
        <p:nvSpPr>
          <p:cNvPr id="3" name="TextBox 2">
            <a:extLst>
              <a:ext uri="{FF2B5EF4-FFF2-40B4-BE49-F238E27FC236}">
                <a16:creationId xmlns:a16="http://schemas.microsoft.com/office/drawing/2014/main" id="{6F14C934-C383-0768-4FDB-DEF7009A6A34}"/>
              </a:ext>
            </a:extLst>
          </p:cNvPr>
          <p:cNvSpPr txBox="1"/>
          <p:nvPr/>
        </p:nvSpPr>
        <p:spPr>
          <a:xfrm>
            <a:off x="508000" y="635000"/>
            <a:ext cx="11175695" cy="584775"/>
          </a:xfrm>
          <a:prstGeom prst="rect">
            <a:avLst/>
          </a:prstGeom>
          <a:noFill/>
        </p:spPr>
        <p:txBody>
          <a:bodyPr vert="horz" wrap="square" rtlCol="0">
            <a:spAutoFit/>
          </a:bodyPr>
          <a:lstStyle/>
          <a:p>
            <a:pPr algn="ctr"/>
            <a:r>
              <a:rPr lang="en-US" sz="3200" b="1">
                <a:solidFill>
                  <a:srgbClr val="F2F5FA"/>
                </a:solidFill>
                <a:latin typeface="Calibri" panose="020F0502020204030204" pitchFamily="34" charset="0"/>
              </a:rPr>
              <a:t>Closed vs. airflow.</a:t>
            </a:r>
          </a:p>
        </p:txBody>
      </p:sp>
      <p:sp>
        <p:nvSpPr>
          <p:cNvPr id="4" name="TextBox 3">
            <a:extLst>
              <a:ext uri="{FF2B5EF4-FFF2-40B4-BE49-F238E27FC236}">
                <a16:creationId xmlns:a16="http://schemas.microsoft.com/office/drawing/2014/main" id="{1E0A6D81-9F89-95F8-58D8-A33F495494BE}"/>
              </a:ext>
            </a:extLst>
          </p:cNvPr>
          <p:cNvSpPr txBox="1"/>
          <p:nvPr/>
        </p:nvSpPr>
        <p:spPr>
          <a:xfrm>
            <a:off x="1016000" y="1397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Sealed air runs out. Continuous fresh air keeps burning going.</a:t>
            </a:r>
          </a:p>
        </p:txBody>
      </p:sp>
      <p:pic>
        <p:nvPicPr>
          <p:cNvPr id="6" name="Picture 5">
            <a:extLst>
              <a:ext uri="{FF2B5EF4-FFF2-40B4-BE49-F238E27FC236}">
                <a16:creationId xmlns:a16="http://schemas.microsoft.com/office/drawing/2014/main" id="{4A380FD2-D59C-26E7-A25E-A659943CE86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1968500"/>
            <a:ext cx="10922000" cy="4445000"/>
          </a:xfrm>
          <a:prstGeom prst="rect">
            <a:avLst/>
          </a:prstGeom>
        </p:spPr>
      </p:pic>
    </p:spTree>
    <p:extLst>
      <p:ext uri="{BB962C8B-B14F-4D97-AF65-F5344CB8AC3E}">
        <p14:creationId xmlns:p14="http://schemas.microsoft.com/office/powerpoint/2010/main" val="3724610969"/>
      </p:ext>
    </p:extLst>
  </p:cSld>
  <p:clrMapOvr>
    <a:masterClrMapping/>
  </p:clrMapOvr>
  <p:transition spd="med">
    <p:cut/>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40D651-2C55-1EC8-3E9F-1DFCB92D30FF}"/>
              </a:ext>
            </a:extLst>
          </p:cNvPr>
          <p:cNvSpPr txBox="1"/>
          <p:nvPr/>
        </p:nvSpPr>
        <p:spPr>
          <a:xfrm>
            <a:off x="508000" y="228600"/>
            <a:ext cx="11175695" cy="276999"/>
          </a:xfrm>
          <a:prstGeom prst="rect">
            <a:avLst/>
          </a:prstGeom>
          <a:noFill/>
        </p:spPr>
        <p:txBody>
          <a:bodyPr vert="horz" wrap="square" rtlCol="0">
            <a:spAutoFit/>
          </a:bodyPr>
          <a:lstStyle/>
          <a:p>
            <a:pPr algn="ctr"/>
            <a:r>
              <a:rPr lang="en-US" sz="1200" b="1">
                <a:solidFill>
                  <a:srgbClr val="5EC8FF"/>
                </a:solidFill>
                <a:latin typeface="Calibri" panose="020F0502020204030204" pitchFamily="34" charset="0"/>
              </a:rPr>
              <a:t>DIAGRAM  ·  EDITABLE SHAPES</a:t>
            </a:r>
          </a:p>
        </p:txBody>
      </p:sp>
      <p:sp>
        <p:nvSpPr>
          <p:cNvPr id="3" name="TextBox 2">
            <a:extLst>
              <a:ext uri="{FF2B5EF4-FFF2-40B4-BE49-F238E27FC236}">
                <a16:creationId xmlns:a16="http://schemas.microsoft.com/office/drawing/2014/main" id="{678C98D5-4C15-3F42-3BF6-F4C024646E23}"/>
              </a:ext>
            </a:extLst>
          </p:cNvPr>
          <p:cNvSpPr txBox="1"/>
          <p:nvPr/>
        </p:nvSpPr>
        <p:spPr>
          <a:xfrm>
            <a:off x="508000" y="635000"/>
            <a:ext cx="11175695" cy="584775"/>
          </a:xfrm>
          <a:prstGeom prst="rect">
            <a:avLst/>
          </a:prstGeom>
          <a:noFill/>
        </p:spPr>
        <p:txBody>
          <a:bodyPr vert="horz" wrap="square" rtlCol="0">
            <a:spAutoFit/>
          </a:bodyPr>
          <a:lstStyle/>
          <a:p>
            <a:pPr algn="ctr"/>
            <a:r>
              <a:rPr lang="en-US" sz="3200" b="1">
                <a:solidFill>
                  <a:srgbClr val="F2F5FA"/>
                </a:solidFill>
                <a:latin typeface="Calibri" panose="020F0502020204030204" pitchFamily="34" charset="0"/>
              </a:rPr>
              <a:t>Build the science with shapes.</a:t>
            </a:r>
          </a:p>
        </p:txBody>
      </p:sp>
      <p:sp>
        <p:nvSpPr>
          <p:cNvPr id="4" name="TextBox 3">
            <a:extLst>
              <a:ext uri="{FF2B5EF4-FFF2-40B4-BE49-F238E27FC236}">
                <a16:creationId xmlns:a16="http://schemas.microsoft.com/office/drawing/2014/main" id="{FE0E9671-365C-74CB-8427-B5F749EEABC4}"/>
              </a:ext>
            </a:extLst>
          </p:cNvPr>
          <p:cNvSpPr txBox="1"/>
          <p:nvPr/>
        </p:nvSpPr>
        <p:spPr>
          <a:xfrm>
            <a:off x="1016000" y="1397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Closed (left) vs airflow (right) — PowerPoint objects you can edit.</a:t>
            </a:r>
          </a:p>
        </p:txBody>
      </p:sp>
      <p:sp>
        <p:nvSpPr>
          <p:cNvPr id="5" name="Rectangle: Rounded Corners 4">
            <a:extLst>
              <a:ext uri="{FF2B5EF4-FFF2-40B4-BE49-F238E27FC236}">
                <a16:creationId xmlns:a16="http://schemas.microsoft.com/office/drawing/2014/main" id="{1C8A4A5B-E990-FCCC-EB00-B222871ED7B1}"/>
              </a:ext>
            </a:extLst>
          </p:cNvPr>
          <p:cNvSpPr/>
          <p:nvPr/>
        </p:nvSpPr>
        <p:spPr>
          <a:xfrm>
            <a:off x="2032000" y="4064000"/>
            <a:ext cx="2286000" cy="228600"/>
          </a:xfrm>
          <a:prstGeom prst="roundRect">
            <a:avLst/>
          </a:prstGeom>
          <a:solidFill>
            <a:srgbClr val="8B6A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16253CF-4874-2F59-266F-11C2269785C5}"/>
              </a:ext>
            </a:extLst>
          </p:cNvPr>
          <p:cNvSpPr/>
          <p:nvPr/>
        </p:nvSpPr>
        <p:spPr>
          <a:xfrm>
            <a:off x="2667000" y="3911600"/>
            <a:ext cx="1016000" cy="304800"/>
          </a:xfrm>
          <a:prstGeom prst="ellipse">
            <a:avLst/>
          </a:prstGeom>
          <a:solidFill>
            <a:srgbClr val="2F5F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8341CE9B-38E2-FE2B-FDDF-B66275DFBC74}"/>
              </a:ext>
            </a:extLst>
          </p:cNvPr>
          <p:cNvSpPr/>
          <p:nvPr/>
        </p:nvSpPr>
        <p:spPr>
          <a:xfrm>
            <a:off x="3022600" y="3302000"/>
            <a:ext cx="304800" cy="635000"/>
          </a:xfrm>
          <a:prstGeom prst="roundRect">
            <a:avLst/>
          </a:prstGeom>
          <a:solidFill>
            <a:srgbClr val="F3EA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43C07542-69FC-20E6-351D-E6D4875BC78A}"/>
              </a:ext>
            </a:extLst>
          </p:cNvPr>
          <p:cNvSpPr/>
          <p:nvPr/>
        </p:nvSpPr>
        <p:spPr>
          <a:xfrm>
            <a:off x="2476500" y="2540000"/>
            <a:ext cx="1397000" cy="1651000"/>
          </a:xfrm>
          <a:prstGeom prst="roundRect">
            <a:avLst/>
          </a:prstGeom>
          <a:solidFill>
            <a:srgbClr val="101828">
              <a:alpha val="65000"/>
            </a:srgbClr>
          </a:solidFill>
          <a:ln w="19050">
            <a:solidFill>
              <a:srgbClr val="5EC8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5879CC32-6A21-087F-F241-EFCE945A69DC}"/>
              </a:ext>
            </a:extLst>
          </p:cNvPr>
          <p:cNvSpPr/>
          <p:nvPr/>
        </p:nvSpPr>
        <p:spPr>
          <a:xfrm>
            <a:off x="2387600" y="2413000"/>
            <a:ext cx="1574800" cy="177800"/>
          </a:xfrm>
          <a:prstGeom prst="roundRect">
            <a:avLst/>
          </a:prstGeom>
          <a:solidFill>
            <a:srgbClr val="C9A2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B4A4D1D-37DF-20DA-ACB1-C51051A5EDF4}"/>
              </a:ext>
            </a:extLst>
          </p:cNvPr>
          <p:cNvSpPr txBox="1"/>
          <p:nvPr/>
        </p:nvSpPr>
        <p:spPr>
          <a:xfrm>
            <a:off x="2032000" y="4381500"/>
            <a:ext cx="2286000" cy="276999"/>
          </a:xfrm>
          <a:prstGeom prst="rect">
            <a:avLst/>
          </a:prstGeom>
          <a:noFill/>
        </p:spPr>
        <p:txBody>
          <a:bodyPr vert="horz" wrap="square" rtlCol="0">
            <a:spAutoFit/>
          </a:bodyPr>
          <a:lstStyle/>
          <a:p>
            <a:pPr algn="ctr"/>
            <a:r>
              <a:rPr lang="en-US" sz="1200">
                <a:solidFill>
                  <a:srgbClr val="9AA6B8"/>
                </a:solidFill>
                <a:latin typeface="Calibri" panose="020F0502020204030204" pitchFamily="34" charset="0"/>
              </a:rPr>
              <a:t>CLOSED</a:t>
            </a:r>
          </a:p>
        </p:txBody>
      </p:sp>
      <p:sp>
        <p:nvSpPr>
          <p:cNvPr id="11" name="Rectangle: Rounded Corners 10">
            <a:extLst>
              <a:ext uri="{FF2B5EF4-FFF2-40B4-BE49-F238E27FC236}">
                <a16:creationId xmlns:a16="http://schemas.microsoft.com/office/drawing/2014/main" id="{0A9058C0-9A56-11DC-288B-740DCAF3BE3C}"/>
              </a:ext>
            </a:extLst>
          </p:cNvPr>
          <p:cNvSpPr/>
          <p:nvPr/>
        </p:nvSpPr>
        <p:spPr>
          <a:xfrm>
            <a:off x="7874000" y="4064000"/>
            <a:ext cx="2286000" cy="228600"/>
          </a:xfrm>
          <a:prstGeom prst="roundRect">
            <a:avLst/>
          </a:prstGeom>
          <a:solidFill>
            <a:srgbClr val="8B6A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45F3D86-96D3-21AF-0632-200ED5A5BA17}"/>
              </a:ext>
            </a:extLst>
          </p:cNvPr>
          <p:cNvSpPr/>
          <p:nvPr/>
        </p:nvSpPr>
        <p:spPr>
          <a:xfrm>
            <a:off x="8509000" y="3911600"/>
            <a:ext cx="1016000" cy="304800"/>
          </a:xfrm>
          <a:prstGeom prst="ellipse">
            <a:avLst/>
          </a:prstGeom>
          <a:solidFill>
            <a:srgbClr val="2F5F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C510263-ABE9-9236-22AB-B6736C7F60E3}"/>
              </a:ext>
            </a:extLst>
          </p:cNvPr>
          <p:cNvSpPr/>
          <p:nvPr/>
        </p:nvSpPr>
        <p:spPr>
          <a:xfrm>
            <a:off x="8382000" y="3962400"/>
            <a:ext cx="254000" cy="203200"/>
          </a:xfrm>
          <a:prstGeom prst="ellipse">
            <a:avLst/>
          </a:prstGeom>
          <a:solidFill>
            <a:srgbClr val="070B1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86C0CF4-D6F7-D724-B872-B981F8774EA0}"/>
              </a:ext>
            </a:extLst>
          </p:cNvPr>
          <p:cNvSpPr/>
          <p:nvPr/>
        </p:nvSpPr>
        <p:spPr>
          <a:xfrm>
            <a:off x="9398000" y="3962400"/>
            <a:ext cx="254000" cy="203200"/>
          </a:xfrm>
          <a:prstGeom prst="ellipse">
            <a:avLst/>
          </a:prstGeom>
          <a:solidFill>
            <a:srgbClr val="070B1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7E4B0245-30AC-CDF9-FA86-6DC7247D06CE}"/>
              </a:ext>
            </a:extLst>
          </p:cNvPr>
          <p:cNvSpPr/>
          <p:nvPr/>
        </p:nvSpPr>
        <p:spPr>
          <a:xfrm>
            <a:off x="8864600" y="3302000"/>
            <a:ext cx="304800" cy="635000"/>
          </a:xfrm>
          <a:prstGeom prst="roundRect">
            <a:avLst/>
          </a:prstGeom>
          <a:solidFill>
            <a:srgbClr val="F3EA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E36BE044-FC25-F6A7-3F14-FB643A7AB632}"/>
              </a:ext>
            </a:extLst>
          </p:cNvPr>
          <p:cNvSpPr/>
          <p:nvPr/>
        </p:nvSpPr>
        <p:spPr>
          <a:xfrm>
            <a:off x="8864600" y="2921000"/>
            <a:ext cx="304800" cy="457200"/>
          </a:xfrm>
          <a:prstGeom prst="triangle">
            <a:avLst/>
          </a:prstGeom>
          <a:solidFill>
            <a:srgbClr val="FF8A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EFC0D565-EA52-2F83-C4C1-7F0C4FCA6B01}"/>
              </a:ext>
            </a:extLst>
          </p:cNvPr>
          <p:cNvSpPr/>
          <p:nvPr/>
        </p:nvSpPr>
        <p:spPr>
          <a:xfrm>
            <a:off x="8318500" y="2540000"/>
            <a:ext cx="1397000" cy="1651000"/>
          </a:xfrm>
          <a:prstGeom prst="roundRect">
            <a:avLst/>
          </a:prstGeom>
          <a:solidFill>
            <a:srgbClr val="101828">
              <a:alpha val="65000"/>
            </a:srgbClr>
          </a:solidFill>
          <a:ln w="19050">
            <a:solidFill>
              <a:srgbClr val="5EC8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56E1A92-4645-7D24-7775-F9F150B43F7B}"/>
              </a:ext>
            </a:extLst>
          </p:cNvPr>
          <p:cNvSpPr txBox="1"/>
          <p:nvPr/>
        </p:nvSpPr>
        <p:spPr>
          <a:xfrm>
            <a:off x="7874000" y="4381500"/>
            <a:ext cx="2286000" cy="276999"/>
          </a:xfrm>
          <a:prstGeom prst="rect">
            <a:avLst/>
          </a:prstGeom>
          <a:noFill/>
        </p:spPr>
        <p:txBody>
          <a:bodyPr vert="horz" wrap="square" rtlCol="0">
            <a:spAutoFit/>
          </a:bodyPr>
          <a:lstStyle/>
          <a:p>
            <a:pPr algn="ctr"/>
            <a:r>
              <a:rPr lang="en-US" sz="1200">
                <a:solidFill>
                  <a:srgbClr val="9AA6B8"/>
                </a:solidFill>
                <a:latin typeface="Calibri" panose="020F0502020204030204" pitchFamily="34" charset="0"/>
              </a:rPr>
              <a:t>AIRFLOW</a:t>
            </a:r>
          </a:p>
        </p:txBody>
      </p:sp>
      <p:sp>
        <p:nvSpPr>
          <p:cNvPr id="19" name="Arrow: Right 18">
            <a:extLst>
              <a:ext uri="{FF2B5EF4-FFF2-40B4-BE49-F238E27FC236}">
                <a16:creationId xmlns:a16="http://schemas.microsoft.com/office/drawing/2014/main" id="{E91D57A6-B534-F812-5C13-654C9E7BE5B6}"/>
              </a:ext>
            </a:extLst>
          </p:cNvPr>
          <p:cNvSpPr/>
          <p:nvPr/>
        </p:nvSpPr>
        <p:spPr>
          <a:xfrm>
            <a:off x="7620000" y="4064000"/>
            <a:ext cx="355600" cy="508000"/>
          </a:xfrm>
          <a:prstGeom prst="rightArrow">
            <a:avLst/>
          </a:prstGeom>
          <a:solidFill>
            <a:srgbClr val="9EFF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E7C58C0-140B-B7AF-C3F0-C10156C3F0C4}"/>
              </a:ext>
            </a:extLst>
          </p:cNvPr>
          <p:cNvSpPr/>
          <p:nvPr/>
        </p:nvSpPr>
        <p:spPr>
          <a:xfrm>
            <a:off x="8890000" y="1524000"/>
            <a:ext cx="304800" cy="508000"/>
          </a:xfrm>
          <a:prstGeom prst="rect">
            <a:avLst/>
          </a:prstGeom>
          <a:solidFill>
            <a:srgbClr val="FFB07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6558432"/>
      </p:ext>
    </p:extLst>
  </p:cSld>
  <p:clrMapOvr>
    <a:masterClrMapping/>
  </p:clrMapOvr>
  <p:transition spd="med">
    <p:cut/>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2E6A62-1C85-4C7D-A32A-4FF0613E7C6D}"/>
              </a:ext>
            </a:extLst>
          </p:cNvPr>
          <p:cNvSpPr txBox="1"/>
          <p:nvPr/>
        </p:nvSpPr>
        <p:spPr>
          <a:xfrm>
            <a:off x="508000" y="228600"/>
            <a:ext cx="11175695" cy="276999"/>
          </a:xfrm>
          <a:prstGeom prst="rect">
            <a:avLst/>
          </a:prstGeom>
          <a:noFill/>
        </p:spPr>
        <p:txBody>
          <a:bodyPr vert="horz" wrap="square" rtlCol="0">
            <a:spAutoFit/>
          </a:bodyPr>
          <a:lstStyle/>
          <a:p>
            <a:pPr algn="ctr"/>
            <a:r>
              <a:rPr lang="en-US" sz="1200" b="1">
                <a:solidFill>
                  <a:srgbClr val="5EC8FF"/>
                </a:solidFill>
                <a:latin typeface="Calibri" panose="020F0502020204030204" pitchFamily="34" charset="0"/>
              </a:rPr>
              <a:t>CHAPTER 10  ·  THE SCIENCE</a:t>
            </a:r>
          </a:p>
        </p:txBody>
      </p:sp>
      <p:sp>
        <p:nvSpPr>
          <p:cNvPr id="3" name="TextBox 2">
            <a:extLst>
              <a:ext uri="{FF2B5EF4-FFF2-40B4-BE49-F238E27FC236}">
                <a16:creationId xmlns:a16="http://schemas.microsoft.com/office/drawing/2014/main" id="{55B859E5-B3F8-4990-65B7-76F6C992B838}"/>
              </a:ext>
            </a:extLst>
          </p:cNvPr>
          <p:cNvSpPr txBox="1"/>
          <p:nvPr/>
        </p:nvSpPr>
        <p:spPr>
          <a:xfrm>
            <a:off x="508000" y="635000"/>
            <a:ext cx="11175695" cy="584775"/>
          </a:xfrm>
          <a:prstGeom prst="rect">
            <a:avLst/>
          </a:prstGeom>
          <a:noFill/>
        </p:spPr>
        <p:txBody>
          <a:bodyPr vert="horz" wrap="square" rtlCol="0">
            <a:spAutoFit/>
          </a:bodyPr>
          <a:lstStyle/>
          <a:p>
            <a:pPr algn="ctr"/>
            <a:r>
              <a:rPr lang="en-US" sz="3200" b="1">
                <a:solidFill>
                  <a:srgbClr val="F2F5FA"/>
                </a:solidFill>
                <a:latin typeface="Calibri" panose="020F0502020204030204" pitchFamily="34" charset="0"/>
              </a:rPr>
              <a:t>What is meant by burning?</a:t>
            </a:r>
          </a:p>
        </p:txBody>
      </p:sp>
      <p:sp>
        <p:nvSpPr>
          <p:cNvPr id="4" name="TextBox 3">
            <a:extLst>
              <a:ext uri="{FF2B5EF4-FFF2-40B4-BE49-F238E27FC236}">
                <a16:creationId xmlns:a16="http://schemas.microsoft.com/office/drawing/2014/main" id="{B7289643-C721-12B3-7D94-C00010887072}"/>
              </a:ext>
            </a:extLst>
          </p:cNvPr>
          <p:cNvSpPr txBox="1"/>
          <p:nvPr/>
        </p:nvSpPr>
        <p:spPr>
          <a:xfrm>
            <a:off x="1016000" y="1397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A reaction between oxygen and a substance that produces heat and light.</a:t>
            </a:r>
          </a:p>
        </p:txBody>
      </p:sp>
      <p:sp>
        <p:nvSpPr>
          <p:cNvPr id="5" name="Rectangle: Rounded Corners 4">
            <a:extLst>
              <a:ext uri="{FF2B5EF4-FFF2-40B4-BE49-F238E27FC236}">
                <a16:creationId xmlns:a16="http://schemas.microsoft.com/office/drawing/2014/main" id="{C798CBAB-E8D5-C7FB-B341-2D30133BCF8F}"/>
              </a:ext>
            </a:extLst>
          </p:cNvPr>
          <p:cNvSpPr/>
          <p:nvPr/>
        </p:nvSpPr>
        <p:spPr>
          <a:xfrm>
            <a:off x="889000" y="2667000"/>
            <a:ext cx="1524000" cy="635000"/>
          </a:xfrm>
          <a:prstGeom prst="roundRect">
            <a:avLst/>
          </a:prstGeom>
          <a:solidFill>
            <a:srgbClr val="101828"/>
          </a:solidFill>
          <a:ln w="19050">
            <a:solidFill>
              <a:srgbClr val="F0D7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F0D7B0"/>
                </a:solidFill>
              </a:rPr>
              <a:t>Fuel</a:t>
            </a:r>
          </a:p>
        </p:txBody>
      </p:sp>
      <p:sp>
        <p:nvSpPr>
          <p:cNvPr id="6" name="TextBox 5">
            <a:extLst>
              <a:ext uri="{FF2B5EF4-FFF2-40B4-BE49-F238E27FC236}">
                <a16:creationId xmlns:a16="http://schemas.microsoft.com/office/drawing/2014/main" id="{8F051CB1-09CE-F334-FCCF-56234B683019}"/>
              </a:ext>
            </a:extLst>
          </p:cNvPr>
          <p:cNvSpPr txBox="1"/>
          <p:nvPr/>
        </p:nvSpPr>
        <p:spPr>
          <a:xfrm>
            <a:off x="2603500" y="2794000"/>
            <a:ext cx="508000" cy="430887"/>
          </a:xfrm>
          <a:prstGeom prst="rect">
            <a:avLst/>
          </a:prstGeom>
          <a:noFill/>
        </p:spPr>
        <p:txBody>
          <a:bodyPr vert="horz" wrap="square" rtlCol="0">
            <a:spAutoFit/>
          </a:bodyPr>
          <a:lstStyle/>
          <a:p>
            <a:pPr algn="ctr"/>
            <a:r>
              <a:rPr lang="en-US" sz="2200" b="1">
                <a:solidFill>
                  <a:srgbClr val="9AA6B8"/>
                </a:solidFill>
                <a:latin typeface="Calibri" panose="020F0502020204030204" pitchFamily="34" charset="0"/>
              </a:rPr>
              <a:t>+</a:t>
            </a:r>
          </a:p>
        </p:txBody>
      </p:sp>
      <p:sp>
        <p:nvSpPr>
          <p:cNvPr id="7" name="Rectangle: Rounded Corners 6">
            <a:extLst>
              <a:ext uri="{FF2B5EF4-FFF2-40B4-BE49-F238E27FC236}">
                <a16:creationId xmlns:a16="http://schemas.microsoft.com/office/drawing/2014/main" id="{E886E139-4E6C-44A7-830A-B53CFA6F7F9A}"/>
              </a:ext>
            </a:extLst>
          </p:cNvPr>
          <p:cNvSpPr/>
          <p:nvPr/>
        </p:nvSpPr>
        <p:spPr>
          <a:xfrm>
            <a:off x="3175000" y="2667000"/>
            <a:ext cx="1524000" cy="635000"/>
          </a:xfrm>
          <a:prstGeom prst="roundRect">
            <a:avLst/>
          </a:prstGeom>
          <a:solidFill>
            <a:srgbClr val="101828"/>
          </a:solidFill>
          <a:ln w="19050">
            <a:solidFill>
              <a:srgbClr val="5EC8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5EC8FF"/>
                </a:solidFill>
              </a:rPr>
              <a:t>Oxygen</a:t>
            </a:r>
          </a:p>
        </p:txBody>
      </p:sp>
      <p:sp>
        <p:nvSpPr>
          <p:cNvPr id="8" name="TextBox 7">
            <a:extLst>
              <a:ext uri="{FF2B5EF4-FFF2-40B4-BE49-F238E27FC236}">
                <a16:creationId xmlns:a16="http://schemas.microsoft.com/office/drawing/2014/main" id="{F4DB3850-791D-383C-273E-9C1AEA192601}"/>
              </a:ext>
            </a:extLst>
          </p:cNvPr>
          <p:cNvSpPr txBox="1"/>
          <p:nvPr/>
        </p:nvSpPr>
        <p:spPr>
          <a:xfrm>
            <a:off x="4889500" y="2794000"/>
            <a:ext cx="508000" cy="430887"/>
          </a:xfrm>
          <a:prstGeom prst="rect">
            <a:avLst/>
          </a:prstGeom>
          <a:noFill/>
        </p:spPr>
        <p:txBody>
          <a:bodyPr vert="horz" wrap="square" rtlCol="0">
            <a:spAutoFit/>
          </a:bodyPr>
          <a:lstStyle/>
          <a:p>
            <a:pPr algn="ctr"/>
            <a:r>
              <a:rPr lang="en-US" sz="2200" b="1">
                <a:solidFill>
                  <a:srgbClr val="9AA6B8"/>
                </a:solidFill>
                <a:latin typeface="Calibri" panose="020F0502020204030204" pitchFamily="34" charset="0"/>
              </a:rPr>
              <a:t>+</a:t>
            </a:r>
          </a:p>
        </p:txBody>
      </p:sp>
      <p:sp>
        <p:nvSpPr>
          <p:cNvPr id="9" name="Rectangle: Rounded Corners 8">
            <a:extLst>
              <a:ext uri="{FF2B5EF4-FFF2-40B4-BE49-F238E27FC236}">
                <a16:creationId xmlns:a16="http://schemas.microsoft.com/office/drawing/2014/main" id="{AA184A41-A6C0-A196-A9EE-1120C129CE2B}"/>
              </a:ext>
            </a:extLst>
          </p:cNvPr>
          <p:cNvSpPr/>
          <p:nvPr/>
        </p:nvSpPr>
        <p:spPr>
          <a:xfrm>
            <a:off x="5461000" y="2667000"/>
            <a:ext cx="1524000" cy="635000"/>
          </a:xfrm>
          <a:prstGeom prst="roundRect">
            <a:avLst/>
          </a:prstGeom>
          <a:solidFill>
            <a:srgbClr val="101828"/>
          </a:solidFill>
          <a:ln w="19050">
            <a:solidFill>
              <a:srgbClr val="FF8A3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FF8A3D"/>
                </a:solidFill>
              </a:rPr>
              <a:t>Heat</a:t>
            </a:r>
          </a:p>
        </p:txBody>
      </p:sp>
      <p:sp>
        <p:nvSpPr>
          <p:cNvPr id="10" name="TextBox 9">
            <a:extLst>
              <a:ext uri="{FF2B5EF4-FFF2-40B4-BE49-F238E27FC236}">
                <a16:creationId xmlns:a16="http://schemas.microsoft.com/office/drawing/2014/main" id="{749ED1D3-D963-84A2-6A9C-AD3F5AFE18EC}"/>
              </a:ext>
            </a:extLst>
          </p:cNvPr>
          <p:cNvSpPr txBox="1"/>
          <p:nvPr/>
        </p:nvSpPr>
        <p:spPr>
          <a:xfrm>
            <a:off x="7175500" y="2794000"/>
            <a:ext cx="508000" cy="430887"/>
          </a:xfrm>
          <a:prstGeom prst="rect">
            <a:avLst/>
          </a:prstGeom>
          <a:noFill/>
        </p:spPr>
        <p:txBody>
          <a:bodyPr vert="horz" wrap="square" rtlCol="0">
            <a:spAutoFit/>
          </a:bodyPr>
          <a:lstStyle/>
          <a:p>
            <a:pPr algn="ctr"/>
            <a:r>
              <a:rPr lang="en-US" sz="2200" b="1">
                <a:solidFill>
                  <a:srgbClr val="9AA6B8"/>
                </a:solidFill>
                <a:latin typeface="Calibri" panose="020F0502020204030204" pitchFamily="34" charset="0"/>
              </a:rPr>
              <a:t>→</a:t>
            </a:r>
          </a:p>
        </p:txBody>
      </p:sp>
      <p:sp>
        <p:nvSpPr>
          <p:cNvPr id="11" name="Rectangle: Rounded Corners 10">
            <a:extLst>
              <a:ext uri="{FF2B5EF4-FFF2-40B4-BE49-F238E27FC236}">
                <a16:creationId xmlns:a16="http://schemas.microsoft.com/office/drawing/2014/main" id="{58229649-3217-249A-B690-3CED2FC2B425}"/>
              </a:ext>
            </a:extLst>
          </p:cNvPr>
          <p:cNvSpPr/>
          <p:nvPr/>
        </p:nvSpPr>
        <p:spPr>
          <a:xfrm>
            <a:off x="7747000" y="2667000"/>
            <a:ext cx="1524000" cy="635000"/>
          </a:xfrm>
          <a:prstGeom prst="roundRect">
            <a:avLst/>
          </a:prstGeom>
          <a:solidFill>
            <a:srgbClr val="101828"/>
          </a:solidFill>
          <a:ln w="19050">
            <a:solidFill>
              <a:srgbClr val="FFE5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FFE566"/>
                </a:solidFill>
              </a:rPr>
              <a:t>Heat + Light</a:t>
            </a:r>
          </a:p>
        </p:txBody>
      </p:sp>
      <p:pic>
        <p:nvPicPr>
          <p:cNvPr id="13" name="Picture 12">
            <a:extLst>
              <a:ext uri="{FF2B5EF4-FFF2-40B4-BE49-F238E27FC236}">
                <a16:creationId xmlns:a16="http://schemas.microsoft.com/office/drawing/2014/main" id="{292D9AF1-DF09-2A79-CDD0-F487DC274A0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70000" y="3683000"/>
            <a:ext cx="9652000" cy="2794000"/>
          </a:xfrm>
          <a:prstGeom prst="rect">
            <a:avLst/>
          </a:prstGeom>
        </p:spPr>
      </p:pic>
    </p:spTree>
    <p:extLst>
      <p:ext uri="{BB962C8B-B14F-4D97-AF65-F5344CB8AC3E}">
        <p14:creationId xmlns:p14="http://schemas.microsoft.com/office/powerpoint/2010/main" val="1976437052"/>
      </p:ext>
    </p:extLst>
  </p:cSld>
  <p:clrMapOvr>
    <a:masterClrMapping/>
  </p:clrMapOvr>
  <p:transition spd="med">
    <p:cut/>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90075B-56D9-C1C9-3E70-F3EA98545317}"/>
              </a:ext>
            </a:extLst>
          </p:cNvPr>
          <p:cNvSpPr txBox="1"/>
          <p:nvPr/>
        </p:nvSpPr>
        <p:spPr>
          <a:xfrm>
            <a:off x="508000" y="228600"/>
            <a:ext cx="11175695" cy="276999"/>
          </a:xfrm>
          <a:prstGeom prst="rect">
            <a:avLst/>
          </a:prstGeom>
          <a:noFill/>
        </p:spPr>
        <p:txBody>
          <a:bodyPr vert="horz" wrap="square" rtlCol="0">
            <a:spAutoFit/>
          </a:bodyPr>
          <a:lstStyle/>
          <a:p>
            <a:pPr algn="ctr"/>
            <a:r>
              <a:rPr lang="en-US" sz="1200" b="1">
                <a:solidFill>
                  <a:srgbClr val="5EC8FF"/>
                </a:solidFill>
                <a:latin typeface="Calibri" panose="020F0502020204030204" pitchFamily="34" charset="0"/>
              </a:rPr>
              <a:t>CHAPTER 11  ·  REAL WORLD</a:t>
            </a:r>
          </a:p>
        </p:txBody>
      </p:sp>
      <p:sp>
        <p:nvSpPr>
          <p:cNvPr id="3" name="TextBox 2">
            <a:extLst>
              <a:ext uri="{FF2B5EF4-FFF2-40B4-BE49-F238E27FC236}">
                <a16:creationId xmlns:a16="http://schemas.microsoft.com/office/drawing/2014/main" id="{F1257DBB-1431-D6DC-2614-56410E044561}"/>
              </a:ext>
            </a:extLst>
          </p:cNvPr>
          <p:cNvSpPr txBox="1"/>
          <p:nvPr/>
        </p:nvSpPr>
        <p:spPr>
          <a:xfrm>
            <a:off x="508000" y="635000"/>
            <a:ext cx="11175695" cy="584775"/>
          </a:xfrm>
          <a:prstGeom prst="rect">
            <a:avLst/>
          </a:prstGeom>
          <a:noFill/>
        </p:spPr>
        <p:txBody>
          <a:bodyPr vert="horz" wrap="square" rtlCol="0">
            <a:spAutoFit/>
          </a:bodyPr>
          <a:lstStyle/>
          <a:p>
            <a:pPr algn="ctr"/>
            <a:r>
              <a:rPr lang="en-US" sz="3200" b="1">
                <a:solidFill>
                  <a:srgbClr val="F2F5FA"/>
                </a:solidFill>
                <a:latin typeface="Calibri" panose="020F0502020204030204" pitchFamily="34" charset="0"/>
              </a:rPr>
              <a:t>Where do we see this?</a:t>
            </a:r>
          </a:p>
        </p:txBody>
      </p:sp>
      <p:sp>
        <p:nvSpPr>
          <p:cNvPr id="4" name="TextBox 3">
            <a:extLst>
              <a:ext uri="{FF2B5EF4-FFF2-40B4-BE49-F238E27FC236}">
                <a16:creationId xmlns:a16="http://schemas.microsoft.com/office/drawing/2014/main" id="{1BE65E5D-997E-E39E-373D-26BE7F96E9A6}"/>
              </a:ext>
            </a:extLst>
          </p:cNvPr>
          <p:cNvSpPr txBox="1"/>
          <p:nvPr/>
        </p:nvSpPr>
        <p:spPr>
          <a:xfrm>
            <a:off x="1016000" y="1397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Burning needs a continuous supply of fresh air.</a:t>
            </a:r>
          </a:p>
        </p:txBody>
      </p:sp>
      <p:pic>
        <p:nvPicPr>
          <p:cNvPr id="6" name="Picture 5">
            <a:extLst>
              <a:ext uri="{FF2B5EF4-FFF2-40B4-BE49-F238E27FC236}">
                <a16:creationId xmlns:a16="http://schemas.microsoft.com/office/drawing/2014/main" id="{75C8339F-213E-42EB-99BF-844A33CBD67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62000" y="1968500"/>
            <a:ext cx="10668000" cy="3810000"/>
          </a:xfrm>
          <a:prstGeom prst="rect">
            <a:avLst/>
          </a:prstGeom>
        </p:spPr>
      </p:pic>
      <p:sp>
        <p:nvSpPr>
          <p:cNvPr id="7" name="TextBox 6">
            <a:extLst>
              <a:ext uri="{FF2B5EF4-FFF2-40B4-BE49-F238E27FC236}">
                <a16:creationId xmlns:a16="http://schemas.microsoft.com/office/drawing/2014/main" id="{7E2304C0-91EA-38DD-406A-B37F8858312C}"/>
              </a:ext>
            </a:extLst>
          </p:cNvPr>
          <p:cNvSpPr txBox="1"/>
          <p:nvPr/>
        </p:nvSpPr>
        <p:spPr>
          <a:xfrm>
            <a:off x="508000" y="5969000"/>
            <a:ext cx="11175695" cy="307777"/>
          </a:xfrm>
          <a:prstGeom prst="rect">
            <a:avLst/>
          </a:prstGeom>
          <a:noFill/>
        </p:spPr>
        <p:txBody>
          <a:bodyPr vert="horz" wrap="square" rtlCol="0">
            <a:spAutoFit/>
          </a:bodyPr>
          <a:lstStyle/>
          <a:p>
            <a:pPr algn="ctr"/>
            <a:r>
              <a:rPr lang="en-US" sz="1400">
                <a:solidFill>
                  <a:srgbClr val="9AA6B8"/>
                </a:solidFill>
                <a:latin typeface="Calibri" panose="020F0502020204030204" pitchFamily="34" charset="0"/>
              </a:rPr>
              <a:t>Candle · Fireplace · Gas stove · Engine</a:t>
            </a:r>
          </a:p>
        </p:txBody>
      </p:sp>
    </p:spTree>
    <p:extLst>
      <p:ext uri="{BB962C8B-B14F-4D97-AF65-F5344CB8AC3E}">
        <p14:creationId xmlns:p14="http://schemas.microsoft.com/office/powerpoint/2010/main" val="352054418"/>
      </p:ext>
    </p:extLst>
  </p:cSld>
  <p:clrMapOvr>
    <a:masterClrMapping/>
  </p:clrMapOvr>
  <p:transition spd="med">
    <p:cut/>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CA3854-08C1-0538-BBBB-8FB9E5721F1F}"/>
              </a:ext>
            </a:extLst>
          </p:cNvPr>
          <p:cNvSpPr txBox="1"/>
          <p:nvPr/>
        </p:nvSpPr>
        <p:spPr>
          <a:xfrm>
            <a:off x="508000" y="228600"/>
            <a:ext cx="11175695" cy="276999"/>
          </a:xfrm>
          <a:prstGeom prst="rect">
            <a:avLst/>
          </a:prstGeom>
          <a:noFill/>
        </p:spPr>
        <p:txBody>
          <a:bodyPr vert="horz" wrap="square" rtlCol="0">
            <a:spAutoFit/>
          </a:bodyPr>
          <a:lstStyle/>
          <a:p>
            <a:pPr algn="ctr"/>
            <a:r>
              <a:rPr lang="en-US" sz="1200" b="1">
                <a:solidFill>
                  <a:srgbClr val="5EC8FF"/>
                </a:solidFill>
                <a:latin typeface="Calibri" panose="020F0502020204030204" pitchFamily="34" charset="0"/>
              </a:rPr>
              <a:t>CHAPTER 12  ·  SCIENCE CHALLENGE</a:t>
            </a:r>
          </a:p>
        </p:txBody>
      </p:sp>
      <p:sp>
        <p:nvSpPr>
          <p:cNvPr id="3" name="TextBox 2">
            <a:extLst>
              <a:ext uri="{FF2B5EF4-FFF2-40B4-BE49-F238E27FC236}">
                <a16:creationId xmlns:a16="http://schemas.microsoft.com/office/drawing/2014/main" id="{11B78D9F-2CEF-A877-4DED-1972F4F3070B}"/>
              </a:ext>
            </a:extLst>
          </p:cNvPr>
          <p:cNvSpPr txBox="1"/>
          <p:nvPr/>
        </p:nvSpPr>
        <p:spPr>
          <a:xfrm>
            <a:off x="508000" y="635000"/>
            <a:ext cx="11175695" cy="584775"/>
          </a:xfrm>
          <a:prstGeom prst="rect">
            <a:avLst/>
          </a:prstGeom>
          <a:noFill/>
        </p:spPr>
        <p:txBody>
          <a:bodyPr vert="horz" wrap="square" rtlCol="0">
            <a:spAutoFit/>
          </a:bodyPr>
          <a:lstStyle/>
          <a:p>
            <a:pPr algn="ctr"/>
            <a:r>
              <a:rPr lang="en-US" sz="3200" b="1">
                <a:solidFill>
                  <a:srgbClr val="F2F5FA"/>
                </a:solidFill>
                <a:latin typeface="Calibri" panose="020F0502020204030204" pitchFamily="34" charset="0"/>
              </a:rPr>
              <a:t>Which candle burns longer?</a:t>
            </a:r>
          </a:p>
        </p:txBody>
      </p:sp>
      <p:sp>
        <p:nvSpPr>
          <p:cNvPr id="4" name="TextBox 3">
            <a:extLst>
              <a:ext uri="{FF2B5EF4-FFF2-40B4-BE49-F238E27FC236}">
                <a16:creationId xmlns:a16="http://schemas.microsoft.com/office/drawing/2014/main" id="{4C4C4E7C-7556-F213-FA72-009122701546}"/>
              </a:ext>
            </a:extLst>
          </p:cNvPr>
          <p:cNvSpPr txBox="1"/>
          <p:nvPr/>
        </p:nvSpPr>
        <p:spPr>
          <a:xfrm>
            <a:off x="1016000" y="1397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Choose carefully — then reveal.</a:t>
            </a:r>
          </a:p>
        </p:txBody>
      </p:sp>
      <p:sp>
        <p:nvSpPr>
          <p:cNvPr id="5" name="Oval 4">
            <a:extLst>
              <a:ext uri="{FF2B5EF4-FFF2-40B4-BE49-F238E27FC236}">
                <a16:creationId xmlns:a16="http://schemas.microsoft.com/office/drawing/2014/main" id="{9A907C48-CE4C-223E-8B15-E7B4EC2D267E}"/>
              </a:ext>
            </a:extLst>
          </p:cNvPr>
          <p:cNvSpPr/>
          <p:nvPr/>
        </p:nvSpPr>
        <p:spPr>
          <a:xfrm>
            <a:off x="1270000" y="2286000"/>
            <a:ext cx="457200" cy="457200"/>
          </a:xfrm>
          <a:prstGeom prst="ellipse">
            <a:avLst/>
          </a:prstGeom>
          <a:solidFill>
            <a:srgbClr val="5EC8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070B14"/>
                </a:solidFill>
              </a:rPr>
              <a:t>A</a:t>
            </a:r>
          </a:p>
        </p:txBody>
      </p:sp>
      <p:sp>
        <p:nvSpPr>
          <p:cNvPr id="6" name="Rectangle: Rounded Corners 5">
            <a:extLst>
              <a:ext uri="{FF2B5EF4-FFF2-40B4-BE49-F238E27FC236}">
                <a16:creationId xmlns:a16="http://schemas.microsoft.com/office/drawing/2014/main" id="{13291298-E718-B328-D577-D28DD44053FD}"/>
              </a:ext>
            </a:extLst>
          </p:cNvPr>
          <p:cNvSpPr/>
          <p:nvPr/>
        </p:nvSpPr>
        <p:spPr>
          <a:xfrm>
            <a:off x="1905000" y="2286000"/>
            <a:ext cx="8382000" cy="508000"/>
          </a:xfrm>
          <a:prstGeom prst="roundRect">
            <a:avLst/>
          </a:prstGeom>
          <a:solidFill>
            <a:srgbClr val="101828"/>
          </a:solidFill>
          <a:ln w="19050">
            <a:solidFill>
              <a:srgbClr val="5EC8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a:solidFill>
                  <a:srgbClr val="F2F5FA"/>
                </a:solidFill>
                <a:latin typeface="Calibri" panose="020F0502020204030204" pitchFamily="34" charset="0"/>
              </a:rPr>
              <a:t>  Candle A — jar sealed with a lid, no gaps.</a:t>
            </a:r>
          </a:p>
        </p:txBody>
      </p:sp>
      <p:sp>
        <p:nvSpPr>
          <p:cNvPr id="7" name="Oval 6">
            <a:extLst>
              <a:ext uri="{FF2B5EF4-FFF2-40B4-BE49-F238E27FC236}">
                <a16:creationId xmlns:a16="http://schemas.microsoft.com/office/drawing/2014/main" id="{344958EB-FF3D-0217-AB63-4B83D37917BE}"/>
              </a:ext>
            </a:extLst>
          </p:cNvPr>
          <p:cNvSpPr/>
          <p:nvPr/>
        </p:nvSpPr>
        <p:spPr>
          <a:xfrm>
            <a:off x="1270000" y="3048000"/>
            <a:ext cx="457200" cy="457200"/>
          </a:xfrm>
          <a:prstGeom prst="ellipse">
            <a:avLst/>
          </a:prstGeom>
          <a:solidFill>
            <a:srgbClr val="5EC8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070B14"/>
                </a:solidFill>
              </a:rPr>
              <a:t>B</a:t>
            </a:r>
          </a:p>
        </p:txBody>
      </p:sp>
      <p:sp>
        <p:nvSpPr>
          <p:cNvPr id="8" name="Rectangle: Rounded Corners 7">
            <a:extLst>
              <a:ext uri="{FF2B5EF4-FFF2-40B4-BE49-F238E27FC236}">
                <a16:creationId xmlns:a16="http://schemas.microsoft.com/office/drawing/2014/main" id="{25B5E5F3-9E39-05EA-A41F-C3E15401DBD8}"/>
              </a:ext>
            </a:extLst>
          </p:cNvPr>
          <p:cNvSpPr/>
          <p:nvPr/>
        </p:nvSpPr>
        <p:spPr>
          <a:xfrm>
            <a:off x="1905000" y="3048000"/>
            <a:ext cx="8382000" cy="508000"/>
          </a:xfrm>
          <a:prstGeom prst="roundRect">
            <a:avLst/>
          </a:prstGeom>
          <a:solidFill>
            <a:srgbClr val="101828"/>
          </a:solidFill>
          <a:ln w="19050">
            <a:solidFill>
              <a:srgbClr val="5EC8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a:solidFill>
                  <a:srgbClr val="F2F5FA"/>
                </a:solidFill>
                <a:latin typeface="Calibri" panose="020F0502020204030204" pitchFamily="34" charset="0"/>
              </a:rPr>
              <a:t>  Candle B — lid on, but a small gap only at the bottom.</a:t>
            </a:r>
          </a:p>
        </p:txBody>
      </p:sp>
      <p:sp>
        <p:nvSpPr>
          <p:cNvPr id="9" name="Oval 8">
            <a:extLst>
              <a:ext uri="{FF2B5EF4-FFF2-40B4-BE49-F238E27FC236}">
                <a16:creationId xmlns:a16="http://schemas.microsoft.com/office/drawing/2014/main" id="{3382644B-69A0-3A57-FACC-2359542B281F}"/>
              </a:ext>
            </a:extLst>
          </p:cNvPr>
          <p:cNvSpPr/>
          <p:nvPr/>
        </p:nvSpPr>
        <p:spPr>
          <a:xfrm>
            <a:off x="1270000" y="3810000"/>
            <a:ext cx="457200" cy="457200"/>
          </a:xfrm>
          <a:prstGeom prst="ellipse">
            <a:avLst/>
          </a:prstGeom>
          <a:solidFill>
            <a:srgbClr val="9EFF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070B14"/>
                </a:solidFill>
              </a:rPr>
              <a:t>C</a:t>
            </a:r>
          </a:p>
        </p:txBody>
      </p:sp>
      <p:sp>
        <p:nvSpPr>
          <p:cNvPr id="10" name="Rectangle: Rounded Corners 9">
            <a:extLst>
              <a:ext uri="{FF2B5EF4-FFF2-40B4-BE49-F238E27FC236}">
                <a16:creationId xmlns:a16="http://schemas.microsoft.com/office/drawing/2014/main" id="{199EEABF-E07B-8EC6-EDD8-9FB79BB55107}"/>
              </a:ext>
            </a:extLst>
          </p:cNvPr>
          <p:cNvSpPr/>
          <p:nvPr/>
        </p:nvSpPr>
        <p:spPr>
          <a:xfrm>
            <a:off x="1905000" y="3810000"/>
            <a:ext cx="8382000" cy="508000"/>
          </a:xfrm>
          <a:prstGeom prst="roundRect">
            <a:avLst/>
          </a:prstGeom>
          <a:solidFill>
            <a:srgbClr val="101828"/>
          </a:solidFill>
          <a:ln w="19050">
            <a:solidFill>
              <a:srgbClr val="9EF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a:solidFill>
                  <a:srgbClr val="F2F5FA"/>
                </a:solidFill>
                <a:latin typeface="Calibri" panose="020F0502020204030204" pitchFamily="34" charset="0"/>
              </a:rPr>
              <a:t>  Candle C — gap at the bottom and open at the top.</a:t>
            </a:r>
          </a:p>
        </p:txBody>
      </p:sp>
      <p:sp>
        <p:nvSpPr>
          <p:cNvPr id="11" name="Rectangle: Rounded Corners 10">
            <a:extLst>
              <a:ext uri="{FF2B5EF4-FFF2-40B4-BE49-F238E27FC236}">
                <a16:creationId xmlns:a16="http://schemas.microsoft.com/office/drawing/2014/main" id="{DE63A44F-010D-6B5E-7F46-D93409B64A86}"/>
              </a:ext>
            </a:extLst>
          </p:cNvPr>
          <p:cNvSpPr/>
          <p:nvPr/>
        </p:nvSpPr>
        <p:spPr>
          <a:xfrm>
            <a:off x="1270000" y="4826000"/>
            <a:ext cx="9652000" cy="635000"/>
          </a:xfrm>
          <a:prstGeom prst="roundRect">
            <a:avLst/>
          </a:prstGeom>
          <a:solidFill>
            <a:srgbClr val="0E2024"/>
          </a:solidFill>
          <a:ln w="19050">
            <a:solidFill>
              <a:srgbClr val="9EF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9EFFF0"/>
                </a:solidFill>
              </a:rPr>
              <a:t>Answer: C — both openings renew air so burning can continue.</a:t>
            </a:r>
          </a:p>
        </p:txBody>
      </p:sp>
      <p:sp>
        <p:nvSpPr>
          <p:cNvPr id="12" name="TextBox 11">
            <a:extLst>
              <a:ext uri="{FF2B5EF4-FFF2-40B4-BE49-F238E27FC236}">
                <a16:creationId xmlns:a16="http://schemas.microsoft.com/office/drawing/2014/main" id="{5EB8F5B6-DD43-5140-F52C-82A8D1BDE665}"/>
              </a:ext>
            </a:extLst>
          </p:cNvPr>
          <p:cNvSpPr txBox="1"/>
          <p:nvPr/>
        </p:nvSpPr>
        <p:spPr>
          <a:xfrm>
            <a:off x="508000" y="5715000"/>
            <a:ext cx="11175695" cy="292388"/>
          </a:xfrm>
          <a:prstGeom prst="rect">
            <a:avLst/>
          </a:prstGeom>
          <a:noFill/>
        </p:spPr>
        <p:txBody>
          <a:bodyPr vert="horz" wrap="square" rtlCol="0">
            <a:spAutoFit/>
          </a:bodyPr>
          <a:lstStyle/>
          <a:p>
            <a:pPr algn="ctr"/>
            <a:r>
              <a:rPr lang="en-US" sz="1300">
                <a:solidFill>
                  <a:srgbClr val="9AA6B8"/>
                </a:solidFill>
                <a:latin typeface="Calibri" panose="020F0502020204030204" pitchFamily="34" charset="0"/>
              </a:rPr>
              <a:t>B lasts a bit longer than A, but still goes out.</a:t>
            </a:r>
          </a:p>
        </p:txBody>
      </p:sp>
    </p:spTree>
    <p:extLst>
      <p:ext uri="{BB962C8B-B14F-4D97-AF65-F5344CB8AC3E}">
        <p14:creationId xmlns:p14="http://schemas.microsoft.com/office/powerpoint/2010/main" val="78574004"/>
      </p:ext>
    </p:extLst>
  </p:cSld>
  <p:clrMapOvr>
    <a:masterClrMapping/>
  </p:clrMapOvr>
  <p:transition spd="med">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595C01-0B76-72CD-051F-7234A1078420}"/>
              </a:ext>
            </a:extLst>
          </p:cNvPr>
          <p:cNvSpPr txBox="1"/>
          <p:nvPr/>
        </p:nvSpPr>
        <p:spPr>
          <a:xfrm>
            <a:off x="508000" y="228600"/>
            <a:ext cx="11175695" cy="276999"/>
          </a:xfrm>
          <a:prstGeom prst="rect">
            <a:avLst/>
          </a:prstGeom>
          <a:noFill/>
        </p:spPr>
        <p:txBody>
          <a:bodyPr vert="horz" wrap="square" rtlCol="0">
            <a:spAutoFit/>
          </a:bodyPr>
          <a:lstStyle/>
          <a:p>
            <a:pPr algn="ctr"/>
            <a:r>
              <a:rPr lang="en-US" sz="1200" b="1">
                <a:solidFill>
                  <a:srgbClr val="5EC8FF"/>
                </a:solidFill>
                <a:latin typeface="Calibri" panose="020F0502020204030204" pitchFamily="34" charset="0"/>
              </a:rPr>
              <a:t>FINAL DISCOVERY</a:t>
            </a:r>
          </a:p>
        </p:txBody>
      </p:sp>
      <p:sp>
        <p:nvSpPr>
          <p:cNvPr id="3" name="TextBox 2">
            <a:extLst>
              <a:ext uri="{FF2B5EF4-FFF2-40B4-BE49-F238E27FC236}">
                <a16:creationId xmlns:a16="http://schemas.microsoft.com/office/drawing/2014/main" id="{2D77F9EA-61EB-3B32-4E4F-C8FA8A4EA244}"/>
              </a:ext>
            </a:extLst>
          </p:cNvPr>
          <p:cNvSpPr txBox="1"/>
          <p:nvPr/>
        </p:nvSpPr>
        <p:spPr>
          <a:xfrm>
            <a:off x="508000" y="635000"/>
            <a:ext cx="11175695" cy="584775"/>
          </a:xfrm>
          <a:prstGeom prst="rect">
            <a:avLst/>
          </a:prstGeom>
          <a:noFill/>
        </p:spPr>
        <p:txBody>
          <a:bodyPr vert="horz" wrap="square" rtlCol="0">
            <a:spAutoFit/>
          </a:bodyPr>
          <a:lstStyle/>
          <a:p>
            <a:pPr algn="ctr"/>
            <a:r>
              <a:rPr lang="en-US" sz="3200" b="1">
                <a:solidFill>
                  <a:srgbClr val="F2F5FA"/>
                </a:solidFill>
                <a:latin typeface="Calibri" panose="020F0502020204030204" pitchFamily="34" charset="0"/>
              </a:rPr>
              <a:t>Air plays an important role in burning.</a:t>
            </a:r>
          </a:p>
        </p:txBody>
      </p:sp>
      <p:sp>
        <p:nvSpPr>
          <p:cNvPr id="4" name="TextBox 3">
            <a:extLst>
              <a:ext uri="{FF2B5EF4-FFF2-40B4-BE49-F238E27FC236}">
                <a16:creationId xmlns:a16="http://schemas.microsoft.com/office/drawing/2014/main" id="{216BE365-E587-1850-AA53-42488FF81502}"/>
              </a:ext>
            </a:extLst>
          </p:cNvPr>
          <p:cNvSpPr txBox="1"/>
          <p:nvPr/>
        </p:nvSpPr>
        <p:spPr>
          <a:xfrm>
            <a:off x="1016000" y="1397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Fresh air must continuously be supplied for burning to continue.</a:t>
            </a:r>
          </a:p>
        </p:txBody>
      </p:sp>
      <p:sp>
        <p:nvSpPr>
          <p:cNvPr id="5" name="Rectangle: Rounded Corners 4">
            <a:extLst>
              <a:ext uri="{FF2B5EF4-FFF2-40B4-BE49-F238E27FC236}">
                <a16:creationId xmlns:a16="http://schemas.microsoft.com/office/drawing/2014/main" id="{3DD9704C-D1F7-5728-5FB6-7EE07EA255F8}"/>
              </a:ext>
            </a:extLst>
          </p:cNvPr>
          <p:cNvSpPr/>
          <p:nvPr/>
        </p:nvSpPr>
        <p:spPr>
          <a:xfrm>
            <a:off x="1143000" y="2286000"/>
            <a:ext cx="9906000" cy="762000"/>
          </a:xfrm>
          <a:prstGeom prst="roundRect">
            <a:avLst/>
          </a:prstGeom>
          <a:solidFill>
            <a:srgbClr val="0E1A2A"/>
          </a:solidFill>
          <a:ln w="19050">
            <a:solidFill>
              <a:srgbClr val="5EC8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F2F5FA"/>
                </a:solidFill>
              </a:rPr>
              <a:t>  1. Air has a role in burning.</a:t>
            </a:r>
          </a:p>
        </p:txBody>
      </p:sp>
      <p:sp>
        <p:nvSpPr>
          <p:cNvPr id="6" name="Rectangle: Rounded Corners 5">
            <a:extLst>
              <a:ext uri="{FF2B5EF4-FFF2-40B4-BE49-F238E27FC236}">
                <a16:creationId xmlns:a16="http://schemas.microsoft.com/office/drawing/2014/main" id="{8C075BEA-79CE-B556-D48A-CF8EF388496A}"/>
              </a:ext>
            </a:extLst>
          </p:cNvPr>
          <p:cNvSpPr/>
          <p:nvPr/>
        </p:nvSpPr>
        <p:spPr>
          <a:xfrm>
            <a:off x="1143000" y="3302000"/>
            <a:ext cx="9906000" cy="762000"/>
          </a:xfrm>
          <a:prstGeom prst="roundRect">
            <a:avLst/>
          </a:prstGeom>
          <a:solidFill>
            <a:srgbClr val="0E1A2A"/>
          </a:solidFill>
          <a:ln w="19050">
            <a:solidFill>
              <a:srgbClr val="5EC8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F2F5FA"/>
                </a:solidFill>
              </a:rPr>
              <a:t>  2. Fresh air must constantly flow in and out for burning to continue.</a:t>
            </a:r>
          </a:p>
        </p:txBody>
      </p:sp>
      <p:sp>
        <p:nvSpPr>
          <p:cNvPr id="7" name="Rectangle: Rounded Corners 6">
            <a:extLst>
              <a:ext uri="{FF2B5EF4-FFF2-40B4-BE49-F238E27FC236}">
                <a16:creationId xmlns:a16="http://schemas.microsoft.com/office/drawing/2014/main" id="{7C992922-3401-4431-CC67-E8FD3366D7E6}"/>
              </a:ext>
            </a:extLst>
          </p:cNvPr>
          <p:cNvSpPr/>
          <p:nvPr/>
        </p:nvSpPr>
        <p:spPr>
          <a:xfrm>
            <a:off x="1143000" y="4318000"/>
            <a:ext cx="9906000" cy="762000"/>
          </a:xfrm>
          <a:prstGeom prst="roundRect">
            <a:avLst/>
          </a:prstGeom>
          <a:solidFill>
            <a:srgbClr val="0E1A2A"/>
          </a:solidFill>
          <a:ln w="19050">
            <a:solidFill>
              <a:srgbClr val="5EC8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F2F5FA"/>
                </a:solidFill>
              </a:rPr>
              <a:t>  3. Where air is not renewed, things cannot continue burning.</a:t>
            </a:r>
          </a:p>
        </p:txBody>
      </p:sp>
    </p:spTree>
    <p:extLst>
      <p:ext uri="{BB962C8B-B14F-4D97-AF65-F5344CB8AC3E}">
        <p14:creationId xmlns:p14="http://schemas.microsoft.com/office/powerpoint/2010/main" val="1132955946"/>
      </p:ext>
    </p:extLst>
  </p:cSld>
  <p:clrMapOvr>
    <a:masterClrMapping/>
  </p:clrMapOvr>
  <p:transition spd="med">
    <p:cut/>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068541-4E8A-A9EC-9A24-690F7CFE29D1}"/>
              </a:ext>
            </a:extLst>
          </p:cNvPr>
          <p:cNvSpPr txBox="1"/>
          <p:nvPr/>
        </p:nvSpPr>
        <p:spPr>
          <a:xfrm>
            <a:off x="508000" y="228600"/>
            <a:ext cx="11175695" cy="276999"/>
          </a:xfrm>
          <a:prstGeom prst="rect">
            <a:avLst/>
          </a:prstGeom>
          <a:noFill/>
        </p:spPr>
        <p:txBody>
          <a:bodyPr vert="horz" wrap="square" rtlCol="0">
            <a:spAutoFit/>
          </a:bodyPr>
          <a:lstStyle/>
          <a:p>
            <a:pPr algn="ctr"/>
            <a:r>
              <a:rPr lang="en-US" sz="1200" b="1">
                <a:solidFill>
                  <a:srgbClr val="5EC8FF"/>
                </a:solidFill>
                <a:latin typeface="Calibri" panose="020F0502020204030204" pitchFamily="34" charset="0"/>
              </a:rPr>
              <a:t>REMEMBER</a:t>
            </a:r>
          </a:p>
        </p:txBody>
      </p:sp>
      <p:sp>
        <p:nvSpPr>
          <p:cNvPr id="3" name="TextBox 2">
            <a:extLst>
              <a:ext uri="{FF2B5EF4-FFF2-40B4-BE49-F238E27FC236}">
                <a16:creationId xmlns:a16="http://schemas.microsoft.com/office/drawing/2014/main" id="{4A92BEA0-7A35-D467-A26B-3C3A45C3EAD0}"/>
              </a:ext>
            </a:extLst>
          </p:cNvPr>
          <p:cNvSpPr txBox="1"/>
          <p:nvPr/>
        </p:nvSpPr>
        <p:spPr>
          <a:xfrm>
            <a:off x="508000" y="635000"/>
            <a:ext cx="11175695" cy="584775"/>
          </a:xfrm>
          <a:prstGeom prst="rect">
            <a:avLst/>
          </a:prstGeom>
          <a:noFill/>
        </p:spPr>
        <p:txBody>
          <a:bodyPr vert="horz" wrap="square" rtlCol="0">
            <a:spAutoFit/>
          </a:bodyPr>
          <a:lstStyle/>
          <a:p>
            <a:pPr algn="ctr"/>
            <a:r>
              <a:rPr lang="en-US" sz="3200" b="1">
                <a:solidFill>
                  <a:srgbClr val="F2F5FA"/>
                </a:solidFill>
                <a:latin typeface="Calibri" panose="020F0502020204030204" pitchFamily="34" charset="0"/>
              </a:rPr>
              <a:t>Investigation complete.</a:t>
            </a:r>
          </a:p>
        </p:txBody>
      </p:sp>
      <p:sp>
        <p:nvSpPr>
          <p:cNvPr id="4" name="TextBox 3">
            <a:extLst>
              <a:ext uri="{FF2B5EF4-FFF2-40B4-BE49-F238E27FC236}">
                <a16:creationId xmlns:a16="http://schemas.microsoft.com/office/drawing/2014/main" id="{E2BAA166-6738-305E-60A1-B462396D3941}"/>
              </a:ext>
            </a:extLst>
          </p:cNvPr>
          <p:cNvSpPr txBox="1"/>
          <p:nvPr/>
        </p:nvSpPr>
        <p:spPr>
          <a:xfrm>
            <a:off x="1016000" y="1397000"/>
            <a:ext cx="10159695" cy="323165"/>
          </a:xfrm>
          <a:prstGeom prst="rect">
            <a:avLst/>
          </a:prstGeom>
          <a:noFill/>
        </p:spPr>
        <p:txBody>
          <a:bodyPr vert="horz" wrap="square" rtlCol="0">
            <a:spAutoFit/>
          </a:bodyPr>
          <a:lstStyle/>
          <a:p>
            <a:pPr algn="ctr"/>
            <a:r>
              <a:rPr lang="en-US" sz="1500">
                <a:solidFill>
                  <a:srgbClr val="9AA6B8"/>
                </a:solidFill>
                <a:latin typeface="Calibri" panose="020F0502020204030204" pitchFamily="34" charset="0"/>
              </a:rPr>
              <a:t>Air is invisible — but essential for a flame to keep burning.</a:t>
            </a:r>
          </a:p>
        </p:txBody>
      </p:sp>
      <p:pic>
        <p:nvPicPr>
          <p:cNvPr id="6" name="Picture 5">
            <a:extLst>
              <a:ext uri="{FF2B5EF4-FFF2-40B4-BE49-F238E27FC236}">
                <a16:creationId xmlns:a16="http://schemas.microsoft.com/office/drawing/2014/main" id="{6F087EF6-B36F-7160-EAA6-559ECE0D62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70000" y="2032000"/>
            <a:ext cx="9652000" cy="3556000"/>
          </a:xfrm>
          <a:prstGeom prst="rect">
            <a:avLst/>
          </a:prstGeom>
        </p:spPr>
      </p:pic>
      <p:sp>
        <p:nvSpPr>
          <p:cNvPr id="7" name="TextBox 6">
            <a:extLst>
              <a:ext uri="{FF2B5EF4-FFF2-40B4-BE49-F238E27FC236}">
                <a16:creationId xmlns:a16="http://schemas.microsoft.com/office/drawing/2014/main" id="{B90F169F-A16A-C832-3C2E-13D8A6280FD4}"/>
              </a:ext>
            </a:extLst>
          </p:cNvPr>
          <p:cNvSpPr txBox="1"/>
          <p:nvPr/>
        </p:nvSpPr>
        <p:spPr>
          <a:xfrm>
            <a:off x="508000" y="5842000"/>
            <a:ext cx="11175695" cy="338554"/>
          </a:xfrm>
          <a:prstGeom prst="rect">
            <a:avLst/>
          </a:prstGeom>
          <a:noFill/>
        </p:spPr>
        <p:txBody>
          <a:bodyPr vert="horz" wrap="square" rtlCol="0">
            <a:spAutoFit/>
          </a:bodyPr>
          <a:lstStyle/>
          <a:p>
            <a:pPr algn="ctr"/>
            <a:r>
              <a:rPr lang="en-US" sz="1600" b="1">
                <a:solidFill>
                  <a:srgbClr val="FF8A3D"/>
                </a:solidFill>
                <a:latin typeface="Calibri" panose="020F0502020204030204" pitchFamily="34" charset="0"/>
              </a:rPr>
              <a:t>Fuel + Oxygen + Heat  →  Heat + Light</a:t>
            </a:r>
          </a:p>
        </p:txBody>
      </p:sp>
    </p:spTree>
    <p:extLst>
      <p:ext uri="{BB962C8B-B14F-4D97-AF65-F5344CB8AC3E}">
        <p14:creationId xmlns:p14="http://schemas.microsoft.com/office/powerpoint/2010/main" val="1584676264"/>
      </p:ext>
    </p:extLst>
  </p:cSld>
  <p:clrMapOvr>
    <a:masterClrMapping/>
  </p:clrMapOvr>
  <p:transition spd="med">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1951</Words>
  <Application>Microsoft Office PowerPoint</Application>
  <PresentationFormat>Custom</PresentationFormat>
  <Paragraphs>124</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Hussein Ahmed</dc:creator>
  <cp:lastModifiedBy>Hussein Ahmed</cp:lastModifiedBy>
  <cp:revision>1</cp:revision>
  <dcterms:created xsi:type="dcterms:W3CDTF">2026-09-13T23:08:00Z</dcterms:created>
  <dcterms:modified xsi:type="dcterms:W3CDTF">2026-09-13T23:08:00Z</dcterms:modified>
</cp:coreProperties>
</file>